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1" r:id="rId43"/>
    <p:sldId id="302" r:id="rId44"/>
    <p:sldId id="303" r:id="rId45"/>
    <p:sldId id="304" r:id="rId46"/>
    <p:sldId id="305" r:id="rId47"/>
    <p:sldId id="307" r:id="rId48"/>
    <p:sldId id="312" r:id="rId49"/>
    <p:sldId id="313" r:id="rId50"/>
    <p:sldId id="314" r:id="rId51"/>
    <p:sldId id="315" r:id="rId52"/>
    <p:sldId id="316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7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6" r:id="rId70"/>
    <p:sldId id="337" r:id="rId71"/>
    <p:sldId id="338" r:id="rId72"/>
    <p:sldId id="339" r:id="rId73"/>
    <p:sldId id="340" r:id="rId74"/>
    <p:sldId id="342" r:id="rId75"/>
  </p:sldIdLst>
  <p:sldSz cx="12192000" cy="6858000"/>
  <p:notesSz cx="12192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540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457D1B-4263-BE30-7635-EC31201D0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D6BC22-98C5-997F-C260-94B9DD228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2AC225-8A66-362E-13E8-074D3D3FE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5A5976-43C5-F3DA-E713-EE40B0E5F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E76982-7F5F-EBD2-27FC-4287F20D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029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121840-8D85-49E3-86DC-667EC6210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CA5D6B-3A01-66AE-6968-D6FBB1AFB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127D7D-D211-493B-473B-34A023BB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D7BE54-5BE6-A84D-0BE0-4D07C160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8E2F09-53F0-90A5-0797-CC3D8FB0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402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69B26-416A-E4E7-631E-0DEF8F93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48563A-131C-5631-CA4B-F1EEEA54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628E34-F329-FC49-CAC2-0B0E081EB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C0B6C8-F2D0-1C83-E611-86D38B6E7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3AEEF2-39A7-D406-12E2-3C1133E8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70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4E635F-48DC-93B4-1412-B686EBCDB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6507C4-D6FB-D97A-9604-7BD9AFD73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7C7EB8-6198-5C6A-0643-F3F87039E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9203E3-BF10-C048-F3BE-43573397A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B355D0-D4A2-3215-E918-18013990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0654F3-728B-F979-7C15-0E5BA3CE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652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8F99C8-1CF7-287A-BBDB-D1B0487D1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DC39FC-C9DB-305F-F7CB-A435ADF8E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C8E392-FEA1-A1E2-1E2D-9BAED4789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B9CCB65-6AB3-2814-9239-23A7D55F22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A1D20BC-4278-372F-A48C-8FEC82C24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B20D12F-00D5-2DC5-C548-D67380BE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5DEC541-10B2-441D-9C82-CA559411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201D190-C0E4-9902-0EB2-EBF8E6AF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1142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D27406-5565-3671-E18A-A526AAAE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EFC3F5-0999-B3B6-90DA-892BF7C7B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B94783F-B7BD-D6EA-1631-0A1DB4D8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FCB68FE-4591-E0DC-39B1-6FD6F758E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720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40344FF-4A5F-ACDE-13AA-1006B341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D3C09A6-D4A5-9641-2233-9155E4CB9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0A56B8-A2BC-3334-393E-7E9648D3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0429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FCA400-4965-6B55-D90D-6B19B3C21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349F1D-1B7A-F52E-C98E-D4E18ADB5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BAEEC2-CBF3-0E4B-58BC-B3A021771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9D4D2A-C35A-1782-A1D0-9FF661BA1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8060977-D21D-BF53-D65B-D6619E1F2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AAB572-B40C-6BCC-7878-69B6843F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944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40E2AD-0C5D-A184-30A5-5CAF0FE80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D5545F7-16CE-D78A-350E-08BF9D799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529151-4139-0AA6-A731-04A59DAD7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4A3229-4E78-005A-3452-8112FBB67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33479A-08AE-E96C-9F1E-02D4D91B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7FCACA2-7CD5-AB38-7B50-9C077321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35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E6FB4C-0F6F-6B56-FE12-E81C77DA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E3B348-B4DF-BEF5-866C-E1C95C4A7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2CFC32-08FD-FF28-8980-64D1FD53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5254F1-E156-E02D-D532-50B86F27E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45975D-44C2-4254-2EEF-E300BBFB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212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88A5402-DF62-DD27-1FC8-ADBAB4F870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8CFE992-27A6-A43F-1F8A-59CFC75BC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D916CB-A7C0-D9FA-F701-38174B3AC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20EF74-E67E-9986-A9AD-0DEF03FA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8C74C8-8189-CDEA-BAE0-BB5ED738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5694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562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413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ACC6B31-C42C-28DE-9D8F-D73BDF8E1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471EB5-16A4-658F-A1EE-D6CCC5E1D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FBF46F-5295-F3F4-FD0E-B8509348F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1E0883-C88A-2E23-2C47-A453DEC63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180091-0C67-A8D9-8E2D-D3A0BCF75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6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tags/ref_colorpicker.asp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323588"/>
            <a:ext cx="1743075" cy="779145"/>
          </a:xfrm>
          <a:custGeom>
            <a:avLst/>
            <a:gdLst/>
            <a:ahLst/>
            <a:cxnLst/>
            <a:rect l="l" t="t" r="r" b="b"/>
            <a:pathLst>
              <a:path w="1743075" h="779145">
                <a:moveTo>
                  <a:pt x="1346200" y="0"/>
                </a:moveTo>
                <a:lnTo>
                  <a:pt x="0" y="0"/>
                </a:lnTo>
                <a:lnTo>
                  <a:pt x="0" y="778763"/>
                </a:lnTo>
                <a:lnTo>
                  <a:pt x="1346200" y="778763"/>
                </a:lnTo>
                <a:lnTo>
                  <a:pt x="1355891" y="777956"/>
                </a:lnTo>
                <a:lnTo>
                  <a:pt x="1363821" y="775827"/>
                </a:lnTo>
                <a:lnTo>
                  <a:pt x="1369988" y="772816"/>
                </a:lnTo>
                <a:lnTo>
                  <a:pt x="1374394" y="769366"/>
                </a:lnTo>
                <a:lnTo>
                  <a:pt x="1374394" y="764667"/>
                </a:lnTo>
                <a:lnTo>
                  <a:pt x="1379093" y="764667"/>
                </a:lnTo>
                <a:lnTo>
                  <a:pt x="1735582" y="408178"/>
                </a:lnTo>
                <a:lnTo>
                  <a:pt x="1740868" y="399587"/>
                </a:lnTo>
                <a:lnTo>
                  <a:pt x="1742630" y="388794"/>
                </a:lnTo>
                <a:lnTo>
                  <a:pt x="1740868" y="377120"/>
                </a:lnTo>
                <a:lnTo>
                  <a:pt x="1735582" y="365887"/>
                </a:lnTo>
                <a:lnTo>
                  <a:pt x="1379093" y="14097"/>
                </a:lnTo>
                <a:lnTo>
                  <a:pt x="1379093" y="9398"/>
                </a:lnTo>
                <a:lnTo>
                  <a:pt x="1374394" y="9398"/>
                </a:lnTo>
                <a:lnTo>
                  <a:pt x="1369988" y="5947"/>
                </a:lnTo>
                <a:lnTo>
                  <a:pt x="1363821" y="2936"/>
                </a:lnTo>
                <a:lnTo>
                  <a:pt x="1355891" y="807"/>
                </a:lnTo>
                <a:lnTo>
                  <a:pt x="1346200" y="0"/>
                </a:lnTo>
                <a:close/>
              </a:path>
            </a:pathLst>
          </a:custGeom>
          <a:solidFill>
            <a:srgbClr val="EFA1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3212718"/>
            <a:ext cx="8129270" cy="1518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900" spc="-135" dirty="0"/>
              <a:t>Introduction</a:t>
            </a:r>
            <a:r>
              <a:rPr sz="4900" spc="-260" dirty="0"/>
              <a:t> </a:t>
            </a:r>
            <a:r>
              <a:rPr sz="4900" spc="-95" dirty="0"/>
              <a:t>aux</a:t>
            </a:r>
            <a:r>
              <a:rPr sz="4900" spc="-300" dirty="0"/>
              <a:t> </a:t>
            </a:r>
            <a:r>
              <a:rPr sz="4900" spc="-215" dirty="0"/>
              <a:t>feuilles</a:t>
            </a:r>
            <a:r>
              <a:rPr sz="4900" spc="-305" dirty="0"/>
              <a:t> </a:t>
            </a:r>
            <a:r>
              <a:rPr sz="4900" spc="240" dirty="0"/>
              <a:t>de </a:t>
            </a:r>
            <a:r>
              <a:rPr sz="4900" spc="-280" dirty="0"/>
              <a:t>style</a:t>
            </a:r>
            <a:r>
              <a:rPr sz="4900" spc="-365" dirty="0"/>
              <a:t> </a:t>
            </a:r>
            <a:r>
              <a:rPr sz="4900" spc="250" dirty="0"/>
              <a:t>avec</a:t>
            </a:r>
            <a:r>
              <a:rPr sz="4900" spc="-340" dirty="0"/>
              <a:t> </a:t>
            </a:r>
            <a:r>
              <a:rPr sz="4900" spc="-65" dirty="0"/>
              <a:t>le</a:t>
            </a:r>
            <a:r>
              <a:rPr sz="4900" spc="-360" dirty="0"/>
              <a:t> </a:t>
            </a:r>
            <a:r>
              <a:rPr sz="4900" spc="150" dirty="0"/>
              <a:t>langage</a:t>
            </a:r>
            <a:r>
              <a:rPr sz="4900" spc="-360" dirty="0"/>
              <a:t> </a:t>
            </a:r>
            <a:r>
              <a:rPr sz="4900" spc="-470" dirty="0"/>
              <a:t>CSS</a:t>
            </a:r>
            <a:endParaRPr sz="4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0189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Objectifs</a:t>
            </a:r>
            <a:r>
              <a:rPr spc="-260" dirty="0"/>
              <a:t> </a:t>
            </a:r>
            <a:r>
              <a:rPr spc="65" dirty="0"/>
              <a:t>du</a:t>
            </a:r>
            <a:r>
              <a:rPr spc="-265" dirty="0"/>
              <a:t> </a:t>
            </a:r>
            <a:r>
              <a:rPr spc="-55" dirty="0"/>
              <a:t>cours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9798" y="1740865"/>
            <a:ext cx="981456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EFA12D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Faire</a:t>
            </a:r>
            <a:r>
              <a:rPr sz="2800" spc="-35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un</a:t>
            </a:r>
            <a:r>
              <a:rPr sz="2800" spc="-55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tour</a:t>
            </a:r>
            <a:r>
              <a:rPr sz="2800" spc="-6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d’horizon</a:t>
            </a:r>
            <a:r>
              <a:rPr sz="2800" spc="-35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du</a:t>
            </a:r>
            <a:r>
              <a:rPr sz="2800" spc="-5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langage</a:t>
            </a:r>
            <a:r>
              <a:rPr sz="2800" spc="-55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CSS,</a:t>
            </a:r>
            <a:r>
              <a:rPr sz="2800" spc="-5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ses</a:t>
            </a:r>
            <a:r>
              <a:rPr sz="2800" spc="-5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propriétés</a:t>
            </a:r>
            <a:r>
              <a:rPr sz="2800" spc="-3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et</a:t>
            </a:r>
            <a:r>
              <a:rPr sz="2800" spc="-55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spc="-25" dirty="0" err="1">
                <a:solidFill>
                  <a:srgbClr val="404040"/>
                </a:solidFill>
                <a:latin typeface="Georgia"/>
                <a:cs typeface="Georgia"/>
              </a:rPr>
              <a:t>ses</a:t>
            </a:r>
            <a:r>
              <a:rPr sz="2800" spc="-25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spc="-10" dirty="0" err="1">
                <a:solidFill>
                  <a:srgbClr val="404040"/>
                </a:solidFill>
                <a:latin typeface="Georgia"/>
                <a:cs typeface="Georgia"/>
              </a:rPr>
              <a:t>règles</a:t>
            </a:r>
            <a:r>
              <a:rPr lang="fr-FR" sz="2800" spc="-10" dirty="0">
                <a:solidFill>
                  <a:srgbClr val="404040"/>
                </a:solidFill>
                <a:latin typeface="Georgia"/>
                <a:cs typeface="Georgia"/>
              </a:rPr>
              <a:t> sur des pages WEB.</a:t>
            </a:r>
            <a:endParaRPr sz="28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4767" y="799033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Plan</a:t>
            </a:r>
            <a:r>
              <a:rPr spc="-254" dirty="0"/>
              <a:t> </a:t>
            </a:r>
            <a:r>
              <a:rPr spc="65" dirty="0"/>
              <a:t>du</a:t>
            </a:r>
            <a:r>
              <a:rPr spc="-254" dirty="0"/>
              <a:t> </a:t>
            </a:r>
            <a:r>
              <a:rPr spc="-10" dirty="0"/>
              <a:t>module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9798" y="1613461"/>
            <a:ext cx="2684145" cy="334962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EFA12D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spc="-10" dirty="0">
                <a:solidFill>
                  <a:srgbClr val="404040"/>
                </a:solidFill>
                <a:latin typeface="Georgia"/>
                <a:cs typeface="Georgia"/>
              </a:rPr>
              <a:t>Introduction</a:t>
            </a:r>
            <a:endParaRPr sz="28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EFA12D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Sélecteurs</a:t>
            </a:r>
            <a:r>
              <a:rPr sz="2800" spc="-14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Georgia"/>
                <a:cs typeface="Georgia"/>
              </a:rPr>
              <a:t>CSS</a:t>
            </a:r>
            <a:endParaRPr sz="28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EFA12D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spc="-10" dirty="0">
                <a:solidFill>
                  <a:srgbClr val="404040"/>
                </a:solidFill>
                <a:latin typeface="Georgia"/>
                <a:cs typeface="Georgia"/>
              </a:rPr>
              <a:t>Couleur</a:t>
            </a:r>
            <a:endParaRPr sz="28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EFA12D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spc="-10" dirty="0">
                <a:solidFill>
                  <a:srgbClr val="404040"/>
                </a:solidFill>
                <a:latin typeface="Georgia"/>
                <a:cs typeface="Georgia"/>
              </a:rPr>
              <a:t>Texte</a:t>
            </a:r>
            <a:endParaRPr sz="28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EFA12D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spc="-10" dirty="0">
                <a:solidFill>
                  <a:srgbClr val="404040"/>
                </a:solidFill>
                <a:latin typeface="Georgia"/>
                <a:cs typeface="Georgia"/>
              </a:rPr>
              <a:t>Boîtes</a:t>
            </a:r>
            <a:endParaRPr sz="28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EFA12D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spc="-10" dirty="0">
                <a:solidFill>
                  <a:srgbClr val="404040"/>
                </a:solidFill>
                <a:latin typeface="Georgia"/>
                <a:cs typeface="Georgia"/>
              </a:rPr>
              <a:t>Disposition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4767" y="799033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89652" y="1578379"/>
            <a:ext cx="5260340" cy="1791335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75"/>
              </a:spcBef>
              <a:buClr>
                <a:srgbClr val="EFA12D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spc="-10" dirty="0">
                <a:latin typeface="Georgia"/>
                <a:cs typeface="Georgia"/>
              </a:rPr>
              <a:t>Images</a:t>
            </a:r>
            <a:endParaRPr sz="2800">
              <a:latin typeface="Georgia"/>
              <a:cs typeface="Georgia"/>
            </a:endParaRPr>
          </a:p>
          <a:p>
            <a:pPr marL="355600" indent="-342900">
              <a:lnSpc>
                <a:spcPct val="100000"/>
              </a:lnSpc>
              <a:spcBef>
                <a:spcPts val="1275"/>
              </a:spcBef>
              <a:buClr>
                <a:srgbClr val="EFA12D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Georgia"/>
                <a:cs typeface="Georgia"/>
              </a:rPr>
              <a:t>Transitions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et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Transformations</a:t>
            </a:r>
            <a:endParaRPr sz="2800">
              <a:latin typeface="Georgia"/>
              <a:cs typeface="Georgia"/>
            </a:endParaRPr>
          </a:p>
          <a:p>
            <a:pPr marL="355600" indent="-342900">
              <a:lnSpc>
                <a:spcPct val="100000"/>
              </a:lnSpc>
              <a:spcBef>
                <a:spcPts val="1270"/>
              </a:spcBef>
              <a:buClr>
                <a:srgbClr val="EFA12D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spc="-10" dirty="0">
                <a:latin typeface="Georgia"/>
                <a:cs typeface="Georgia"/>
              </a:rPr>
              <a:t>Animations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EFA1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56794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90" dirty="0"/>
              <a:t> </a:t>
            </a:r>
            <a:r>
              <a:rPr sz="4000" spc="-330" dirty="0"/>
              <a:t>1</a:t>
            </a:r>
            <a:r>
              <a:rPr sz="4000" spc="-305" dirty="0"/>
              <a:t> </a:t>
            </a:r>
            <a:r>
              <a:rPr sz="4000" spc="-710" dirty="0"/>
              <a:t>:</a:t>
            </a:r>
            <a:r>
              <a:rPr sz="4000" spc="-300" dirty="0"/>
              <a:t> </a:t>
            </a:r>
            <a:r>
              <a:rPr sz="4000" spc="-95" dirty="0"/>
              <a:t>Introduction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064767" y="3256279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Qu’est-</a:t>
            </a:r>
            <a:r>
              <a:rPr spc="320" dirty="0"/>
              <a:t>ce</a:t>
            </a:r>
            <a:r>
              <a:rPr spc="-250" dirty="0"/>
              <a:t> </a:t>
            </a:r>
            <a:r>
              <a:rPr spc="85" dirty="0"/>
              <a:t>que</a:t>
            </a:r>
            <a:r>
              <a:rPr spc="-250" dirty="0"/>
              <a:t> </a:t>
            </a:r>
            <a:r>
              <a:rPr spc="-50" dirty="0"/>
              <a:t>le</a:t>
            </a:r>
            <a:r>
              <a:rPr spc="-250" dirty="0"/>
              <a:t> </a:t>
            </a:r>
            <a:r>
              <a:rPr spc="-330" dirty="0"/>
              <a:t>CSS</a:t>
            </a:r>
            <a:r>
              <a:rPr spc="-250" dirty="0"/>
              <a:t> </a:t>
            </a:r>
            <a:r>
              <a:rPr spc="10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529955" cy="24852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4145" indent="-3429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Verdana"/>
                <a:cs typeface="Verdana"/>
              </a:rPr>
              <a:t>langage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règles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permettant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Verdana"/>
                <a:cs typeface="Verdana"/>
              </a:rPr>
              <a:t>d’affecter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lang="fr-FR" sz="2400" spc="-105" dirty="0">
                <a:solidFill>
                  <a:srgbClr val="404040"/>
                </a:solidFill>
                <a:latin typeface="Verdana"/>
                <a:cs typeface="Verdana"/>
              </a:rPr>
              <a:t> STYLE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 à</a:t>
            </a:r>
            <a:r>
              <a:rPr sz="2400" spc="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éléments</a:t>
            </a:r>
            <a:endParaRPr sz="2400" dirty="0">
              <a:latin typeface="Verdana"/>
              <a:cs typeface="Verdana"/>
            </a:endParaRPr>
          </a:p>
          <a:p>
            <a:pPr marL="355600" marR="1442720" indent="-342900">
              <a:lnSpc>
                <a:spcPct val="100000"/>
              </a:lnSpc>
              <a:spcBef>
                <a:spcPts val="994"/>
              </a:spcBef>
            </a:pPr>
            <a:r>
              <a:rPr sz="2400" spc="-75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Ce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style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peut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couleur,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police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caractères,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position,</a:t>
            </a:r>
            <a:r>
              <a:rPr sz="2400" spc="-2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90" dirty="0">
                <a:solidFill>
                  <a:srgbClr val="404040"/>
                </a:solidFill>
                <a:latin typeface="Verdana"/>
                <a:cs typeface="Verdana"/>
              </a:rPr>
              <a:t>…etc.</a:t>
            </a:r>
            <a:endParaRPr sz="2400" dirty="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</a:pPr>
            <a:r>
              <a:rPr sz="2400" spc="-45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règles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peuvent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déclarées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0" dirty="0" err="1">
                <a:solidFill>
                  <a:srgbClr val="404040"/>
                </a:solidFill>
                <a:latin typeface="Verdana"/>
                <a:cs typeface="Verdana"/>
              </a:rPr>
              <a:t>l’intérieur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lang="fr-FR" sz="2400" spc="-25" dirty="0">
                <a:solidFill>
                  <a:srgbClr val="404040"/>
                </a:solidFill>
                <a:latin typeface="Verdana"/>
                <a:cs typeface="Verdana"/>
              </a:rPr>
              <a:t>u fichier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HTML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ou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l’extérieur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utilisant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fichier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CSS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séparé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4767" y="799033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5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5488" y="3092195"/>
            <a:ext cx="6181725" cy="3611879"/>
            <a:chOff x="4285488" y="3092195"/>
            <a:chExt cx="6181725" cy="36118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5488" y="3092195"/>
              <a:ext cx="6181344" cy="36118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0560" y="3287267"/>
              <a:ext cx="5593080" cy="302361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Comment</a:t>
            </a:r>
            <a:r>
              <a:rPr spc="-195" dirty="0"/>
              <a:t> </a:t>
            </a:r>
            <a:r>
              <a:rPr spc="360" dirty="0"/>
              <a:t>ça</a:t>
            </a:r>
            <a:r>
              <a:rPr spc="-200" dirty="0"/>
              <a:t> </a:t>
            </a:r>
            <a:r>
              <a:rPr dirty="0"/>
              <a:t>fonctionne</a:t>
            </a:r>
            <a:r>
              <a:rPr spc="-170" dirty="0"/>
              <a:t> </a:t>
            </a:r>
            <a:r>
              <a:rPr spc="105" dirty="0"/>
              <a:t>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1594" y="1817878"/>
            <a:ext cx="10319385" cy="1874231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Font typeface="Arial" panose="020B0604020202020204" pitchFamily="34" charset="0"/>
              <a:buChar char="•"/>
            </a:pPr>
            <a:r>
              <a:rPr sz="2400" spc="90" dirty="0" err="1">
                <a:solidFill>
                  <a:srgbClr val="404040"/>
                </a:solidFill>
                <a:latin typeface="Verdana"/>
                <a:cs typeface="Verdana"/>
              </a:rPr>
              <a:t>Chaque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élément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dans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boîte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invisible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9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endParaRPr sz="2400" dirty="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comportement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du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style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diffère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selon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l’affichage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l’élément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Verdana"/>
                <a:cs typeface="Verdana"/>
              </a:rPr>
              <a:t>mode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85" dirty="0">
                <a:solidFill>
                  <a:srgbClr val="404040"/>
                </a:solidFill>
                <a:latin typeface="Verdana"/>
                <a:cs typeface="Verdana"/>
              </a:rPr>
              <a:t>bloc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(p,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h1,…)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ou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Verdana"/>
                <a:cs typeface="Verdana"/>
              </a:rPr>
              <a:t>mode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ligne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(span,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b,…)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endParaRPr sz="24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767" y="799033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6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Syntaxe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25889" y="3172777"/>
            <a:ext cx="7247255" cy="2475865"/>
            <a:chOff x="2925889" y="3172777"/>
            <a:chExt cx="7247255" cy="2475865"/>
          </a:xfrm>
        </p:grpSpPr>
        <p:sp>
          <p:nvSpPr>
            <p:cNvPr id="4" name="object 4"/>
            <p:cNvSpPr/>
            <p:nvPr/>
          </p:nvSpPr>
          <p:spPr>
            <a:xfrm>
              <a:off x="2930651" y="3177539"/>
              <a:ext cx="7237730" cy="2466340"/>
            </a:xfrm>
            <a:custGeom>
              <a:avLst/>
              <a:gdLst/>
              <a:ahLst/>
              <a:cxnLst/>
              <a:rect l="l" t="t" r="r" b="b"/>
              <a:pathLst>
                <a:path w="7237730" h="2466340">
                  <a:moveTo>
                    <a:pt x="7237476" y="0"/>
                  </a:moveTo>
                  <a:lnTo>
                    <a:pt x="0" y="0"/>
                  </a:lnTo>
                  <a:lnTo>
                    <a:pt x="0" y="2465832"/>
                  </a:lnTo>
                  <a:lnTo>
                    <a:pt x="7237476" y="2465832"/>
                  </a:lnTo>
                  <a:lnTo>
                    <a:pt x="7237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0651" y="3177539"/>
              <a:ext cx="7237730" cy="2466340"/>
            </a:xfrm>
            <a:custGeom>
              <a:avLst/>
              <a:gdLst/>
              <a:ahLst/>
              <a:cxnLst/>
              <a:rect l="l" t="t" r="r" b="b"/>
              <a:pathLst>
                <a:path w="7237730" h="2466340">
                  <a:moveTo>
                    <a:pt x="0" y="2465832"/>
                  </a:moveTo>
                  <a:lnTo>
                    <a:pt x="7237476" y="2465832"/>
                  </a:lnTo>
                  <a:lnTo>
                    <a:pt x="7237476" y="0"/>
                  </a:lnTo>
                  <a:lnTo>
                    <a:pt x="0" y="0"/>
                  </a:lnTo>
                  <a:lnTo>
                    <a:pt x="0" y="246583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05733" y="3065584"/>
            <a:ext cx="6664959" cy="224282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800" dirty="0">
                <a:solidFill>
                  <a:srgbClr val="800000"/>
                </a:solidFill>
                <a:latin typeface="Consolas"/>
                <a:cs typeface="Consolas"/>
              </a:rPr>
              <a:t>p</a:t>
            </a:r>
            <a:r>
              <a:rPr sz="2800" spc="-2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latin typeface="Consolas"/>
                <a:cs typeface="Consolas"/>
              </a:rPr>
              <a:t>{</a:t>
            </a:r>
            <a:endParaRPr sz="2800">
              <a:latin typeface="Consolas"/>
              <a:cs typeface="Consolas"/>
            </a:endParaRPr>
          </a:p>
          <a:p>
            <a:pPr marL="2103120" marR="5080" indent="56515">
              <a:lnSpc>
                <a:spcPts val="4370"/>
              </a:lnSpc>
              <a:spcBef>
                <a:spcPts val="300"/>
              </a:spcBef>
            </a:pPr>
            <a:r>
              <a:rPr sz="2800" dirty="0">
                <a:solidFill>
                  <a:srgbClr val="FF0000"/>
                </a:solidFill>
                <a:latin typeface="Consolas"/>
                <a:cs typeface="Consolas"/>
              </a:rPr>
              <a:t>border</a:t>
            </a:r>
            <a:r>
              <a:rPr sz="2800" spc="-1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800" dirty="0">
                <a:latin typeface="Consolas"/>
                <a:cs typeface="Consolas"/>
              </a:rPr>
              <a:t>:</a:t>
            </a:r>
            <a:r>
              <a:rPr sz="2800" spc="5" dirty="0"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0000FF"/>
                </a:solidFill>
                <a:latin typeface="Consolas"/>
                <a:cs typeface="Consolas"/>
              </a:rPr>
              <a:t>1px</a:t>
            </a:r>
            <a:r>
              <a:rPr sz="28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0000FF"/>
                </a:solidFill>
                <a:latin typeface="Consolas"/>
                <a:cs typeface="Consolas"/>
              </a:rPr>
              <a:t>solid</a:t>
            </a:r>
            <a:r>
              <a:rPr sz="28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onsolas"/>
                <a:cs typeface="Consolas"/>
              </a:rPr>
              <a:t>red</a:t>
            </a:r>
            <a:r>
              <a:rPr sz="2800" spc="-20" dirty="0">
                <a:latin typeface="Consolas"/>
                <a:cs typeface="Consolas"/>
              </a:rPr>
              <a:t>; </a:t>
            </a:r>
            <a:r>
              <a:rPr sz="2800" spc="-25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2800" dirty="0">
                <a:solidFill>
                  <a:srgbClr val="FF0000"/>
                </a:solidFill>
                <a:latin typeface="Consolas"/>
                <a:cs typeface="Consolas"/>
              </a:rPr>
              <a:t>family</a:t>
            </a:r>
            <a:r>
              <a:rPr sz="2800" spc="-6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:</a:t>
            </a:r>
            <a:r>
              <a:rPr sz="2800" spc="-10" dirty="0">
                <a:solidFill>
                  <a:srgbClr val="0000FF"/>
                </a:solidFill>
                <a:latin typeface="Consolas"/>
                <a:cs typeface="Consolas"/>
              </a:rPr>
              <a:t>Arial</a:t>
            </a:r>
            <a:r>
              <a:rPr sz="2800" spc="-10" dirty="0">
                <a:latin typeface="Consolas"/>
                <a:cs typeface="Consolas"/>
              </a:rPr>
              <a:t>;</a:t>
            </a:r>
            <a:endParaRPr sz="2800">
              <a:latin typeface="Consolas"/>
              <a:cs typeface="Consolas"/>
            </a:endParaRPr>
          </a:p>
          <a:p>
            <a:pPr marL="1379220">
              <a:lnSpc>
                <a:spcPct val="100000"/>
              </a:lnSpc>
              <a:spcBef>
                <a:spcPts val="710"/>
              </a:spcBef>
            </a:pPr>
            <a:r>
              <a:rPr sz="2800" spc="-50" dirty="0"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767" y="799033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7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2677" y="1774698"/>
            <a:ext cx="1236345" cy="368935"/>
          </a:xfrm>
          <a:prstGeom prst="rect">
            <a:avLst/>
          </a:prstGeom>
          <a:solidFill>
            <a:srgbClr val="EFA12D"/>
          </a:solidFill>
          <a:ln w="22860">
            <a:solidFill>
              <a:srgbClr val="FFFF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Sélecteur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10480" y="2124424"/>
            <a:ext cx="1265555" cy="1265555"/>
          </a:xfrm>
          <a:custGeom>
            <a:avLst/>
            <a:gdLst/>
            <a:ahLst/>
            <a:cxnLst/>
            <a:rect l="l" t="t" r="r" b="b"/>
            <a:pathLst>
              <a:path w="1265555" h="1265554">
                <a:moveTo>
                  <a:pt x="1171273" y="1198197"/>
                </a:moveTo>
                <a:lnTo>
                  <a:pt x="1164024" y="1205351"/>
                </a:lnTo>
                <a:lnTo>
                  <a:pt x="1144301" y="1225073"/>
                </a:lnTo>
                <a:lnTo>
                  <a:pt x="1265459" y="1265459"/>
                </a:lnTo>
                <a:lnTo>
                  <a:pt x="1249383" y="1217231"/>
                </a:lnTo>
                <a:lnTo>
                  <a:pt x="1198197" y="1217231"/>
                </a:lnTo>
                <a:lnTo>
                  <a:pt x="1191019" y="1215826"/>
                </a:lnTo>
                <a:lnTo>
                  <a:pt x="1184687" y="1211611"/>
                </a:lnTo>
                <a:lnTo>
                  <a:pt x="1171273" y="1198197"/>
                </a:lnTo>
                <a:close/>
              </a:path>
              <a:path w="1265555" h="1265554">
                <a:moveTo>
                  <a:pt x="1198149" y="1171225"/>
                </a:moveTo>
                <a:lnTo>
                  <a:pt x="1178355" y="1191019"/>
                </a:lnTo>
                <a:lnTo>
                  <a:pt x="1171273" y="1198197"/>
                </a:lnTo>
                <a:lnTo>
                  <a:pt x="1184687" y="1211611"/>
                </a:lnTo>
                <a:lnTo>
                  <a:pt x="1191019" y="1215826"/>
                </a:lnTo>
                <a:lnTo>
                  <a:pt x="1198197" y="1217231"/>
                </a:lnTo>
                <a:lnTo>
                  <a:pt x="1205351" y="1215826"/>
                </a:lnTo>
                <a:lnTo>
                  <a:pt x="1211611" y="1211611"/>
                </a:lnTo>
                <a:lnTo>
                  <a:pt x="1215826" y="1205351"/>
                </a:lnTo>
                <a:lnTo>
                  <a:pt x="1217231" y="1198197"/>
                </a:lnTo>
                <a:lnTo>
                  <a:pt x="1215826" y="1191019"/>
                </a:lnTo>
                <a:lnTo>
                  <a:pt x="1211611" y="1184687"/>
                </a:lnTo>
                <a:lnTo>
                  <a:pt x="1198149" y="1171225"/>
                </a:lnTo>
                <a:close/>
              </a:path>
              <a:path w="1265555" h="1265554">
                <a:moveTo>
                  <a:pt x="1225073" y="1144301"/>
                </a:moveTo>
                <a:lnTo>
                  <a:pt x="1198149" y="1171225"/>
                </a:lnTo>
                <a:lnTo>
                  <a:pt x="1211611" y="1184687"/>
                </a:lnTo>
                <a:lnTo>
                  <a:pt x="1215826" y="1191019"/>
                </a:lnTo>
                <a:lnTo>
                  <a:pt x="1217231" y="1198197"/>
                </a:lnTo>
                <a:lnTo>
                  <a:pt x="1215826" y="1205351"/>
                </a:lnTo>
                <a:lnTo>
                  <a:pt x="1211611" y="1211611"/>
                </a:lnTo>
                <a:lnTo>
                  <a:pt x="1205351" y="1215826"/>
                </a:lnTo>
                <a:lnTo>
                  <a:pt x="1198197" y="1217231"/>
                </a:lnTo>
                <a:lnTo>
                  <a:pt x="1249383" y="1217231"/>
                </a:lnTo>
                <a:lnTo>
                  <a:pt x="1225073" y="1144301"/>
                </a:lnTo>
                <a:close/>
              </a:path>
              <a:path w="1265555" h="1265554">
                <a:moveTo>
                  <a:pt x="19081" y="0"/>
                </a:moveTo>
                <a:lnTo>
                  <a:pt x="11934" y="1404"/>
                </a:lnTo>
                <a:lnTo>
                  <a:pt x="5619" y="5619"/>
                </a:lnTo>
                <a:lnTo>
                  <a:pt x="1404" y="11934"/>
                </a:lnTo>
                <a:lnTo>
                  <a:pt x="0" y="19081"/>
                </a:lnTo>
                <a:lnTo>
                  <a:pt x="1404" y="26229"/>
                </a:lnTo>
                <a:lnTo>
                  <a:pt x="5619" y="32543"/>
                </a:lnTo>
                <a:lnTo>
                  <a:pt x="1171273" y="1198197"/>
                </a:lnTo>
                <a:lnTo>
                  <a:pt x="1178355" y="1191019"/>
                </a:lnTo>
                <a:lnTo>
                  <a:pt x="1198149" y="1171225"/>
                </a:lnTo>
                <a:lnTo>
                  <a:pt x="32543" y="5619"/>
                </a:lnTo>
                <a:lnTo>
                  <a:pt x="26229" y="1404"/>
                </a:lnTo>
                <a:lnTo>
                  <a:pt x="19081" y="0"/>
                </a:lnTo>
                <a:close/>
              </a:path>
            </a:pathLst>
          </a:custGeom>
          <a:solidFill>
            <a:srgbClr val="E49A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87333" y="1774698"/>
            <a:ext cx="1503045" cy="368935"/>
          </a:xfrm>
          <a:prstGeom prst="rect">
            <a:avLst/>
          </a:prstGeom>
          <a:solidFill>
            <a:srgbClr val="EFA12D"/>
          </a:solidFill>
          <a:ln w="22859">
            <a:solidFill>
              <a:srgbClr val="FFFF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Déclaration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87333" y="2124590"/>
            <a:ext cx="794385" cy="1423035"/>
          </a:xfrm>
          <a:custGeom>
            <a:avLst/>
            <a:gdLst/>
            <a:ahLst/>
            <a:cxnLst/>
            <a:rect l="l" t="t" r="r" b="b"/>
            <a:pathLst>
              <a:path w="794384" h="1423035">
                <a:moveTo>
                  <a:pt x="5207" y="1295265"/>
                </a:moveTo>
                <a:lnTo>
                  <a:pt x="0" y="1423027"/>
                </a:lnTo>
                <a:lnTo>
                  <a:pt x="93522" y="1358610"/>
                </a:lnTo>
                <a:lnTo>
                  <a:pt x="44074" y="1358610"/>
                </a:lnTo>
                <a:lnTo>
                  <a:pt x="36830" y="1356352"/>
                </a:lnTo>
                <a:lnTo>
                  <a:pt x="31033" y="1351393"/>
                </a:lnTo>
                <a:lnTo>
                  <a:pt x="27701" y="1344874"/>
                </a:lnTo>
                <a:lnTo>
                  <a:pt x="27060" y="1337617"/>
                </a:lnTo>
                <a:lnTo>
                  <a:pt x="29337" y="1330444"/>
                </a:lnTo>
                <a:lnTo>
                  <a:pt x="38586" y="1313691"/>
                </a:lnTo>
                <a:lnTo>
                  <a:pt x="5207" y="1295265"/>
                </a:lnTo>
                <a:close/>
              </a:path>
              <a:path w="794384" h="1423035">
                <a:moveTo>
                  <a:pt x="38586" y="1313691"/>
                </a:moveTo>
                <a:lnTo>
                  <a:pt x="29337" y="1330444"/>
                </a:lnTo>
                <a:lnTo>
                  <a:pt x="27060" y="1337617"/>
                </a:lnTo>
                <a:lnTo>
                  <a:pt x="27701" y="1344874"/>
                </a:lnTo>
                <a:lnTo>
                  <a:pt x="31033" y="1351393"/>
                </a:lnTo>
                <a:lnTo>
                  <a:pt x="36830" y="1356352"/>
                </a:lnTo>
                <a:lnTo>
                  <a:pt x="44074" y="1358610"/>
                </a:lnTo>
                <a:lnTo>
                  <a:pt x="51355" y="1357939"/>
                </a:lnTo>
                <a:lnTo>
                  <a:pt x="57850" y="1354601"/>
                </a:lnTo>
                <a:lnTo>
                  <a:pt x="62738" y="1348859"/>
                </a:lnTo>
                <a:lnTo>
                  <a:pt x="71977" y="1332124"/>
                </a:lnTo>
                <a:lnTo>
                  <a:pt x="38586" y="1313691"/>
                </a:lnTo>
                <a:close/>
              </a:path>
              <a:path w="794384" h="1423035">
                <a:moveTo>
                  <a:pt x="71977" y="1332124"/>
                </a:moveTo>
                <a:lnTo>
                  <a:pt x="62738" y="1348859"/>
                </a:lnTo>
                <a:lnTo>
                  <a:pt x="57850" y="1354601"/>
                </a:lnTo>
                <a:lnTo>
                  <a:pt x="51355" y="1357939"/>
                </a:lnTo>
                <a:lnTo>
                  <a:pt x="44074" y="1358610"/>
                </a:lnTo>
                <a:lnTo>
                  <a:pt x="93522" y="1358610"/>
                </a:lnTo>
                <a:lnTo>
                  <a:pt x="105283" y="1350510"/>
                </a:lnTo>
                <a:lnTo>
                  <a:pt x="71977" y="1332124"/>
                </a:lnTo>
                <a:close/>
              </a:path>
              <a:path w="794384" h="1423035">
                <a:moveTo>
                  <a:pt x="777287" y="0"/>
                </a:moveTo>
                <a:lnTo>
                  <a:pt x="770001" y="627"/>
                </a:lnTo>
                <a:lnTo>
                  <a:pt x="763476" y="3921"/>
                </a:lnTo>
                <a:lnTo>
                  <a:pt x="758571" y="9644"/>
                </a:lnTo>
                <a:lnTo>
                  <a:pt x="38586" y="1313691"/>
                </a:lnTo>
                <a:lnTo>
                  <a:pt x="71977" y="1332124"/>
                </a:lnTo>
                <a:lnTo>
                  <a:pt x="791972" y="28059"/>
                </a:lnTo>
                <a:lnTo>
                  <a:pt x="794248" y="20887"/>
                </a:lnTo>
                <a:lnTo>
                  <a:pt x="793607" y="13644"/>
                </a:lnTo>
                <a:lnTo>
                  <a:pt x="790275" y="7163"/>
                </a:lnTo>
                <a:lnTo>
                  <a:pt x="784479" y="2278"/>
                </a:lnTo>
                <a:lnTo>
                  <a:pt x="777287" y="0"/>
                </a:lnTo>
                <a:close/>
              </a:path>
            </a:pathLst>
          </a:custGeom>
          <a:solidFill>
            <a:srgbClr val="E49A2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32162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Syntaxe</a:t>
            </a:r>
            <a:r>
              <a:rPr spc="-275" dirty="0"/>
              <a:t> </a:t>
            </a:r>
            <a:r>
              <a:rPr spc="-445" dirty="0"/>
              <a:t>-</a:t>
            </a:r>
            <a:r>
              <a:rPr spc="-260" dirty="0"/>
              <a:t> </a:t>
            </a:r>
            <a:r>
              <a:rPr spc="-170" dirty="0"/>
              <a:t>Suite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594" y="1817878"/>
            <a:ext cx="9674860" cy="2243563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Font typeface="Arial" panose="020B0604020202020204" pitchFamily="34" charset="0"/>
              <a:buChar char="•"/>
            </a:pPr>
            <a:r>
              <a:rPr lang="fr-FR" sz="2400" spc="-65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sélecteur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indique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quels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éléments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appliquer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style</a:t>
            </a:r>
            <a:endParaRPr sz="2400" dirty="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déclaration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peut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s’appliquer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plusieurs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 err="1">
                <a:solidFill>
                  <a:srgbClr val="404040"/>
                </a:solidFill>
                <a:latin typeface="Verdana"/>
                <a:cs typeface="Verdana"/>
              </a:rPr>
              <a:t>sélecteurs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 err="1">
                <a:solidFill>
                  <a:srgbClr val="404040"/>
                </a:solidFill>
                <a:latin typeface="Verdana"/>
                <a:cs typeface="Verdana"/>
              </a:rPr>
              <a:t>s’ils</a:t>
            </a:r>
            <a:r>
              <a:rPr lang="fr-FR" sz="2400" spc="-60" dirty="0">
                <a:solidFill>
                  <a:srgbClr val="404040"/>
                </a:solidFill>
                <a:latin typeface="Verdana"/>
                <a:cs typeface="Verdana"/>
              </a:rPr>
              <a:t> sont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séparés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virgules</a:t>
            </a:r>
            <a:endParaRPr sz="2400" dirty="0">
              <a:latin typeface="Verdana"/>
              <a:cs typeface="Verdana"/>
            </a:endParaRPr>
          </a:p>
          <a:p>
            <a:pPr marL="355600" marR="276225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déclarations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indiquent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styles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appliquer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aux</a:t>
            </a:r>
            <a:r>
              <a:rPr lang="fr-FR" sz="2400" spc="-145" dirty="0">
                <a:solidFill>
                  <a:srgbClr val="404040"/>
                </a:solidFill>
                <a:latin typeface="Verdana"/>
                <a:cs typeface="Verdana"/>
              </a:rPr>
              <a:t> éléments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 appartenant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Verdana"/>
                <a:cs typeface="Verdana"/>
              </a:rPr>
              <a:t>au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sélecteur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4767" y="799033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8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30143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Syntaxe,</a:t>
            </a:r>
            <a:r>
              <a:rPr spc="-195" dirty="0"/>
              <a:t> </a:t>
            </a:r>
            <a:r>
              <a:rPr spc="-145" dirty="0"/>
              <a:t>suite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25889" y="3172777"/>
            <a:ext cx="7247255" cy="2696845"/>
            <a:chOff x="2925889" y="3172777"/>
            <a:chExt cx="7247255" cy="2696845"/>
          </a:xfrm>
        </p:grpSpPr>
        <p:sp>
          <p:nvSpPr>
            <p:cNvPr id="4" name="object 4"/>
            <p:cNvSpPr/>
            <p:nvPr/>
          </p:nvSpPr>
          <p:spPr>
            <a:xfrm>
              <a:off x="2930651" y="3177539"/>
              <a:ext cx="7237730" cy="2687320"/>
            </a:xfrm>
            <a:custGeom>
              <a:avLst/>
              <a:gdLst/>
              <a:ahLst/>
              <a:cxnLst/>
              <a:rect l="l" t="t" r="r" b="b"/>
              <a:pathLst>
                <a:path w="7237730" h="2687320">
                  <a:moveTo>
                    <a:pt x="7237476" y="0"/>
                  </a:moveTo>
                  <a:lnTo>
                    <a:pt x="0" y="0"/>
                  </a:lnTo>
                  <a:lnTo>
                    <a:pt x="0" y="2686812"/>
                  </a:lnTo>
                  <a:lnTo>
                    <a:pt x="7237476" y="2686812"/>
                  </a:lnTo>
                  <a:lnTo>
                    <a:pt x="7237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0651" y="3177539"/>
              <a:ext cx="7237730" cy="2687320"/>
            </a:xfrm>
            <a:custGeom>
              <a:avLst/>
              <a:gdLst/>
              <a:ahLst/>
              <a:cxnLst/>
              <a:rect l="l" t="t" r="r" b="b"/>
              <a:pathLst>
                <a:path w="7237730" h="2687320">
                  <a:moveTo>
                    <a:pt x="0" y="2686812"/>
                  </a:moveTo>
                  <a:lnTo>
                    <a:pt x="7237476" y="2686812"/>
                  </a:lnTo>
                  <a:lnTo>
                    <a:pt x="7237476" y="0"/>
                  </a:lnTo>
                  <a:lnTo>
                    <a:pt x="0" y="0"/>
                  </a:lnTo>
                  <a:lnTo>
                    <a:pt x="0" y="268681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05733" y="3065170"/>
            <a:ext cx="5826760" cy="258318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solidFill>
                  <a:srgbClr val="800000"/>
                </a:solidFill>
                <a:latin typeface="Consolas"/>
                <a:cs typeface="Consolas"/>
              </a:rPr>
              <a:t>h1,</a:t>
            </a:r>
            <a:r>
              <a:rPr sz="2800" spc="-5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800000"/>
                </a:solidFill>
                <a:latin typeface="Consolas"/>
                <a:cs typeface="Consolas"/>
              </a:rPr>
              <a:t>h2</a:t>
            </a:r>
            <a:r>
              <a:rPr sz="2800" spc="-4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latin typeface="Consolas"/>
                <a:cs typeface="Consolas"/>
              </a:rPr>
              <a:t>{</a:t>
            </a:r>
            <a:endParaRPr sz="2800">
              <a:latin typeface="Consolas"/>
              <a:cs typeface="Consolas"/>
            </a:endParaRPr>
          </a:p>
          <a:p>
            <a:pPr marL="2560955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solidFill>
                  <a:srgbClr val="FF0000"/>
                </a:solidFill>
                <a:latin typeface="Consolas"/>
                <a:cs typeface="Consolas"/>
              </a:rPr>
              <a:t>margin</a:t>
            </a:r>
            <a:r>
              <a:rPr sz="2800" dirty="0">
                <a:latin typeface="Consolas"/>
                <a:cs typeface="Consolas"/>
              </a:rPr>
              <a:t>:</a:t>
            </a:r>
            <a:r>
              <a:rPr sz="2800" spc="-135" dirty="0">
                <a:latin typeface="Consolas"/>
                <a:cs typeface="Consolas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onsolas"/>
                <a:cs typeface="Consolas"/>
              </a:rPr>
              <a:t>5px</a:t>
            </a:r>
            <a:r>
              <a:rPr sz="2800" spc="-20" dirty="0">
                <a:latin typeface="Consolas"/>
                <a:cs typeface="Consolas"/>
              </a:rPr>
              <a:t>;</a:t>
            </a:r>
            <a:endParaRPr sz="2800">
              <a:latin typeface="Consolas"/>
              <a:cs typeface="Consolas"/>
            </a:endParaRPr>
          </a:p>
          <a:p>
            <a:pPr marL="2103120" marR="5080">
              <a:lnSpc>
                <a:spcPct val="119600"/>
              </a:lnSpc>
              <a:spcBef>
                <a:spcPts val="15"/>
              </a:spcBef>
            </a:pPr>
            <a:r>
              <a:rPr sz="2800" spc="-25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2800" dirty="0">
                <a:solidFill>
                  <a:srgbClr val="FF0000"/>
                </a:solidFill>
                <a:latin typeface="Consolas"/>
                <a:cs typeface="Consolas"/>
              </a:rPr>
              <a:t>family</a:t>
            </a:r>
            <a:r>
              <a:rPr sz="2800" spc="-6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:</a:t>
            </a:r>
            <a:r>
              <a:rPr sz="2800" spc="-10" dirty="0">
                <a:solidFill>
                  <a:srgbClr val="0000FF"/>
                </a:solidFill>
                <a:latin typeface="Consolas"/>
                <a:cs typeface="Consolas"/>
              </a:rPr>
              <a:t>Arial</a:t>
            </a:r>
            <a:r>
              <a:rPr sz="2800" spc="-10" dirty="0">
                <a:latin typeface="Consolas"/>
                <a:cs typeface="Consolas"/>
              </a:rPr>
              <a:t>; </a:t>
            </a:r>
            <a:r>
              <a:rPr sz="2800" dirty="0">
                <a:solidFill>
                  <a:srgbClr val="FF0000"/>
                </a:solidFill>
                <a:latin typeface="Consolas"/>
                <a:cs typeface="Consolas"/>
              </a:rPr>
              <a:t>color</a:t>
            </a:r>
            <a:r>
              <a:rPr sz="2800" spc="-9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:</a:t>
            </a:r>
            <a:r>
              <a:rPr sz="2800" spc="-10" dirty="0">
                <a:solidFill>
                  <a:srgbClr val="0000FF"/>
                </a:solidFill>
                <a:latin typeface="Consolas"/>
                <a:cs typeface="Consolas"/>
              </a:rPr>
              <a:t>Yellow</a:t>
            </a:r>
            <a:r>
              <a:rPr sz="2800" spc="-10" dirty="0">
                <a:latin typeface="Consolas"/>
                <a:cs typeface="Consolas"/>
              </a:rPr>
              <a:t>;</a:t>
            </a:r>
            <a:endParaRPr sz="2800">
              <a:latin typeface="Consolas"/>
              <a:cs typeface="Consolas"/>
            </a:endParaRPr>
          </a:p>
          <a:p>
            <a:pPr marL="1379220">
              <a:lnSpc>
                <a:spcPct val="100000"/>
              </a:lnSpc>
              <a:spcBef>
                <a:spcPts val="685"/>
              </a:spcBef>
            </a:pPr>
            <a:r>
              <a:rPr sz="2800" spc="-50" dirty="0"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767" y="799033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9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6314" y="1745742"/>
            <a:ext cx="1264920" cy="474345"/>
          </a:xfrm>
          <a:prstGeom prst="rect">
            <a:avLst/>
          </a:prstGeom>
          <a:solidFill>
            <a:srgbClr val="EFA12D"/>
          </a:solidFill>
          <a:ln w="22859">
            <a:solidFill>
              <a:srgbClr val="FFFF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Propriétés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80622" y="2200846"/>
            <a:ext cx="1247140" cy="1616075"/>
          </a:xfrm>
          <a:custGeom>
            <a:avLst/>
            <a:gdLst/>
            <a:ahLst/>
            <a:cxnLst/>
            <a:rect l="l" t="t" r="r" b="b"/>
            <a:pathLst>
              <a:path w="1247139" h="1616075">
                <a:moveTo>
                  <a:pt x="1162330" y="1536801"/>
                </a:moveTo>
                <a:lnTo>
                  <a:pt x="1132141" y="1560004"/>
                </a:lnTo>
                <a:lnTo>
                  <a:pt x="1247076" y="1615757"/>
                </a:lnTo>
                <a:lnTo>
                  <a:pt x="1236070" y="1559178"/>
                </a:lnTo>
                <a:lnTo>
                  <a:pt x="1186545" y="1559178"/>
                </a:lnTo>
                <a:lnTo>
                  <a:pt x="1179609" y="1556861"/>
                </a:lnTo>
                <a:lnTo>
                  <a:pt x="1173924" y="1551876"/>
                </a:lnTo>
                <a:lnTo>
                  <a:pt x="1162330" y="1536801"/>
                </a:lnTo>
                <a:close/>
              </a:path>
              <a:path w="1247139" h="1616075">
                <a:moveTo>
                  <a:pt x="1192560" y="1513567"/>
                </a:moveTo>
                <a:lnTo>
                  <a:pt x="1162330" y="1536801"/>
                </a:lnTo>
                <a:lnTo>
                  <a:pt x="1173924" y="1551876"/>
                </a:lnTo>
                <a:lnTo>
                  <a:pt x="1179609" y="1556861"/>
                </a:lnTo>
                <a:lnTo>
                  <a:pt x="1186545" y="1559178"/>
                </a:lnTo>
                <a:lnTo>
                  <a:pt x="1193837" y="1558734"/>
                </a:lnTo>
                <a:lnTo>
                  <a:pt x="1200594" y="1555432"/>
                </a:lnTo>
                <a:lnTo>
                  <a:pt x="1205579" y="1549691"/>
                </a:lnTo>
                <a:lnTo>
                  <a:pt x="1207896" y="1542748"/>
                </a:lnTo>
                <a:lnTo>
                  <a:pt x="1207534" y="1536801"/>
                </a:lnTo>
                <a:lnTo>
                  <a:pt x="1207452" y="1535447"/>
                </a:lnTo>
                <a:lnTo>
                  <a:pt x="1204150" y="1528635"/>
                </a:lnTo>
                <a:lnTo>
                  <a:pt x="1192560" y="1513567"/>
                </a:lnTo>
                <a:close/>
              </a:path>
              <a:path w="1247139" h="1616075">
                <a:moveTo>
                  <a:pt x="1222692" y="1490408"/>
                </a:moveTo>
                <a:lnTo>
                  <a:pt x="1192560" y="1513567"/>
                </a:lnTo>
                <a:lnTo>
                  <a:pt x="1204150" y="1528635"/>
                </a:lnTo>
                <a:lnTo>
                  <a:pt x="1207452" y="1535447"/>
                </a:lnTo>
                <a:lnTo>
                  <a:pt x="1186545" y="1559178"/>
                </a:lnTo>
                <a:lnTo>
                  <a:pt x="1236070" y="1559178"/>
                </a:lnTo>
                <a:lnTo>
                  <a:pt x="1222692" y="1490408"/>
                </a:lnTo>
                <a:close/>
              </a:path>
              <a:path w="1247139" h="1616075">
                <a:moveTo>
                  <a:pt x="21304" y="0"/>
                </a:moveTo>
                <a:lnTo>
                  <a:pt x="14041" y="444"/>
                </a:lnTo>
                <a:lnTo>
                  <a:pt x="7302" y="3746"/>
                </a:lnTo>
                <a:lnTo>
                  <a:pt x="2317" y="9485"/>
                </a:lnTo>
                <a:lnTo>
                  <a:pt x="0" y="16414"/>
                </a:lnTo>
                <a:lnTo>
                  <a:pt x="444" y="23677"/>
                </a:lnTo>
                <a:lnTo>
                  <a:pt x="3746" y="30416"/>
                </a:lnTo>
                <a:lnTo>
                  <a:pt x="1162330" y="1536801"/>
                </a:lnTo>
                <a:lnTo>
                  <a:pt x="1192560" y="1513567"/>
                </a:lnTo>
                <a:lnTo>
                  <a:pt x="33972" y="7302"/>
                </a:lnTo>
                <a:lnTo>
                  <a:pt x="28233" y="2317"/>
                </a:lnTo>
                <a:lnTo>
                  <a:pt x="21304" y="0"/>
                </a:lnTo>
                <a:close/>
              </a:path>
            </a:pathLst>
          </a:custGeom>
          <a:solidFill>
            <a:srgbClr val="E49A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773161" y="1774698"/>
            <a:ext cx="1615440" cy="451484"/>
          </a:xfrm>
          <a:prstGeom prst="rect">
            <a:avLst/>
          </a:prstGeom>
          <a:solidFill>
            <a:srgbClr val="EFA12D"/>
          </a:solidFill>
          <a:ln w="22859">
            <a:solidFill>
              <a:srgbClr val="FFFF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Valeurs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73161" y="2207005"/>
            <a:ext cx="1270635" cy="1735455"/>
          </a:xfrm>
          <a:custGeom>
            <a:avLst/>
            <a:gdLst/>
            <a:ahLst/>
            <a:cxnLst/>
            <a:rect l="l" t="t" r="r" b="b"/>
            <a:pathLst>
              <a:path w="1270634" h="1735454">
                <a:moveTo>
                  <a:pt x="21209" y="1608962"/>
                </a:moveTo>
                <a:lnTo>
                  <a:pt x="0" y="1734946"/>
                </a:lnTo>
                <a:lnTo>
                  <a:pt x="112554" y="1676780"/>
                </a:lnTo>
                <a:lnTo>
                  <a:pt x="59039" y="1676780"/>
                </a:lnTo>
                <a:lnTo>
                  <a:pt x="51766" y="1676519"/>
                </a:lnTo>
                <a:lnTo>
                  <a:pt x="44958" y="1673351"/>
                </a:lnTo>
                <a:lnTo>
                  <a:pt x="39838" y="1667758"/>
                </a:lnTo>
                <a:lnTo>
                  <a:pt x="37338" y="1660890"/>
                </a:lnTo>
                <a:lnTo>
                  <a:pt x="37593" y="1653796"/>
                </a:lnTo>
                <a:lnTo>
                  <a:pt x="37599" y="1653617"/>
                </a:lnTo>
                <a:lnTo>
                  <a:pt x="40767" y="1646808"/>
                </a:lnTo>
                <a:lnTo>
                  <a:pt x="51998" y="1631409"/>
                </a:lnTo>
                <a:lnTo>
                  <a:pt x="21209" y="1608962"/>
                </a:lnTo>
                <a:close/>
              </a:path>
              <a:path w="1270634" h="1735454">
                <a:moveTo>
                  <a:pt x="51998" y="1631409"/>
                </a:moveTo>
                <a:lnTo>
                  <a:pt x="40767" y="1646808"/>
                </a:lnTo>
                <a:lnTo>
                  <a:pt x="37599" y="1653617"/>
                </a:lnTo>
                <a:lnTo>
                  <a:pt x="37338" y="1660890"/>
                </a:lnTo>
                <a:lnTo>
                  <a:pt x="39838" y="1667758"/>
                </a:lnTo>
                <a:lnTo>
                  <a:pt x="44958" y="1673351"/>
                </a:lnTo>
                <a:lnTo>
                  <a:pt x="51766" y="1676519"/>
                </a:lnTo>
                <a:lnTo>
                  <a:pt x="59039" y="1676780"/>
                </a:lnTo>
                <a:lnTo>
                  <a:pt x="65907" y="1674280"/>
                </a:lnTo>
                <a:lnTo>
                  <a:pt x="71501" y="1669160"/>
                </a:lnTo>
                <a:lnTo>
                  <a:pt x="82707" y="1653796"/>
                </a:lnTo>
                <a:lnTo>
                  <a:pt x="51998" y="1631409"/>
                </a:lnTo>
                <a:close/>
              </a:path>
              <a:path w="1270634" h="1735454">
                <a:moveTo>
                  <a:pt x="82707" y="1653796"/>
                </a:moveTo>
                <a:lnTo>
                  <a:pt x="71501" y="1669160"/>
                </a:lnTo>
                <a:lnTo>
                  <a:pt x="65907" y="1674280"/>
                </a:lnTo>
                <a:lnTo>
                  <a:pt x="59039" y="1676780"/>
                </a:lnTo>
                <a:lnTo>
                  <a:pt x="112554" y="1676780"/>
                </a:lnTo>
                <a:lnTo>
                  <a:pt x="113538" y="1676272"/>
                </a:lnTo>
                <a:lnTo>
                  <a:pt x="82707" y="1653796"/>
                </a:lnTo>
                <a:close/>
              </a:path>
              <a:path w="1270634" h="1735454">
                <a:moveTo>
                  <a:pt x="1248759" y="0"/>
                </a:moveTo>
                <a:lnTo>
                  <a:pt x="1241921" y="2500"/>
                </a:lnTo>
                <a:lnTo>
                  <a:pt x="1236345" y="7619"/>
                </a:lnTo>
                <a:lnTo>
                  <a:pt x="51998" y="1631409"/>
                </a:lnTo>
                <a:lnTo>
                  <a:pt x="82707" y="1653796"/>
                </a:lnTo>
                <a:lnTo>
                  <a:pt x="1267079" y="29971"/>
                </a:lnTo>
                <a:lnTo>
                  <a:pt x="1270246" y="23110"/>
                </a:lnTo>
                <a:lnTo>
                  <a:pt x="1270508" y="15843"/>
                </a:lnTo>
                <a:lnTo>
                  <a:pt x="1268007" y="9005"/>
                </a:lnTo>
                <a:lnTo>
                  <a:pt x="1262888" y="3428"/>
                </a:lnTo>
                <a:lnTo>
                  <a:pt x="1256026" y="261"/>
                </a:lnTo>
                <a:lnTo>
                  <a:pt x="1248759" y="0"/>
                </a:lnTo>
                <a:close/>
              </a:path>
            </a:pathLst>
          </a:custGeom>
          <a:solidFill>
            <a:srgbClr val="E49A2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32162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Syntaxe</a:t>
            </a:r>
            <a:r>
              <a:rPr spc="-275" dirty="0"/>
              <a:t> </a:t>
            </a:r>
            <a:r>
              <a:rPr spc="-445" dirty="0"/>
              <a:t>-</a:t>
            </a:r>
            <a:r>
              <a:rPr spc="-260" dirty="0"/>
              <a:t> </a:t>
            </a:r>
            <a:r>
              <a:rPr spc="-170" dirty="0"/>
              <a:t>Suite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594" y="1817878"/>
            <a:ext cx="10323830" cy="137665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Font typeface="Arial" panose="020B0604020202020204" pitchFamily="34" charset="0"/>
              <a:buChar char="•"/>
            </a:pP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propriétés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concernent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l’aspect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styler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25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taille,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couleur,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90" dirty="0">
                <a:solidFill>
                  <a:srgbClr val="404040"/>
                </a:solidFill>
                <a:latin typeface="Verdana"/>
                <a:cs typeface="Verdana"/>
              </a:rPr>
              <a:t>police,…</a:t>
            </a:r>
            <a:endParaRPr sz="2400" dirty="0">
              <a:latin typeface="Verdana"/>
              <a:cs typeface="Verdana"/>
            </a:endParaRPr>
          </a:p>
          <a:p>
            <a:pPr marL="355600" marR="725805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valeurs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concernent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quelle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affecter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aspect </a:t>
            </a:r>
            <a:r>
              <a:rPr lang="fr-FR" sz="2400" spc="-1110" dirty="0">
                <a:solidFill>
                  <a:srgbClr val="404040"/>
                </a:solidFill>
                <a:latin typeface="Verdana"/>
                <a:cs typeface="Verdana"/>
              </a:rPr>
              <a:t>( </a:t>
            </a:r>
            <a:r>
              <a:rPr sz="2400" spc="-35" dirty="0" err="1">
                <a:solidFill>
                  <a:srgbClr val="404040"/>
                </a:solidFill>
                <a:latin typeface="Verdana"/>
                <a:cs typeface="Verdana"/>
              </a:rPr>
              <a:t>exemple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,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bleu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couleur)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10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05200" y="3194537"/>
            <a:ext cx="5981700" cy="3301365"/>
            <a:chOff x="4818888" y="2907792"/>
            <a:chExt cx="5981700" cy="33013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8888" y="2907792"/>
              <a:ext cx="5981700" cy="330098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3960" y="3102864"/>
              <a:ext cx="5393436" cy="27127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CSS</a:t>
            </a:r>
            <a:r>
              <a:rPr spc="-285" dirty="0"/>
              <a:t> </a:t>
            </a:r>
            <a:r>
              <a:rPr spc="-75" dirty="0"/>
              <a:t>intégré</a:t>
            </a:r>
            <a:r>
              <a:rPr spc="-270" dirty="0"/>
              <a:t> </a:t>
            </a:r>
            <a:r>
              <a:rPr spc="-20" dirty="0"/>
              <a:t>dans</a:t>
            </a:r>
            <a:r>
              <a:rPr spc="-265" dirty="0"/>
              <a:t> </a:t>
            </a:r>
            <a:r>
              <a:rPr spc="-45" dirty="0"/>
              <a:t>le</a:t>
            </a:r>
            <a:r>
              <a:rPr spc="-260" dirty="0"/>
              <a:t> </a:t>
            </a:r>
            <a:r>
              <a:rPr spc="-80" dirty="0"/>
              <a:t>fichier</a:t>
            </a:r>
            <a:r>
              <a:rPr spc="-285" dirty="0"/>
              <a:t> </a:t>
            </a:r>
            <a:r>
              <a:rPr spc="-280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594" y="1817878"/>
            <a:ext cx="10007600" cy="1007327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25" dirty="0">
                <a:solidFill>
                  <a:srgbClr val="404040"/>
                </a:solidFill>
                <a:latin typeface="Verdana"/>
                <a:cs typeface="Verdana"/>
              </a:rPr>
              <a:t>CSS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peut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intégré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dans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HTML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utilisant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 err="1">
                <a:solidFill>
                  <a:srgbClr val="404040"/>
                </a:solidFill>
                <a:latin typeface="Verdana"/>
                <a:cs typeface="Verdana"/>
              </a:rPr>
              <a:t>balise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9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lang="fr-FR" sz="2400" spc="-5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lang="fr-FR" sz="2400" spc="600" dirty="0">
                <a:solidFill>
                  <a:srgbClr val="404040"/>
                </a:solidFill>
                <a:latin typeface="Verdana"/>
                <a:cs typeface="Verdana"/>
              </a:rPr>
              <a:t>style</a:t>
            </a:r>
            <a:r>
              <a:rPr sz="2400" spc="-59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balise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attribut</a:t>
            </a:r>
            <a:r>
              <a:rPr sz="2400" spc="-2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type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qui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dit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text/css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9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2432" y="3542970"/>
            <a:ext cx="5250180" cy="286258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style</a:t>
            </a:r>
            <a:r>
              <a:rPr sz="1800" spc="-2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="text/css"&gt;</a:t>
            </a:r>
            <a:endParaRPr sz="1800" dirty="0">
              <a:latin typeface="Consolas"/>
              <a:cs typeface="Consolas"/>
            </a:endParaRPr>
          </a:p>
          <a:p>
            <a:pPr marL="109410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p</a:t>
            </a:r>
            <a:r>
              <a:rPr sz="1800" spc="-1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1595755" marR="13652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family</a:t>
            </a:r>
            <a:r>
              <a:rPr sz="1800" dirty="0">
                <a:latin typeface="Consolas"/>
                <a:cs typeface="Consolas"/>
              </a:rPr>
              <a:t>: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'Trebuchet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MS‘</a:t>
            </a:r>
            <a:r>
              <a:rPr sz="1800" spc="-20" dirty="0">
                <a:latin typeface="Consolas"/>
                <a:cs typeface="Consolas"/>
              </a:rPr>
              <a:t>; 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margin-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bottom</a:t>
            </a:r>
            <a:r>
              <a:rPr sz="1800" dirty="0">
                <a:latin typeface="Consolas"/>
                <a:cs typeface="Consolas"/>
              </a:rPr>
              <a:t>: 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5px</a:t>
            </a:r>
            <a:r>
              <a:rPr sz="1800" spc="-20" dirty="0">
                <a:latin typeface="Consolas"/>
                <a:cs typeface="Consolas"/>
              </a:rPr>
              <a:t>;</a:t>
            </a:r>
            <a:endParaRPr sz="1800" dirty="0">
              <a:latin typeface="Consolas"/>
              <a:cs typeface="Consolas"/>
            </a:endParaRPr>
          </a:p>
          <a:p>
            <a:pPr marL="1094105">
              <a:lnSpc>
                <a:spcPct val="100000"/>
              </a:lnSpc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 dirty="0">
              <a:latin typeface="Consolas"/>
              <a:cs typeface="Consolas"/>
            </a:endParaRPr>
          </a:p>
          <a:p>
            <a:pPr marL="109410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h1</a:t>
            </a:r>
            <a:r>
              <a:rPr sz="1800" dirty="0">
                <a:latin typeface="Consolas"/>
                <a:cs typeface="Consolas"/>
              </a:rPr>
              <a:t>,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h2</a:t>
            </a:r>
            <a:r>
              <a:rPr sz="1800" spc="-2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159575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color</a:t>
            </a:r>
            <a:r>
              <a:rPr sz="1800" dirty="0">
                <a:latin typeface="Consolas"/>
                <a:cs typeface="Consolas"/>
              </a:rPr>
              <a:t>:</a:t>
            </a:r>
            <a:r>
              <a:rPr sz="1800" spc="-50" dirty="0">
                <a:latin typeface="Consolas"/>
                <a:cs typeface="Consolas"/>
              </a:rPr>
              <a:t> 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blue</a:t>
            </a:r>
            <a:r>
              <a:rPr sz="1800" spc="-20" dirty="0">
                <a:latin typeface="Consolas"/>
                <a:cs typeface="Consolas"/>
              </a:rPr>
              <a:t>;</a:t>
            </a:r>
            <a:endParaRPr sz="1800" dirty="0">
              <a:latin typeface="Consolas"/>
              <a:cs typeface="Consolas"/>
            </a:endParaRPr>
          </a:p>
          <a:p>
            <a:pPr marL="1094105">
              <a:lnSpc>
                <a:spcPct val="100000"/>
              </a:lnSpc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591185">
              <a:lnSpc>
                <a:spcPct val="100000"/>
              </a:lnSpc>
              <a:spcBef>
                <a:spcPts val="20"/>
              </a:spcBef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style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CSS</a:t>
            </a:r>
            <a:r>
              <a:rPr spc="-275" dirty="0"/>
              <a:t> </a:t>
            </a:r>
            <a:r>
              <a:rPr spc="-70" dirty="0"/>
              <a:t>externe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594" y="1944370"/>
            <a:ext cx="10210800" cy="27417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404040"/>
                </a:solidFill>
                <a:latin typeface="Verdana"/>
                <a:cs typeface="Verdana"/>
              </a:rPr>
              <a:t>feuille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style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peut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dans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fichier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externe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Verdana"/>
                <a:cs typeface="Verdana"/>
              </a:rPr>
              <a:t>dont</a:t>
            </a:r>
            <a:r>
              <a:rPr lang="fr-FR" sz="2400" spc="-160" dirty="0">
                <a:solidFill>
                  <a:srgbClr val="404040"/>
                </a:solidFill>
                <a:latin typeface="Verdana"/>
                <a:cs typeface="Verdana"/>
              </a:rPr>
              <a:t> l’extension </a:t>
            </a:r>
            <a:r>
              <a:rPr lang="fr-FR" sz="2400" spc="-5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 err="1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lang="fr-FR" sz="2400" spc="-160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r>
              <a:rPr sz="2400" spc="-125" dirty="0" err="1">
                <a:solidFill>
                  <a:srgbClr val="404040"/>
                </a:solidFill>
                <a:latin typeface="Verdana"/>
                <a:cs typeface="Verdana"/>
              </a:rPr>
              <a:t>css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9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lien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entre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fichier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HTML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se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fait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travers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balise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link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400" spc="-80" dirty="0" err="1">
                <a:solidFill>
                  <a:srgbClr val="404040"/>
                </a:solidFill>
                <a:latin typeface="Verdana"/>
                <a:cs typeface="Verdana"/>
              </a:rPr>
              <a:t>L’attribut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href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spécifie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l’URL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du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fichier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CSS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05"/>
              </a:spcBef>
              <a:buFont typeface="Arial" panose="020B0604020202020204" pitchFamily="34" charset="0"/>
              <a:buChar char="•"/>
            </a:pPr>
            <a:r>
              <a:rPr sz="2400" spc="-75" dirty="0" err="1">
                <a:solidFill>
                  <a:srgbClr val="404040"/>
                </a:solidFill>
                <a:latin typeface="Verdana"/>
                <a:cs typeface="Verdana"/>
              </a:rPr>
              <a:t>L’attribut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type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doit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text/css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9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400" spc="-80" dirty="0" err="1">
                <a:solidFill>
                  <a:srgbClr val="404040"/>
                </a:solidFill>
                <a:latin typeface="Verdana"/>
                <a:cs typeface="Verdana"/>
              </a:rPr>
              <a:t>L’attribut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rel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doit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stylesheet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9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12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27781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</a:t>
            </a:r>
            <a:r>
              <a:rPr spc="-260" dirty="0"/>
              <a:t> </a:t>
            </a:r>
            <a:r>
              <a:rPr spc="-60" dirty="0"/>
              <a:t>balise</a:t>
            </a:r>
            <a:r>
              <a:rPr spc="-254" dirty="0"/>
              <a:t> </a:t>
            </a:r>
            <a:r>
              <a:rPr spc="-220" dirty="0"/>
              <a:t>link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13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7160" y="2592323"/>
            <a:ext cx="10758170" cy="824865"/>
            <a:chOff x="137160" y="2592323"/>
            <a:chExt cx="10758170" cy="8248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028" y="2631947"/>
              <a:ext cx="10671048" cy="7848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" y="2592323"/>
              <a:ext cx="10739628" cy="74676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81940" y="2689860"/>
            <a:ext cx="10555605" cy="66929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400" dirty="0">
                <a:solidFill>
                  <a:srgbClr val="800000"/>
                </a:solidFill>
                <a:latin typeface="Consolas"/>
                <a:cs typeface="Consolas"/>
              </a:rPr>
              <a:t>link</a:t>
            </a:r>
            <a:r>
              <a:rPr sz="2400" spc="-10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="external.css"</a:t>
            </a:r>
            <a:r>
              <a:rPr sz="2400" spc="-9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FF0000"/>
                </a:solidFill>
                <a:latin typeface="Consolas"/>
                <a:cs typeface="Consolas"/>
              </a:rPr>
              <a:t>rel</a:t>
            </a: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="stylesheet"</a:t>
            </a:r>
            <a:r>
              <a:rPr sz="2400" spc="-1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="text/css"</a:t>
            </a:r>
            <a:r>
              <a:rPr sz="2400" spc="-114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CSS</a:t>
            </a:r>
            <a:r>
              <a:rPr spc="-275" dirty="0"/>
              <a:t> </a:t>
            </a:r>
            <a:r>
              <a:rPr spc="-70" dirty="0"/>
              <a:t>externe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594" y="1817878"/>
            <a:ext cx="9845040" cy="137604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Font typeface="Arial" panose="020B0604020202020204" pitchFamily="34" charset="0"/>
              <a:buChar char="•"/>
            </a:pP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fichier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HTML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peut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référencer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plusieurs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fichiers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CSS</a:t>
            </a:r>
            <a:endParaRPr sz="2400" dirty="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340" dirty="0">
                <a:solidFill>
                  <a:srgbClr val="404040"/>
                </a:solidFill>
                <a:latin typeface="Verdana"/>
                <a:cs typeface="Verdana"/>
              </a:rPr>
              <a:t>Il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vaut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mieux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mettre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feuilles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style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dans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 err="1">
                <a:solidFill>
                  <a:srgbClr val="404040"/>
                </a:solidFill>
                <a:latin typeface="Verdana"/>
                <a:cs typeface="Verdana"/>
              </a:rPr>
              <a:t>fichiers</a:t>
            </a:r>
            <a:r>
              <a:rPr lang="fr-FR" sz="2400" spc="-190" dirty="0">
                <a:solidFill>
                  <a:srgbClr val="404040"/>
                </a:solidFill>
                <a:latin typeface="Verdana"/>
                <a:cs typeface="Verdana"/>
              </a:rPr>
              <a:t> externes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pour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faciliter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maintenance</a:t>
            </a:r>
            <a:r>
              <a:rPr lang="fr-FR" sz="2400" spc="-10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14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EFA1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62630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65" dirty="0"/>
              <a:t> </a:t>
            </a:r>
            <a:r>
              <a:rPr sz="4000" spc="-330" dirty="0"/>
              <a:t>2</a:t>
            </a:r>
            <a:r>
              <a:rPr sz="4000" spc="-280" dirty="0"/>
              <a:t> </a:t>
            </a:r>
            <a:r>
              <a:rPr sz="4000" spc="-710" dirty="0"/>
              <a:t>:</a:t>
            </a:r>
            <a:r>
              <a:rPr sz="4000" spc="-275" dirty="0"/>
              <a:t> </a:t>
            </a:r>
            <a:r>
              <a:rPr sz="4000" spc="-160" dirty="0"/>
              <a:t>Sélecteurs</a:t>
            </a:r>
            <a:r>
              <a:rPr sz="4000" spc="-240" dirty="0"/>
              <a:t> </a:t>
            </a:r>
            <a:r>
              <a:rPr sz="4000" spc="-390" dirty="0"/>
              <a:t>CSS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15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8515" y="1558289"/>
            <a:ext cx="11205845" cy="3094052"/>
          </a:xfrm>
          <a:prstGeom prst="rect">
            <a:avLst/>
          </a:prstGeom>
        </p:spPr>
        <p:txBody>
          <a:bodyPr vert="horz" wrap="square" lIns="0" tIns="615569" rIns="0" bIns="0" rtlCol="0">
            <a:spAutoFit/>
          </a:bodyPr>
          <a:lstStyle/>
          <a:p>
            <a:pPr marL="2974975" marR="5080" indent="-3429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Les</a:t>
            </a:r>
            <a:r>
              <a:rPr spc="-155" dirty="0"/>
              <a:t> </a:t>
            </a:r>
            <a:r>
              <a:rPr spc="-65" dirty="0"/>
              <a:t>sélecteurs</a:t>
            </a:r>
            <a:r>
              <a:rPr spc="-155" dirty="0"/>
              <a:t> </a:t>
            </a:r>
            <a:r>
              <a:rPr spc="-45" dirty="0"/>
              <a:t>permettent</a:t>
            </a:r>
            <a:r>
              <a:rPr spc="-155" dirty="0"/>
              <a:t> </a:t>
            </a:r>
            <a:r>
              <a:rPr spc="130" dirty="0"/>
              <a:t>de</a:t>
            </a:r>
            <a:r>
              <a:rPr spc="-155" dirty="0"/>
              <a:t> </a:t>
            </a:r>
            <a:r>
              <a:rPr spc="-50" dirty="0" err="1"/>
              <a:t>sélectionner</a:t>
            </a:r>
            <a:r>
              <a:rPr spc="-180" dirty="0"/>
              <a:t> </a:t>
            </a:r>
            <a:r>
              <a:rPr spc="-10" dirty="0"/>
              <a:t>des</a:t>
            </a:r>
            <a:r>
              <a:rPr lang="fr-FR" spc="-150" dirty="0"/>
              <a:t> éléments</a:t>
            </a:r>
            <a:r>
              <a:rPr dirty="0"/>
              <a:t> </a:t>
            </a:r>
            <a:r>
              <a:rPr lang="fr-FR" dirty="0"/>
              <a:t> </a:t>
            </a:r>
            <a:r>
              <a:rPr dirty="0" err="1"/>
              <a:t>ayant</a:t>
            </a:r>
            <a:r>
              <a:rPr spc="-170" dirty="0"/>
              <a:t> </a:t>
            </a:r>
            <a:r>
              <a:rPr spc="-85" dirty="0"/>
              <a:t>un</a:t>
            </a:r>
            <a:r>
              <a:rPr spc="-155" dirty="0"/>
              <a:t> </a:t>
            </a:r>
            <a:r>
              <a:rPr spc="-65" dirty="0"/>
              <a:t>critère</a:t>
            </a:r>
            <a:r>
              <a:rPr spc="-175" dirty="0"/>
              <a:t> </a:t>
            </a:r>
            <a:r>
              <a:rPr spc="-70" dirty="0"/>
              <a:t>particulier</a:t>
            </a:r>
            <a:r>
              <a:rPr spc="-185" dirty="0"/>
              <a:t> </a:t>
            </a:r>
            <a:r>
              <a:rPr spc="-425" dirty="0"/>
              <a:t>:</a:t>
            </a:r>
            <a:r>
              <a:rPr spc="-175" dirty="0"/>
              <a:t> </a:t>
            </a:r>
            <a:r>
              <a:rPr dirty="0"/>
              <a:t>par</a:t>
            </a:r>
            <a:r>
              <a:rPr spc="-155" dirty="0"/>
              <a:t> </a:t>
            </a:r>
            <a:r>
              <a:rPr spc="-10" dirty="0"/>
              <a:t>exemple</a:t>
            </a:r>
            <a:r>
              <a:rPr spc="-170" dirty="0"/>
              <a:t> </a:t>
            </a:r>
            <a:r>
              <a:rPr spc="-110" dirty="0"/>
              <a:t>tous</a:t>
            </a:r>
            <a:r>
              <a:rPr spc="-155" dirty="0"/>
              <a:t> </a:t>
            </a:r>
            <a:r>
              <a:rPr spc="-25" dirty="0"/>
              <a:t>les </a:t>
            </a:r>
            <a:r>
              <a:rPr spc="-75" dirty="0"/>
              <a:t>éléments,</a:t>
            </a:r>
            <a:r>
              <a:rPr spc="-114" dirty="0"/>
              <a:t> </a:t>
            </a:r>
            <a:r>
              <a:rPr dirty="0"/>
              <a:t>appartenant</a:t>
            </a:r>
            <a:r>
              <a:rPr spc="-120" dirty="0"/>
              <a:t> </a:t>
            </a:r>
            <a:r>
              <a:rPr spc="200" dirty="0"/>
              <a:t>à</a:t>
            </a:r>
            <a:r>
              <a:rPr spc="-105" dirty="0"/>
              <a:t> </a:t>
            </a:r>
            <a:r>
              <a:rPr dirty="0"/>
              <a:t>la</a:t>
            </a:r>
            <a:r>
              <a:rPr spc="-120" dirty="0"/>
              <a:t> </a:t>
            </a:r>
            <a:r>
              <a:rPr dirty="0"/>
              <a:t>même</a:t>
            </a:r>
            <a:r>
              <a:rPr spc="-105" dirty="0"/>
              <a:t> </a:t>
            </a:r>
            <a:r>
              <a:rPr spc="-70" dirty="0"/>
              <a:t>balise,</a:t>
            </a:r>
            <a:r>
              <a:rPr spc="-130" dirty="0"/>
              <a:t> </a:t>
            </a:r>
            <a:r>
              <a:rPr spc="-20" dirty="0"/>
              <a:t>même </a:t>
            </a:r>
            <a:r>
              <a:rPr spc="-10" dirty="0"/>
              <a:t>classe,…</a:t>
            </a:r>
          </a:p>
          <a:p>
            <a:pPr marL="2632075">
              <a:lnSpc>
                <a:spcPct val="100000"/>
              </a:lnSpc>
              <a:spcBef>
                <a:spcPts val="994"/>
              </a:spcBef>
            </a:pPr>
            <a:r>
              <a:rPr spc="-160" dirty="0"/>
              <a:t>Les</a:t>
            </a:r>
            <a:r>
              <a:rPr spc="-155" dirty="0"/>
              <a:t> </a:t>
            </a:r>
            <a:r>
              <a:rPr spc="-65" dirty="0"/>
              <a:t>sélecteurs</a:t>
            </a:r>
            <a:r>
              <a:rPr spc="-160" dirty="0"/>
              <a:t> </a:t>
            </a:r>
            <a:r>
              <a:rPr spc="-225" dirty="0"/>
              <a:t>CSS</a:t>
            </a:r>
            <a:r>
              <a:rPr spc="-165" dirty="0"/>
              <a:t> </a:t>
            </a:r>
            <a:r>
              <a:rPr spc="-105" dirty="0"/>
              <a:t>sont</a:t>
            </a:r>
            <a:r>
              <a:rPr spc="-160" dirty="0"/>
              <a:t> </a:t>
            </a:r>
            <a:r>
              <a:rPr spc="-120" dirty="0"/>
              <a:t>sensibles</a:t>
            </a:r>
            <a:r>
              <a:rPr spc="-195" dirty="0"/>
              <a:t> </a:t>
            </a:r>
            <a:r>
              <a:rPr spc="200" dirty="0"/>
              <a:t>à</a:t>
            </a:r>
            <a:r>
              <a:rPr spc="-165" dirty="0"/>
              <a:t> </a:t>
            </a:r>
            <a:r>
              <a:rPr dirty="0"/>
              <a:t>la</a:t>
            </a:r>
            <a:r>
              <a:rPr spc="-175" dirty="0"/>
              <a:t> </a:t>
            </a:r>
            <a:r>
              <a:rPr spc="-10" dirty="0" err="1"/>
              <a:t>casse</a:t>
            </a:r>
            <a:endParaRPr lang="fr-FR" spc="-10" dirty="0"/>
          </a:p>
          <a:p>
            <a:pPr marL="2632075">
              <a:lnSpc>
                <a:spcPct val="100000"/>
              </a:lnSpc>
              <a:spcBef>
                <a:spcPts val="994"/>
              </a:spcBef>
            </a:pP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16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99DB7AA-521F-9C30-5F5D-B24DA3C47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952" y="4370415"/>
            <a:ext cx="6182588" cy="14194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Sélecteurs</a:t>
            </a:r>
            <a:r>
              <a:rPr spc="-260" dirty="0"/>
              <a:t> </a:t>
            </a:r>
            <a:r>
              <a:rPr spc="-355" dirty="0"/>
              <a:t>CSS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17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6615" y="1558289"/>
          <a:ext cx="11116945" cy="4583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Sélecteur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FA12D"/>
                      </a:solidFill>
                      <a:prstDash val="solid"/>
                    </a:lnL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Exemple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12700">
                      <a:solidFill>
                        <a:srgbClr val="EFA12D"/>
                      </a:solidFill>
                      <a:prstDash val="solid"/>
                    </a:lnR>
                    <a:solidFill>
                      <a:srgbClr val="EFA1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Sélecteur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universel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FA12D"/>
                      </a:solidFill>
                      <a:prstDash val="solid"/>
                    </a:lnL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70180" marR="5162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Sélectionne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tous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éléments. 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Utilise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le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symbole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95" dirty="0">
                          <a:latin typeface="Verdana"/>
                          <a:cs typeface="Verdana"/>
                        </a:rPr>
                        <a:t>*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9" dirty="0">
                          <a:latin typeface="Verdana"/>
                          <a:cs typeface="Verdana"/>
                        </a:rPr>
                        <a:t>»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37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520" dirty="0">
                          <a:latin typeface="Tahoma"/>
                          <a:cs typeface="Tahoma"/>
                        </a:rPr>
                        <a:t>{}</a:t>
                      </a:r>
                      <a:r>
                        <a:rPr sz="1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tous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les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éléments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EFA12D"/>
                      </a:solidFill>
                      <a:prstDash val="solid"/>
                    </a:lnR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Sélecteur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type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0180" marR="4133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Concerne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tous</a:t>
                      </a:r>
                      <a:r>
                        <a:rPr sz="18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éléments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appartenant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même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balise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320" dirty="0">
                          <a:latin typeface="Tahoma"/>
                          <a:cs typeface="Tahoma"/>
                        </a:rPr>
                        <a:t>h2{}</a:t>
                      </a:r>
                      <a:r>
                        <a:rPr sz="1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tous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les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h2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9" dirty="0">
                          <a:latin typeface="Verdana"/>
                          <a:cs typeface="Verdana"/>
                        </a:rPr>
                        <a:t>»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217804" marR="5816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dirty="0">
                          <a:latin typeface="Tahoma"/>
                          <a:cs typeface="Tahoma"/>
                        </a:rPr>
                        <a:t>p,</a:t>
                      </a:r>
                      <a:r>
                        <a:rPr sz="1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190" dirty="0">
                          <a:latin typeface="Tahoma"/>
                          <a:cs typeface="Tahoma"/>
                        </a:rPr>
                        <a:t>span{}</a:t>
                      </a:r>
                      <a:r>
                        <a:rPr sz="1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tous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paragraphes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et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les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spans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90805" marR="7226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70" dirty="0">
                          <a:latin typeface="Verdana"/>
                          <a:cs typeface="Verdana"/>
                        </a:rPr>
                        <a:t>Sélecteurs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70" dirty="0">
                          <a:latin typeface="Verdana"/>
                          <a:cs typeface="Verdana"/>
                        </a:rPr>
                        <a:t>de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classe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70180" marR="601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Concerne</a:t>
                      </a:r>
                      <a:r>
                        <a:rPr sz="18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tous</a:t>
                      </a:r>
                      <a:r>
                        <a:rPr sz="18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éléments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appartenant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une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certaine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classe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(identifiés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par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l’attribut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170180">
                        <a:lnSpc>
                          <a:spcPct val="100000"/>
                        </a:lnSpc>
                      </a:pP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classe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90" dirty="0">
                          <a:latin typeface="Verdana"/>
                          <a:cs typeface="Verdana"/>
                        </a:rPr>
                        <a:t>».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Un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élément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HTML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peut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17018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appartenir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plusieurs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classes.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217804" marR="6610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Tahoma"/>
                          <a:cs typeface="Tahoma"/>
                        </a:rPr>
                        <a:t>span.nuance</a:t>
                      </a:r>
                      <a:r>
                        <a:rPr sz="1800" b="1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tous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span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dont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la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classe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est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nuance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9" dirty="0">
                          <a:latin typeface="Verdana"/>
                          <a:cs typeface="Verdana"/>
                        </a:rPr>
                        <a:t>»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217804">
                        <a:lnSpc>
                          <a:spcPct val="100000"/>
                        </a:lnSpc>
                      </a:pPr>
                      <a:r>
                        <a:rPr sz="1800" b="1" spc="-110" dirty="0">
                          <a:latin typeface="Tahoma"/>
                          <a:cs typeface="Tahoma"/>
                        </a:rPr>
                        <a:t>.couleurVerte{}</a:t>
                      </a:r>
                      <a:r>
                        <a:rPr sz="1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n’impote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quel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élément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217804">
                        <a:lnSpc>
                          <a:spcPct val="10000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ayant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classe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couleurVerte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9" dirty="0">
                          <a:latin typeface="Verdana"/>
                          <a:cs typeface="Verdana"/>
                        </a:rPr>
                        <a:t>»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Sélecteur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35" dirty="0">
                          <a:latin typeface="Verdana"/>
                          <a:cs typeface="Verdana"/>
                        </a:rPr>
                        <a:t>d’id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0180" marR="6089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Concerne</a:t>
                      </a:r>
                      <a:r>
                        <a:rPr sz="18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un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seul</a:t>
                      </a:r>
                      <a:r>
                        <a:rPr sz="18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élément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identifié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par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son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attribut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id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9" dirty="0">
                          <a:latin typeface="Verdana"/>
                          <a:cs typeface="Verdana"/>
                        </a:rPr>
                        <a:t>»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7804" marR="2857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5" dirty="0">
                          <a:latin typeface="Verdana"/>
                          <a:cs typeface="Verdana"/>
                        </a:rPr>
                        <a:t>span#spanId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15" dirty="0">
                          <a:latin typeface="Verdana"/>
                          <a:cs typeface="Verdana"/>
                        </a:rPr>
                        <a:t>{}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le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span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qui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l’attribut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id</a:t>
                      </a:r>
                      <a:r>
                        <a:rPr sz="18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spanId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70" dirty="0">
                          <a:latin typeface="Verdana"/>
                          <a:cs typeface="Verdana"/>
                        </a:rPr>
                        <a:t>»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  <a:p>
                      <a:pPr marL="217804" marR="1866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80" dirty="0">
                          <a:latin typeface="Verdana"/>
                          <a:cs typeface="Verdana"/>
                        </a:rPr>
                        <a:t>#unElement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15" dirty="0">
                          <a:latin typeface="Verdana"/>
                          <a:cs typeface="Verdana"/>
                        </a:rPr>
                        <a:t>{}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n’importe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quel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élément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ayant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50" dirty="0">
                          <a:latin typeface="Verdana"/>
                          <a:cs typeface="Verdana"/>
                        </a:rPr>
                        <a:t>comme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id</a:t>
                      </a:r>
                      <a:r>
                        <a:rPr sz="18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unElement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9" dirty="0">
                          <a:latin typeface="Verdana"/>
                          <a:cs typeface="Verdana"/>
                        </a:rPr>
                        <a:t>»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6888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Sélecteurs</a:t>
            </a:r>
            <a:r>
              <a:rPr spc="-260" dirty="0"/>
              <a:t> </a:t>
            </a:r>
            <a:r>
              <a:rPr spc="-330" dirty="0"/>
              <a:t>CSS</a:t>
            </a:r>
            <a:r>
              <a:rPr spc="-270" dirty="0"/>
              <a:t> </a:t>
            </a:r>
            <a:r>
              <a:rPr spc="-445" dirty="0"/>
              <a:t>-</a:t>
            </a:r>
            <a:r>
              <a:rPr spc="-260" dirty="0"/>
              <a:t> </a:t>
            </a:r>
            <a:r>
              <a:rPr spc="-165" dirty="0"/>
              <a:t>Suite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18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783548"/>
              </p:ext>
            </p:extLst>
          </p:nvPr>
        </p:nvGraphicFramePr>
        <p:xfrm>
          <a:off x="102381" y="1479422"/>
          <a:ext cx="11416029" cy="4582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5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Sélecteur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FA12D"/>
                      </a:solidFill>
                      <a:prstDash val="solid"/>
                    </a:lnL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Exemple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12700">
                      <a:solidFill>
                        <a:srgbClr val="EFA12D"/>
                      </a:solidFill>
                      <a:prstDash val="solid"/>
                    </a:lnR>
                    <a:solidFill>
                      <a:srgbClr val="EFA1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marL="91440" marR="2101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Descendant direct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30175" marR="1790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éléments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qui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sont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descendants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directs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d’un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autre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élément.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Le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symbole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0" dirty="0">
                          <a:latin typeface="Verdana"/>
                          <a:cs typeface="Verdana"/>
                        </a:rPr>
                        <a:t>&gt;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»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est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utilisé.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130175" marR="1016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fonction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nth-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child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spécifie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quel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élément choisir.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09220" marR="6553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div</a:t>
                      </a:r>
                      <a:r>
                        <a:rPr sz="1800" b="1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3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800" b="1" spc="-400" dirty="0">
                          <a:latin typeface="Tahoma"/>
                          <a:cs typeface="Tahoma"/>
                        </a:rPr>
                        <a:t>&gt;</a:t>
                      </a:r>
                      <a:r>
                        <a:rPr sz="1800" b="1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paragraphes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descendants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directs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50" dirty="0">
                          <a:latin typeface="Verdana"/>
                          <a:cs typeface="Verdana"/>
                        </a:rPr>
                        <a:t>d’une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div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109220" marR="568325">
                        <a:lnSpc>
                          <a:spcPct val="100000"/>
                        </a:lnSpc>
                      </a:pPr>
                      <a:r>
                        <a:rPr sz="1800" b="1" spc="-45" dirty="0">
                          <a:latin typeface="Tahoma"/>
                          <a:cs typeface="Tahoma"/>
                        </a:rPr>
                        <a:t>div-</a:t>
                      </a:r>
                      <a:r>
                        <a:rPr sz="1800" b="1" spc="-135" dirty="0">
                          <a:latin typeface="Tahoma"/>
                          <a:cs typeface="Tahoma"/>
                        </a:rPr>
                        <a:t>&gt;a:nth-</a:t>
                      </a:r>
                      <a:r>
                        <a:rPr sz="1800" b="1" spc="-55" dirty="0">
                          <a:latin typeface="Tahoma"/>
                          <a:cs typeface="Tahoma"/>
                        </a:rPr>
                        <a:t>child(2)</a:t>
                      </a:r>
                      <a:r>
                        <a:rPr sz="1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le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deuxième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lien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descendant</a:t>
                      </a:r>
                      <a:r>
                        <a:rPr sz="1800" spc="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direct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d’un</a:t>
                      </a:r>
                      <a:r>
                        <a:rPr sz="18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div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109220" marR="137795">
                        <a:lnSpc>
                          <a:spcPct val="100000"/>
                        </a:lnSpc>
                      </a:pPr>
                      <a:r>
                        <a:rPr sz="1800" b="1" spc="-45" dirty="0">
                          <a:latin typeface="Tahoma"/>
                          <a:cs typeface="Tahoma"/>
                        </a:rPr>
                        <a:t>div-</a:t>
                      </a:r>
                      <a:r>
                        <a:rPr sz="1800" b="1" spc="-135" dirty="0">
                          <a:latin typeface="Tahoma"/>
                          <a:cs typeface="Tahoma"/>
                        </a:rPr>
                        <a:t>&gt;a:nth-</a:t>
                      </a:r>
                      <a:r>
                        <a:rPr sz="1800" b="1" spc="-110" dirty="0">
                          <a:latin typeface="Tahoma"/>
                          <a:cs typeface="Tahoma"/>
                        </a:rPr>
                        <a:t>child(2n+1)</a:t>
                      </a:r>
                      <a:r>
                        <a:rPr sz="1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tous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2nème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0" dirty="0">
                          <a:latin typeface="Verdana"/>
                          <a:cs typeface="Verdana"/>
                        </a:rPr>
                        <a:t>+</a:t>
                      </a:r>
                      <a:r>
                        <a:rPr sz="1800" spc="-170" dirty="0">
                          <a:latin typeface="Verdana"/>
                          <a:cs typeface="Verdana"/>
                        </a:rPr>
                        <a:t> 1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liens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descendants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directs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1</a:t>
                      </a:r>
                      <a:r>
                        <a:rPr sz="1800" spc="-165" baseline="25462" dirty="0">
                          <a:latin typeface="Verdana"/>
                          <a:cs typeface="Verdana"/>
                        </a:rPr>
                        <a:t>er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,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3</a:t>
                      </a:r>
                      <a:r>
                        <a:rPr sz="1800" spc="-15" baseline="25462" dirty="0">
                          <a:latin typeface="Verdana"/>
                          <a:cs typeface="Verdana"/>
                        </a:rPr>
                        <a:t>ème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, 5</a:t>
                      </a:r>
                      <a:r>
                        <a:rPr sz="1800" spc="-15" baseline="25462" dirty="0">
                          <a:latin typeface="Verdana"/>
                          <a:cs typeface="Verdana"/>
                        </a:rPr>
                        <a:t>ème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,…etc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Descendants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indirects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55" dirty="0">
                          <a:latin typeface="Verdana"/>
                          <a:cs typeface="Verdana"/>
                        </a:rPr>
                        <a:t>Tous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éléments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qui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sont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des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enfants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(pas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  <a:p>
                      <a:pPr marL="1301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forcément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directs)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d’autres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éléments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9220" marR="347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Tahoma"/>
                          <a:cs typeface="Tahoma"/>
                        </a:rPr>
                        <a:t>div</a:t>
                      </a:r>
                      <a:r>
                        <a:rPr sz="1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70" dirty="0">
                          <a:latin typeface="Tahoma"/>
                          <a:cs typeface="Tahoma"/>
                        </a:rPr>
                        <a:t>span.spanInterne</a:t>
                      </a:r>
                      <a:r>
                        <a:rPr sz="1800" b="1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span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avec</a:t>
                      </a:r>
                      <a:r>
                        <a:rPr sz="1800" spc="-1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la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classe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spanInterne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»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qui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sont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des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descendants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d’un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div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95" dirty="0">
                          <a:latin typeface="Verdana"/>
                          <a:cs typeface="Verdana"/>
                        </a:rPr>
                        <a:t>Frère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direct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14" dirty="0">
                          <a:latin typeface="Verdana"/>
                          <a:cs typeface="Verdana"/>
                        </a:rPr>
                        <a:t>Un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 err="1">
                          <a:latin typeface="Verdana"/>
                          <a:cs typeface="Verdana"/>
                        </a:rPr>
                        <a:t>élément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adjacent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un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autre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élément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  <a:p>
                      <a:pPr marL="1301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et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qui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sont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au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même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niveau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(symbole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90" dirty="0">
                          <a:latin typeface="Verdana"/>
                          <a:cs typeface="Verdana"/>
                        </a:rPr>
                        <a:t>+)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160" dirty="0">
                          <a:latin typeface="Tahoma"/>
                          <a:cs typeface="Tahoma"/>
                        </a:rPr>
                        <a:t>h2+p</a:t>
                      </a:r>
                      <a:r>
                        <a:rPr sz="1800" b="1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le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paragraphe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qui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vient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directement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après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un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h2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95" dirty="0">
                          <a:latin typeface="Verdana"/>
                          <a:cs typeface="Verdana"/>
                        </a:rPr>
                        <a:t>Frère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indirect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0175" marR="1435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éléments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se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trouvant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au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même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niveau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qu’un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autre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élément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(symbole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5" dirty="0">
                          <a:latin typeface="Verdana"/>
                          <a:cs typeface="Verdana"/>
                        </a:rPr>
                        <a:t>~)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9220" marR="521334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175" dirty="0">
                          <a:latin typeface="Tahoma"/>
                          <a:cs typeface="Tahoma"/>
                        </a:rPr>
                        <a:t>li~li</a:t>
                      </a:r>
                      <a:r>
                        <a:rPr sz="1800" b="1" spc="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un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élément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adjacent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un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autre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élément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liste.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Exclut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le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premier.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Sélecteurs</a:t>
            </a:r>
            <a:r>
              <a:rPr spc="-260" dirty="0"/>
              <a:t> </a:t>
            </a:r>
            <a:r>
              <a:rPr spc="45" dirty="0"/>
              <a:t>avancés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19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2381" y="1479422"/>
          <a:ext cx="11414125" cy="4418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2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3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Sélecteur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FA12D"/>
                      </a:solidFill>
                      <a:prstDash val="solid"/>
                    </a:lnL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Exemple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12700">
                      <a:solidFill>
                        <a:srgbClr val="EFA12D"/>
                      </a:solidFill>
                      <a:prstDash val="solid"/>
                    </a:lnR>
                    <a:solidFill>
                      <a:srgbClr val="EFA1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:link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14" dirty="0">
                          <a:latin typeface="Verdana"/>
                          <a:cs typeface="Verdana"/>
                        </a:rPr>
                        <a:t>Liens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pas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encore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visités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FA12D"/>
                      </a:solidFill>
                      <a:prstDash val="solid"/>
                    </a:lnR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:visited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70" dirty="0">
                          <a:latin typeface="Verdana"/>
                          <a:cs typeface="Verdana"/>
                        </a:rPr>
                        <a:t>Lien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visité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:hover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60" dirty="0">
                          <a:latin typeface="Verdana"/>
                          <a:cs typeface="Verdana"/>
                        </a:rPr>
                        <a:t>Élément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qui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est 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survolé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par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souris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:focus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60" dirty="0">
                          <a:latin typeface="Verdana"/>
                          <a:cs typeface="Verdana"/>
                        </a:rPr>
                        <a:t>Élément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qui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détient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le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focus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65" dirty="0">
                          <a:latin typeface="Tahoma"/>
                          <a:cs typeface="Tahoma"/>
                        </a:rPr>
                        <a:t>input:focus</a:t>
                      </a:r>
                      <a:r>
                        <a:rPr sz="1800" b="1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contrôle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qui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reçoit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le</a:t>
                      </a:r>
                      <a:r>
                        <a:rPr sz="18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focus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[attribut=valeur]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53670" marR="3632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Sélectionne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des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élément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ayant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des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attributs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avec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une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certaine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valeur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2311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100" dirty="0">
                          <a:latin typeface="Tahoma"/>
                          <a:cs typeface="Tahoma"/>
                        </a:rPr>
                        <a:t>a[target=_blank]</a:t>
                      </a:r>
                      <a:r>
                        <a:rPr sz="1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15" dirty="0">
                          <a:latin typeface="Verdana"/>
                          <a:cs typeface="Verdana"/>
                        </a:rPr>
                        <a:t>{}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sélectionne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liens 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qui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ouvrent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dans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une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nouvelle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fenêtre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5" dirty="0">
                          <a:latin typeface="Verdana"/>
                          <a:cs typeface="Verdana"/>
                        </a:rPr>
                        <a:t>[attribut^=valeur]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Sélectionne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les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éléments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ayant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un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153670">
                        <a:lnSpc>
                          <a:spcPct val="100000"/>
                        </a:lnSpc>
                      </a:pPr>
                      <a:r>
                        <a:rPr sz="1800" spc="-70" dirty="0">
                          <a:latin typeface="Verdana"/>
                          <a:cs typeface="Verdana"/>
                        </a:rPr>
                        <a:t>attribut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commençant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par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une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valeur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160" dirty="0">
                          <a:latin typeface="Tahoma"/>
                          <a:cs typeface="Tahoma"/>
                        </a:rPr>
                        <a:t>a[href^=http]</a:t>
                      </a:r>
                      <a:r>
                        <a:rPr sz="1800" b="1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sélectionne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les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liens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ayant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13271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une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80" dirty="0">
                          <a:latin typeface="Verdana"/>
                          <a:cs typeface="Verdana"/>
                        </a:rPr>
                        <a:t>URL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commençant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par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HTTP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60" dirty="0">
                          <a:latin typeface="Verdana"/>
                          <a:cs typeface="Verdana"/>
                        </a:rPr>
                        <a:t>[attribut*=valeur]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53670" marR="502284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Sélectionne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éléments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ayant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un 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attribut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contenant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valeur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4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4851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b="1" spc="-155" dirty="0">
                          <a:latin typeface="Tahoma"/>
                          <a:cs typeface="Tahoma"/>
                        </a:rPr>
                        <a:t>a[href*=ynt]</a:t>
                      </a:r>
                      <a:r>
                        <a:rPr sz="1800" b="1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sélectionne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des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liens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qui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contiennent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ynt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»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dans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l’URL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4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35" dirty="0">
                          <a:latin typeface="Verdana"/>
                          <a:cs typeface="Verdana"/>
                        </a:rPr>
                        <a:t>:only-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child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Sélectionne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l’élément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qui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est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l’unique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1536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descendant</a:t>
                      </a:r>
                      <a:r>
                        <a:rPr sz="18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d’un</a:t>
                      </a:r>
                      <a:r>
                        <a:rPr sz="18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autre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élément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5" dirty="0">
                          <a:latin typeface="Verdana"/>
                          <a:cs typeface="Verdana"/>
                        </a:rPr>
                        <a:t>div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p:only-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child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sélectionne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le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  <a:p>
                      <a:pPr marL="132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paragraphe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unique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l’intérieur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d’un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div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Sélecteurs</a:t>
            </a:r>
            <a:r>
              <a:rPr spc="-260" dirty="0"/>
              <a:t> </a:t>
            </a:r>
            <a:r>
              <a:rPr spc="45" dirty="0"/>
              <a:t>avancés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20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2381" y="1479422"/>
          <a:ext cx="11416030" cy="4154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3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Sélecteur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FA12D"/>
                      </a:solidFill>
                      <a:prstDash val="solid"/>
                    </a:lnL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Exemple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12700">
                      <a:solidFill>
                        <a:srgbClr val="EFA12D"/>
                      </a:solidFill>
                      <a:prstDash val="solid"/>
                    </a:lnR>
                    <a:solidFill>
                      <a:srgbClr val="EFA1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nth-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child(n)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Nème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descendant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212725" marR="7543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45" dirty="0">
                          <a:latin typeface="Verdana"/>
                          <a:cs typeface="Verdana"/>
                        </a:rPr>
                        <a:t>n-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child(2)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deuxième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descendant </a:t>
                      </a:r>
                      <a:r>
                        <a:rPr sz="1800" spc="-145" dirty="0">
                          <a:latin typeface="Verdana"/>
                          <a:cs typeface="Verdana"/>
                        </a:rPr>
                        <a:t>n-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child(2n+1),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tous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les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descendants impairs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0" dirty="0">
                          <a:latin typeface="Verdana"/>
                          <a:cs typeface="Verdana"/>
                        </a:rPr>
                        <a:t>:first-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child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80" dirty="0">
                          <a:latin typeface="Verdana"/>
                          <a:cs typeface="Verdana"/>
                        </a:rPr>
                        <a:t>Premier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enfant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0" dirty="0">
                          <a:latin typeface="Verdana"/>
                          <a:cs typeface="Verdana"/>
                        </a:rPr>
                        <a:t>:first-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line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60" dirty="0">
                          <a:latin typeface="Verdana"/>
                          <a:cs typeface="Verdana"/>
                        </a:rPr>
                        <a:t>Première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ligne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d’un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paragraphe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0" dirty="0">
                          <a:latin typeface="Verdana"/>
                          <a:cs typeface="Verdana"/>
                        </a:rPr>
                        <a:t>:first-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letter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60" dirty="0">
                          <a:latin typeface="Verdana"/>
                          <a:cs typeface="Verdana"/>
                        </a:rPr>
                        <a:t>Première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lettre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d’un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paragraphe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:before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Ajoute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du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contenu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avant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l’élément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:after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Ajoute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du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contenu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après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l’élément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not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Sélectionne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les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éléments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qui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ne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sont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48323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pas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un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élément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donné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100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85" dirty="0">
                          <a:latin typeface="Verdana"/>
                          <a:cs typeface="Verdana"/>
                        </a:rPr>
                        <a:t>&gt;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not(a)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tous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les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éléments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sauf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liens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FA12D"/>
                      </a:solidFill>
                      <a:prstDash val="solid"/>
                    </a:lnL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Cascade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8775" y="1675956"/>
            <a:ext cx="8740140" cy="3506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644650" indent="-342900">
              <a:lnSpc>
                <a:spcPct val="100000"/>
              </a:lnSpc>
              <a:spcBef>
                <a:spcPts val="100"/>
              </a:spcBef>
            </a:pPr>
            <a:r>
              <a:rPr sz="2400" spc="-325" dirty="0">
                <a:solidFill>
                  <a:srgbClr val="404040"/>
                </a:solidFill>
                <a:latin typeface="Verdana"/>
                <a:cs typeface="Verdana"/>
              </a:rPr>
              <a:t>Si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plusieurs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règles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s’appliquent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10" dirty="0">
                <a:solidFill>
                  <a:srgbClr val="404040"/>
                </a:solidFill>
                <a:latin typeface="Verdana"/>
                <a:cs typeface="Verdana"/>
              </a:rPr>
              <a:t>élément,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mécanismes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suivants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appliqués</a:t>
            </a:r>
            <a:endParaRPr sz="2400" dirty="0">
              <a:latin typeface="Verdana"/>
              <a:cs typeface="Verdana"/>
            </a:endParaRPr>
          </a:p>
          <a:p>
            <a:pPr marL="755650" indent="-285750">
              <a:lnSpc>
                <a:spcPct val="100000"/>
              </a:lnSpc>
              <a:spcBef>
                <a:spcPts val="1005"/>
              </a:spcBef>
              <a:buClr>
                <a:srgbClr val="EFA12D"/>
              </a:buClr>
              <a:buFont typeface="Wingdings"/>
              <a:buChar char=""/>
              <a:tabLst>
                <a:tab pos="755650" algn="l"/>
              </a:tabLst>
            </a:pPr>
            <a:r>
              <a:rPr sz="2200" spc="-290" dirty="0">
                <a:solidFill>
                  <a:srgbClr val="404040"/>
                </a:solidFill>
                <a:latin typeface="Verdana"/>
                <a:cs typeface="Verdana"/>
              </a:rPr>
              <a:t>Si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Verdana"/>
                <a:cs typeface="Verdana"/>
              </a:rPr>
              <a:t>deux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404040"/>
                </a:solidFill>
                <a:latin typeface="Verdana"/>
                <a:cs typeface="Verdana"/>
              </a:rPr>
              <a:t>règles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Verdana"/>
                <a:cs typeface="Verdana"/>
              </a:rPr>
              <a:t>identiques,</a:t>
            </a:r>
            <a:r>
              <a:rPr sz="22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Verdana"/>
                <a:cs typeface="Verdana"/>
              </a:rPr>
              <a:t>dernière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prise</a:t>
            </a:r>
            <a:endParaRPr sz="2200" dirty="0">
              <a:latin typeface="Verdana"/>
              <a:cs typeface="Verdana"/>
            </a:endParaRPr>
          </a:p>
          <a:p>
            <a:pPr marL="755015" marR="77470" indent="-285750">
              <a:lnSpc>
                <a:spcPct val="100000"/>
              </a:lnSpc>
              <a:spcBef>
                <a:spcPts val="994"/>
              </a:spcBef>
              <a:buClr>
                <a:srgbClr val="EFA12D"/>
              </a:buClr>
              <a:buFont typeface="Wingdings"/>
              <a:buChar char=""/>
              <a:tabLst>
                <a:tab pos="756285" algn="l"/>
                <a:tab pos="5154930" algn="l"/>
              </a:tabLst>
            </a:pPr>
            <a:r>
              <a:rPr sz="2200" spc="-290" dirty="0">
                <a:solidFill>
                  <a:srgbClr val="404040"/>
                </a:solidFill>
                <a:latin typeface="Verdana"/>
                <a:cs typeface="Verdana"/>
              </a:rPr>
              <a:t>Si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Verdana"/>
                <a:cs typeface="Verdana"/>
              </a:rPr>
              <a:t>règle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5" dirty="0">
                <a:solidFill>
                  <a:srgbClr val="404040"/>
                </a:solidFill>
                <a:latin typeface="Verdana"/>
                <a:cs typeface="Verdana"/>
              </a:rPr>
              <a:t>plus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spécifique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50" dirty="0">
                <a:solidFill>
                  <a:srgbClr val="404040"/>
                </a:solidFill>
                <a:latin typeface="Verdana"/>
                <a:cs typeface="Verdana"/>
              </a:rPr>
              <a:t>que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Verdana"/>
                <a:cs typeface="Verdana"/>
              </a:rPr>
              <a:t>l’autre,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Verdana"/>
                <a:cs typeface="Verdana"/>
              </a:rPr>
              <a:t>elle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10" dirty="0">
                <a:solidFill>
                  <a:srgbClr val="404040"/>
                </a:solidFill>
                <a:latin typeface="Verdana"/>
                <a:cs typeface="Verdana"/>
              </a:rPr>
              <a:t>prise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404040"/>
                </a:solidFill>
                <a:latin typeface="Verdana"/>
                <a:cs typeface="Verdana"/>
              </a:rPr>
              <a:t>sur 	</a:t>
            </a:r>
            <a:r>
              <a:rPr sz="2200" spc="-50" dirty="0">
                <a:solidFill>
                  <a:srgbClr val="404040"/>
                </a:solidFill>
                <a:latin typeface="Verdana"/>
                <a:cs typeface="Verdana"/>
              </a:rPr>
              <a:t>l’autre.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h1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spécifique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29" dirty="0">
                <a:solidFill>
                  <a:srgbClr val="404040"/>
                </a:solidFill>
                <a:latin typeface="Verdana"/>
                <a:cs typeface="Verdana"/>
              </a:rPr>
              <a:t>sur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70" dirty="0">
                <a:solidFill>
                  <a:srgbClr val="404040"/>
                </a:solidFill>
                <a:latin typeface="Verdana"/>
                <a:cs typeface="Verdana"/>
              </a:rPr>
              <a:t>*.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2200" spc="-45" dirty="0">
                <a:solidFill>
                  <a:srgbClr val="404040"/>
                </a:solidFill>
                <a:latin typeface="Verdana"/>
                <a:cs typeface="Verdana"/>
              </a:rPr>
              <a:t>span#id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Verdana"/>
                <a:cs typeface="Verdana"/>
              </a:rPr>
              <a:t>spcifique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Verdana"/>
                <a:cs typeface="Verdana"/>
              </a:rPr>
              <a:t>à 	</a:t>
            </a:r>
            <a:r>
              <a:rPr sz="2200" spc="-55" dirty="0">
                <a:solidFill>
                  <a:srgbClr val="404040"/>
                </a:solidFill>
                <a:latin typeface="Verdana"/>
                <a:cs typeface="Verdana"/>
              </a:rPr>
              <a:t>span.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Verdana"/>
                <a:cs typeface="Verdana"/>
              </a:rPr>
              <a:t>Span,maClasse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spécifique</a:t>
            </a:r>
            <a:r>
              <a:rPr sz="22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7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.maClasse.</a:t>
            </a:r>
            <a:endParaRPr sz="2200" dirty="0">
              <a:latin typeface="Verdana"/>
              <a:cs typeface="Verdana"/>
            </a:endParaRPr>
          </a:p>
          <a:p>
            <a:pPr marL="755650" indent="-285750">
              <a:lnSpc>
                <a:spcPct val="100000"/>
              </a:lnSpc>
              <a:spcBef>
                <a:spcPts val="1000"/>
              </a:spcBef>
              <a:buClr>
                <a:srgbClr val="EFA12D"/>
              </a:buClr>
              <a:buFont typeface="Wingdings"/>
              <a:buChar char=""/>
              <a:tabLst>
                <a:tab pos="755650" algn="l"/>
              </a:tabLst>
            </a:pPr>
            <a:r>
              <a:rPr sz="2200" spc="-290" dirty="0">
                <a:solidFill>
                  <a:srgbClr val="404040"/>
                </a:solidFill>
                <a:latin typeface="Verdana"/>
                <a:cs typeface="Verdana"/>
              </a:rPr>
              <a:t>Si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404040"/>
                </a:solidFill>
                <a:latin typeface="Verdana"/>
                <a:cs typeface="Verdana"/>
              </a:rPr>
              <a:t>veut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prioriser</a:t>
            </a:r>
            <a:r>
              <a:rPr sz="22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Verdana"/>
                <a:cs typeface="Verdana"/>
              </a:rPr>
              <a:t>règle,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marque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Verdana"/>
                <a:cs typeface="Verdana"/>
              </a:rPr>
              <a:t>avec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Verdana"/>
                <a:cs typeface="Verdana"/>
              </a:rPr>
              <a:t>mot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45" dirty="0">
                <a:solidFill>
                  <a:srgbClr val="404040"/>
                </a:solidFill>
                <a:latin typeface="Verdana"/>
                <a:cs typeface="Verdana"/>
              </a:rPr>
              <a:t>clé</a:t>
            </a:r>
            <a:endParaRPr sz="2200" dirty="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Verdana"/>
                <a:cs typeface="Verdana"/>
              </a:rPr>
              <a:t>!important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3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lang="fr-FR" sz="2200" spc="-5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</a:p>
          <a:p>
            <a:pPr marL="756285">
              <a:lnSpc>
                <a:spcPct val="100000"/>
              </a:lnSpc>
            </a:pPr>
            <a:endParaRPr sz="2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21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263106F-95B7-BBA3-96D0-12D8214D2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4560692"/>
            <a:ext cx="4445228" cy="215276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/>
              <a:t>Exercice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668270" y="1291209"/>
            <a:ext cx="5297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0" dirty="0">
                <a:solidFill>
                  <a:srgbClr val="404040"/>
                </a:solidFill>
                <a:latin typeface="Verdana"/>
                <a:cs typeface="Verdana"/>
              </a:rPr>
              <a:t>1-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Donner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signification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sélecteurs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suivants: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3489" y="1714880"/>
            <a:ext cx="1254760" cy="2686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Div</a:t>
            </a:r>
            <a:r>
              <a:rPr sz="1800" spc="-2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p</a:t>
            </a:r>
            <a:r>
              <a:rPr sz="1800" spc="-1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800000"/>
                </a:solidFill>
                <a:latin typeface="Consolas"/>
                <a:cs typeface="Consolas"/>
              </a:rPr>
              <a:t>{};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23489" y="2115692"/>
            <a:ext cx="3510279" cy="2686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h2#byName,</a:t>
            </a:r>
            <a:r>
              <a:rPr sz="1800" spc="-5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span.byClass</a:t>
            </a:r>
            <a:r>
              <a:rPr sz="1800" spc="-3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800000"/>
                </a:solidFill>
                <a:latin typeface="Consolas"/>
                <a:cs typeface="Consolas"/>
              </a:rPr>
              <a:t>{};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3489" y="2516504"/>
            <a:ext cx="4387850" cy="2686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div#byName</a:t>
            </a:r>
            <a:r>
              <a:rPr sz="1800" spc="-4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800" spc="-3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img:nth-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child(2n)</a:t>
            </a:r>
            <a:r>
              <a:rPr sz="1800" spc="-3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800000"/>
                </a:solidFill>
                <a:latin typeface="Consolas"/>
                <a:cs typeface="Consolas"/>
              </a:rPr>
              <a:t>{};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3489" y="2918841"/>
            <a:ext cx="2883535" cy="2686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p#byName</a:t>
            </a:r>
            <a:r>
              <a:rPr sz="1800" spc="-2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800" spc="-3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b:hover</a:t>
            </a:r>
            <a:r>
              <a:rPr sz="1800" spc="-25" dirty="0">
                <a:solidFill>
                  <a:srgbClr val="800000"/>
                </a:solidFill>
                <a:latin typeface="Consolas"/>
                <a:cs typeface="Consolas"/>
              </a:rPr>
              <a:t> {};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80589" y="4523613"/>
            <a:ext cx="125095" cy="268605"/>
          </a:xfrm>
          <a:custGeom>
            <a:avLst/>
            <a:gdLst/>
            <a:ahLst/>
            <a:cxnLst/>
            <a:rect l="l" t="t" r="r" b="b"/>
            <a:pathLst>
              <a:path w="125094" h="268604">
                <a:moveTo>
                  <a:pt x="124968" y="0"/>
                </a:moveTo>
                <a:lnTo>
                  <a:pt x="0" y="0"/>
                </a:lnTo>
                <a:lnTo>
                  <a:pt x="0" y="268224"/>
                </a:lnTo>
                <a:lnTo>
                  <a:pt x="124968" y="268224"/>
                </a:lnTo>
                <a:lnTo>
                  <a:pt x="1249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Exercice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80589" y="2186939"/>
            <a:ext cx="5641975" cy="2686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2-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Classer</a:t>
            </a:r>
            <a:r>
              <a:rPr sz="1800" spc="-4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ces</a:t>
            </a:r>
            <a:r>
              <a:rPr sz="1800" spc="-3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sélecteurs</a:t>
            </a:r>
            <a:r>
              <a:rPr sz="1800" spc="-2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selon</a:t>
            </a:r>
            <a:r>
              <a:rPr sz="1800" spc="-3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leur</a:t>
            </a:r>
            <a:r>
              <a:rPr sz="1800" spc="-2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priorité: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8270" y="2436749"/>
            <a:ext cx="3729354" cy="203837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  <a:tab pos="1188085" algn="l"/>
              </a:tabLst>
            </a:pP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Div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15" dirty="0">
                <a:solidFill>
                  <a:srgbClr val="404040"/>
                </a:solidFill>
                <a:latin typeface="Verdana"/>
                <a:cs typeface="Verdana"/>
              </a:rPr>
              <a:t>{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1800" spc="-515" dirty="0">
                <a:solidFill>
                  <a:srgbClr val="404040"/>
                </a:solidFill>
                <a:latin typeface="Verdana"/>
                <a:cs typeface="Verdana"/>
              </a:rPr>
              <a:t>}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  <a:tab pos="2994025" algn="l"/>
              </a:tabLst>
            </a:pP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Div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20" dirty="0">
                <a:solidFill>
                  <a:srgbClr val="404040"/>
                </a:solidFill>
                <a:latin typeface="Verdana"/>
                <a:cs typeface="Verdana"/>
              </a:rPr>
              <a:t>&gt;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 img.maClass</a:t>
            </a:r>
            <a:r>
              <a:rPr sz="1800" spc="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65" dirty="0">
                <a:solidFill>
                  <a:srgbClr val="404040"/>
                </a:solidFill>
                <a:latin typeface="Verdana"/>
                <a:cs typeface="Verdana"/>
              </a:rPr>
              <a:t>{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1800" spc="-565" dirty="0">
                <a:solidFill>
                  <a:srgbClr val="404040"/>
                </a:solidFill>
                <a:latin typeface="Verdana"/>
                <a:cs typeface="Verdana"/>
              </a:rPr>
              <a:t>}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Div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0" dirty="0">
                <a:solidFill>
                  <a:srgbClr val="404040"/>
                </a:solidFill>
                <a:latin typeface="Verdana"/>
                <a:cs typeface="Verdana"/>
              </a:rPr>
              <a:t>&gt;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Img#ID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Div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P[color=red]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&gt;Img.maclass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Div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P[color=red]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85" dirty="0">
                <a:solidFill>
                  <a:srgbClr val="404040"/>
                </a:solidFill>
                <a:latin typeface="Verdana"/>
                <a:cs typeface="Verdana"/>
              </a:rPr>
              <a:t>&gt;Img#ID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EFA1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5743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85" dirty="0"/>
              <a:t> </a:t>
            </a:r>
            <a:r>
              <a:rPr sz="4000" spc="-330" dirty="0"/>
              <a:t>3</a:t>
            </a:r>
            <a:r>
              <a:rPr sz="4000" spc="-300" dirty="0"/>
              <a:t> </a:t>
            </a:r>
            <a:r>
              <a:rPr sz="4000" spc="-710" dirty="0"/>
              <a:t>:</a:t>
            </a:r>
            <a:r>
              <a:rPr sz="4000" spc="-295" dirty="0"/>
              <a:t> </a:t>
            </a:r>
            <a:r>
              <a:rPr sz="4000" spc="-254" dirty="0"/>
              <a:t>Les</a:t>
            </a:r>
            <a:r>
              <a:rPr sz="4000" spc="-280" dirty="0"/>
              <a:t> </a:t>
            </a:r>
            <a:r>
              <a:rPr sz="4000" spc="-70" dirty="0"/>
              <a:t>Couleurs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25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Qu’est-</a:t>
            </a:r>
            <a:r>
              <a:rPr spc="320" dirty="0"/>
              <a:t>ce</a:t>
            </a:r>
            <a:r>
              <a:rPr spc="-245" dirty="0"/>
              <a:t> </a:t>
            </a:r>
            <a:r>
              <a:rPr spc="60" dirty="0"/>
              <a:t>qu’une</a:t>
            </a:r>
            <a:r>
              <a:rPr spc="-260" dirty="0"/>
              <a:t> </a:t>
            </a:r>
            <a:r>
              <a:rPr spc="-20" dirty="0"/>
              <a:t>couleur</a:t>
            </a:r>
            <a:r>
              <a:rPr spc="-225" dirty="0"/>
              <a:t> </a:t>
            </a:r>
            <a:r>
              <a:rPr spc="105" dirty="0"/>
              <a:t>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8515" y="1558289"/>
            <a:ext cx="11205845" cy="4278658"/>
          </a:xfrm>
          <a:prstGeom prst="rect">
            <a:avLst/>
          </a:prstGeom>
        </p:spPr>
        <p:txBody>
          <a:bodyPr vert="horz" wrap="square" lIns="0" tIns="615238" rIns="0" bIns="0" rtlCol="0">
            <a:spAutoFit/>
          </a:bodyPr>
          <a:lstStyle/>
          <a:p>
            <a:pPr marL="2974975" indent="-342900">
              <a:lnSpc>
                <a:spcPct val="100000"/>
              </a:lnSpc>
              <a:spcBef>
                <a:spcPts val="1090"/>
              </a:spcBef>
              <a:buFont typeface="Arial" panose="020B0604020202020204" pitchFamily="34" charset="0"/>
              <a:buChar char="•"/>
            </a:pPr>
            <a:r>
              <a:rPr spc="-70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pc="-155" dirty="0"/>
              <a:t>Un</a:t>
            </a:r>
            <a:r>
              <a:rPr spc="-150" dirty="0"/>
              <a:t> </a:t>
            </a:r>
            <a:r>
              <a:rPr spc="-185" dirty="0"/>
              <a:t>mix</a:t>
            </a:r>
            <a:r>
              <a:rPr spc="-204" dirty="0"/>
              <a:t> </a:t>
            </a:r>
            <a:r>
              <a:rPr spc="-60" dirty="0"/>
              <a:t>entre</a:t>
            </a:r>
            <a:r>
              <a:rPr spc="-160" dirty="0"/>
              <a:t> </a:t>
            </a:r>
            <a:r>
              <a:rPr spc="-175" dirty="0"/>
              <a:t>trois</a:t>
            </a:r>
            <a:r>
              <a:rPr spc="-190" dirty="0"/>
              <a:t> </a:t>
            </a:r>
            <a:r>
              <a:rPr spc="-100" dirty="0"/>
              <a:t>valeurs</a:t>
            </a:r>
            <a:r>
              <a:rPr spc="-195" dirty="0"/>
              <a:t> </a:t>
            </a:r>
            <a:r>
              <a:rPr spc="-425" dirty="0"/>
              <a:t>:</a:t>
            </a:r>
            <a:r>
              <a:rPr spc="-185" dirty="0"/>
              <a:t> </a:t>
            </a:r>
            <a:r>
              <a:rPr spc="-40" dirty="0"/>
              <a:t>rouge,</a:t>
            </a:r>
            <a:r>
              <a:rPr spc="-160" dirty="0"/>
              <a:t> </a:t>
            </a:r>
            <a:r>
              <a:rPr spc="-105" dirty="0"/>
              <a:t>vert</a:t>
            </a:r>
            <a:r>
              <a:rPr spc="-195" dirty="0"/>
              <a:t> </a:t>
            </a:r>
            <a:r>
              <a:rPr dirty="0"/>
              <a:t>et</a:t>
            </a:r>
            <a:r>
              <a:rPr spc="-160" dirty="0"/>
              <a:t> </a:t>
            </a:r>
            <a:r>
              <a:rPr spc="-20" dirty="0"/>
              <a:t>bleu</a:t>
            </a:r>
          </a:p>
          <a:p>
            <a:pPr marL="2974975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pc="-20" dirty="0"/>
              <a:t>La</a:t>
            </a:r>
            <a:r>
              <a:rPr spc="-180" dirty="0"/>
              <a:t> </a:t>
            </a:r>
            <a:r>
              <a:rPr spc="-40" dirty="0"/>
              <a:t>propriété</a:t>
            </a:r>
            <a:r>
              <a:rPr spc="-170" dirty="0"/>
              <a:t> </a:t>
            </a:r>
            <a:r>
              <a:rPr spc="-545" dirty="0"/>
              <a:t>«</a:t>
            </a:r>
            <a:r>
              <a:rPr spc="-165" dirty="0"/>
              <a:t> </a:t>
            </a:r>
            <a:r>
              <a:rPr dirty="0"/>
              <a:t>color</a:t>
            </a:r>
            <a:r>
              <a:rPr spc="-170" dirty="0"/>
              <a:t> </a:t>
            </a:r>
            <a:r>
              <a:rPr spc="-545" dirty="0"/>
              <a:t>»</a:t>
            </a:r>
            <a:r>
              <a:rPr spc="-180" dirty="0"/>
              <a:t> </a:t>
            </a:r>
            <a:r>
              <a:rPr spc="-60" dirty="0"/>
              <a:t>définit</a:t>
            </a:r>
            <a:r>
              <a:rPr spc="-180" dirty="0"/>
              <a:t> </a:t>
            </a:r>
            <a:r>
              <a:rPr dirty="0"/>
              <a:t>la</a:t>
            </a:r>
            <a:r>
              <a:rPr spc="-210" dirty="0"/>
              <a:t> </a:t>
            </a:r>
            <a:r>
              <a:rPr spc="-10" dirty="0"/>
              <a:t>couleur</a:t>
            </a:r>
            <a:r>
              <a:rPr spc="-180" dirty="0"/>
              <a:t> </a:t>
            </a:r>
            <a:r>
              <a:rPr spc="130" dirty="0"/>
              <a:t>de</a:t>
            </a:r>
            <a:r>
              <a:rPr spc="-165" dirty="0"/>
              <a:t> </a:t>
            </a:r>
            <a:r>
              <a:rPr spc="-10" dirty="0"/>
              <a:t>texte</a:t>
            </a:r>
          </a:p>
          <a:p>
            <a:pPr marL="2974975" marR="508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pc="-10" dirty="0"/>
              <a:t>La</a:t>
            </a:r>
            <a:r>
              <a:rPr spc="-160" dirty="0"/>
              <a:t> </a:t>
            </a:r>
            <a:r>
              <a:rPr spc="-40" dirty="0"/>
              <a:t>propriété</a:t>
            </a:r>
            <a:r>
              <a:rPr spc="-165" dirty="0"/>
              <a:t> </a:t>
            </a:r>
            <a:r>
              <a:rPr spc="-545" dirty="0"/>
              <a:t>«</a:t>
            </a:r>
            <a:r>
              <a:rPr spc="-155" dirty="0"/>
              <a:t> </a:t>
            </a:r>
            <a:r>
              <a:rPr spc="-10" dirty="0"/>
              <a:t>background-</a:t>
            </a:r>
            <a:r>
              <a:rPr dirty="0"/>
              <a:t>color</a:t>
            </a:r>
            <a:r>
              <a:rPr spc="-150" dirty="0"/>
              <a:t> </a:t>
            </a:r>
            <a:r>
              <a:rPr spc="-545" dirty="0"/>
              <a:t>»</a:t>
            </a:r>
            <a:r>
              <a:rPr spc="-180" dirty="0"/>
              <a:t> </a:t>
            </a:r>
            <a:r>
              <a:rPr spc="-60" dirty="0"/>
              <a:t>définit</a:t>
            </a:r>
            <a:r>
              <a:rPr spc="-175" dirty="0"/>
              <a:t> </a:t>
            </a:r>
            <a:r>
              <a:rPr spc="-10" dirty="0"/>
              <a:t>la</a:t>
            </a:r>
            <a:r>
              <a:rPr spc="-204" dirty="0"/>
              <a:t> </a:t>
            </a:r>
            <a:r>
              <a:rPr spc="-170" dirty="0"/>
              <a:t>couleur </a:t>
            </a:r>
            <a:r>
              <a:rPr spc="130" dirty="0"/>
              <a:t>de</a:t>
            </a:r>
            <a:r>
              <a:rPr spc="75" dirty="0"/>
              <a:t> </a:t>
            </a:r>
            <a:r>
              <a:rPr spc="-20" dirty="0"/>
              <a:t>fond</a:t>
            </a:r>
          </a:p>
          <a:p>
            <a:pPr marL="2974975" indent="-342900">
              <a:lnSpc>
                <a:spcPct val="100000"/>
              </a:lnSpc>
              <a:spcBef>
                <a:spcPts val="1010"/>
              </a:spcBef>
              <a:buFont typeface="Arial" panose="020B0604020202020204" pitchFamily="34" charset="0"/>
              <a:buChar char="•"/>
            </a:pPr>
            <a:r>
              <a:rPr spc="-20" dirty="0"/>
              <a:t>La</a:t>
            </a:r>
            <a:r>
              <a:rPr spc="-165" dirty="0"/>
              <a:t> </a:t>
            </a:r>
            <a:r>
              <a:rPr spc="-40" dirty="0"/>
              <a:t>propriété</a:t>
            </a:r>
            <a:r>
              <a:rPr spc="-160" dirty="0"/>
              <a:t> </a:t>
            </a:r>
            <a:r>
              <a:rPr spc="-545" dirty="0"/>
              <a:t>«</a:t>
            </a:r>
            <a:r>
              <a:rPr spc="-150" dirty="0"/>
              <a:t> </a:t>
            </a:r>
            <a:r>
              <a:rPr spc="-70" dirty="0"/>
              <a:t>border-</a:t>
            </a:r>
            <a:r>
              <a:rPr dirty="0"/>
              <a:t>color</a:t>
            </a:r>
            <a:r>
              <a:rPr spc="-120" dirty="0"/>
              <a:t> </a:t>
            </a:r>
            <a:r>
              <a:rPr spc="-545" dirty="0"/>
              <a:t>»</a:t>
            </a:r>
            <a:r>
              <a:rPr spc="-170" dirty="0"/>
              <a:t> </a:t>
            </a:r>
            <a:r>
              <a:rPr spc="-60" dirty="0"/>
              <a:t>définit</a:t>
            </a:r>
            <a:r>
              <a:rPr spc="-165" dirty="0"/>
              <a:t> </a:t>
            </a:r>
            <a:r>
              <a:rPr dirty="0"/>
              <a:t>la</a:t>
            </a:r>
            <a:r>
              <a:rPr spc="-204" dirty="0"/>
              <a:t> </a:t>
            </a:r>
            <a:r>
              <a:rPr spc="-20" dirty="0"/>
              <a:t>couleur</a:t>
            </a:r>
            <a:r>
              <a:rPr spc="-155" dirty="0"/>
              <a:t> </a:t>
            </a:r>
            <a:r>
              <a:rPr spc="105" dirty="0"/>
              <a:t>de</a:t>
            </a:r>
          </a:p>
          <a:p>
            <a:pPr marL="2746375" indent="0">
              <a:lnSpc>
                <a:spcPct val="100000"/>
              </a:lnSpc>
              <a:buNone/>
            </a:pPr>
            <a:r>
              <a:rPr spc="-10" dirty="0"/>
              <a:t>bordure</a:t>
            </a:r>
          </a:p>
          <a:p>
            <a:pPr marL="2974975" marR="272415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pc="-75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pc="-90" dirty="0"/>
              <a:t>Pour</a:t>
            </a:r>
            <a:r>
              <a:rPr spc="-170" dirty="0"/>
              <a:t> </a:t>
            </a:r>
            <a:r>
              <a:rPr spc="-100" dirty="0"/>
              <a:t>choisir</a:t>
            </a:r>
            <a:r>
              <a:rPr spc="-200" dirty="0"/>
              <a:t> </a:t>
            </a:r>
            <a:r>
              <a:rPr dirty="0"/>
              <a:t>une</a:t>
            </a:r>
            <a:r>
              <a:rPr spc="-170" dirty="0"/>
              <a:t> </a:t>
            </a:r>
            <a:r>
              <a:rPr spc="-10" dirty="0"/>
              <a:t>couleur</a:t>
            </a:r>
            <a:r>
              <a:rPr spc="-170" dirty="0"/>
              <a:t> </a:t>
            </a:r>
            <a:r>
              <a:rPr spc="-475" dirty="0"/>
              <a:t>: </a:t>
            </a:r>
            <a:r>
              <a:rPr u="sng" spc="-55" dirty="0">
                <a:solidFill>
                  <a:srgbClr val="AC1F1F"/>
                </a:solidFill>
                <a:uFill>
                  <a:solidFill>
                    <a:srgbClr val="AC1F1F"/>
                  </a:solidFill>
                </a:uFill>
                <a:hlinkClick r:id="rId2"/>
              </a:rPr>
              <a:t>http://www.w3schools.com/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26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Couleurs</a:t>
            </a:r>
            <a:r>
              <a:rPr spc="-220" dirty="0"/>
              <a:t> </a:t>
            </a:r>
            <a:r>
              <a:rPr spc="-25" dirty="0"/>
              <a:t>standard</a:t>
            </a:r>
            <a:r>
              <a:rPr spc="-229" dirty="0"/>
              <a:t> </a:t>
            </a:r>
            <a:r>
              <a:rPr spc="-445" dirty="0"/>
              <a:t>-</a:t>
            </a:r>
            <a:r>
              <a:rPr spc="-245" dirty="0"/>
              <a:t> </a:t>
            </a:r>
            <a:r>
              <a:rPr spc="-114" dirty="0"/>
              <a:t>Exemples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9016" y="1912620"/>
            <a:ext cx="10563225" cy="3645535"/>
            <a:chOff x="509016" y="1912620"/>
            <a:chExt cx="10563225" cy="3645535"/>
          </a:xfrm>
        </p:grpSpPr>
        <p:sp>
          <p:nvSpPr>
            <p:cNvPr id="4" name="object 4"/>
            <p:cNvSpPr/>
            <p:nvPr/>
          </p:nvSpPr>
          <p:spPr>
            <a:xfrm>
              <a:off x="513588" y="1917192"/>
              <a:ext cx="10553700" cy="3636645"/>
            </a:xfrm>
            <a:custGeom>
              <a:avLst/>
              <a:gdLst/>
              <a:ahLst/>
              <a:cxnLst/>
              <a:rect l="l" t="t" r="r" b="b"/>
              <a:pathLst>
                <a:path w="10553700" h="3636645">
                  <a:moveTo>
                    <a:pt x="10553700" y="0"/>
                  </a:moveTo>
                  <a:lnTo>
                    <a:pt x="0" y="0"/>
                  </a:lnTo>
                  <a:lnTo>
                    <a:pt x="0" y="3636263"/>
                  </a:lnTo>
                  <a:lnTo>
                    <a:pt x="10553700" y="3636263"/>
                  </a:lnTo>
                  <a:lnTo>
                    <a:pt x="10553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3588" y="1917192"/>
              <a:ext cx="10553700" cy="3636645"/>
            </a:xfrm>
            <a:custGeom>
              <a:avLst/>
              <a:gdLst/>
              <a:ahLst/>
              <a:cxnLst/>
              <a:rect l="l" t="t" r="r" b="b"/>
              <a:pathLst>
                <a:path w="10553700" h="3636645">
                  <a:moveTo>
                    <a:pt x="0" y="3636263"/>
                  </a:moveTo>
                  <a:lnTo>
                    <a:pt x="10553700" y="3636263"/>
                  </a:lnTo>
                  <a:lnTo>
                    <a:pt x="10553700" y="0"/>
                  </a:lnTo>
                  <a:lnTo>
                    <a:pt x="0" y="0"/>
                  </a:lnTo>
                  <a:lnTo>
                    <a:pt x="0" y="36362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4481" y="1915414"/>
              <a:ext cx="132715" cy="281940"/>
            </a:xfrm>
            <a:custGeom>
              <a:avLst/>
              <a:gdLst/>
              <a:ahLst/>
              <a:cxnLst/>
              <a:rect l="l" t="t" r="r" b="b"/>
              <a:pathLst>
                <a:path w="132715" h="281939">
                  <a:moveTo>
                    <a:pt x="132587" y="0"/>
                  </a:moveTo>
                  <a:lnTo>
                    <a:pt x="0" y="0"/>
                  </a:lnTo>
                  <a:lnTo>
                    <a:pt x="0" y="281939"/>
                  </a:lnTo>
                  <a:lnTo>
                    <a:pt x="132587" y="281939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37311" y="2170836"/>
            <a:ext cx="5079365" cy="182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1685" marR="693420" indent="-782320">
              <a:lnSpc>
                <a:spcPct val="124200"/>
              </a:lnSpc>
              <a:spcBef>
                <a:spcPts val="100"/>
              </a:spcBef>
              <a:tabLst>
                <a:tab pos="4244975" algn="l"/>
              </a:tabLst>
            </a:pPr>
            <a:r>
              <a:rPr sz="1900" dirty="0">
                <a:solidFill>
                  <a:srgbClr val="800000"/>
                </a:solidFill>
                <a:latin typeface="Consolas"/>
                <a:cs typeface="Consolas"/>
              </a:rPr>
              <a:t>div#byName</a:t>
            </a:r>
            <a:r>
              <a:rPr sz="1900" spc="-1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900" spc="-2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800000"/>
                </a:solidFill>
                <a:latin typeface="Consolas"/>
                <a:cs typeface="Consolas"/>
              </a:rPr>
              <a:t>span:nth-</a:t>
            </a:r>
            <a:r>
              <a:rPr sz="1900" dirty="0">
                <a:solidFill>
                  <a:srgbClr val="800000"/>
                </a:solidFill>
                <a:latin typeface="Consolas"/>
                <a:cs typeface="Consolas"/>
              </a:rPr>
              <a:t>child(1)</a:t>
            </a:r>
            <a:r>
              <a:rPr sz="1900" spc="-1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900" spc="-50" dirty="0">
                <a:latin typeface="Consolas"/>
                <a:cs typeface="Consolas"/>
              </a:rPr>
              <a:t>{ </a:t>
            </a:r>
            <a:r>
              <a:rPr sz="1900" spc="-10" dirty="0">
                <a:solidFill>
                  <a:srgbClr val="FF0000"/>
                </a:solidFill>
                <a:latin typeface="Consolas"/>
                <a:cs typeface="Consolas"/>
              </a:rPr>
              <a:t>border-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color</a:t>
            </a:r>
            <a:r>
              <a:rPr sz="1900" dirty="0">
                <a:latin typeface="Consolas"/>
                <a:cs typeface="Consolas"/>
              </a:rPr>
              <a:t>: </a:t>
            </a:r>
            <a:r>
              <a:rPr sz="1900" spc="-20" dirty="0">
                <a:solidFill>
                  <a:srgbClr val="0000FF"/>
                </a:solidFill>
                <a:latin typeface="Consolas"/>
                <a:cs typeface="Consolas"/>
              </a:rPr>
              <a:t>red</a:t>
            </a:r>
            <a:r>
              <a:rPr sz="1900" spc="-20" dirty="0">
                <a:latin typeface="Consolas"/>
                <a:cs typeface="Consolas"/>
              </a:rPr>
              <a:t>;</a:t>
            </a:r>
            <a:r>
              <a:rPr sz="1900" dirty="0">
                <a:latin typeface="Consolas"/>
                <a:cs typeface="Consolas"/>
              </a:rPr>
              <a:t>	</a:t>
            </a:r>
            <a:r>
              <a:rPr sz="1900" spc="-50" dirty="0">
                <a:latin typeface="Consolas"/>
                <a:cs typeface="Consolas"/>
              </a:rPr>
              <a:t>}</a:t>
            </a:r>
            <a:endParaRPr sz="1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r>
              <a:rPr sz="1900" dirty="0">
                <a:solidFill>
                  <a:srgbClr val="800000"/>
                </a:solidFill>
                <a:latin typeface="Consolas"/>
                <a:cs typeface="Consolas"/>
              </a:rPr>
              <a:t>div#byHex</a:t>
            </a:r>
            <a:r>
              <a:rPr sz="1900" spc="-1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900" spc="-2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800000"/>
                </a:solidFill>
                <a:latin typeface="Consolas"/>
                <a:cs typeface="Consolas"/>
              </a:rPr>
              <a:t>span:nth-</a:t>
            </a:r>
            <a:r>
              <a:rPr sz="1900" dirty="0">
                <a:solidFill>
                  <a:srgbClr val="800000"/>
                </a:solidFill>
                <a:latin typeface="Consolas"/>
                <a:cs typeface="Consolas"/>
              </a:rPr>
              <a:t>child(1)</a:t>
            </a:r>
            <a:r>
              <a:rPr sz="1900" spc="-1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900" spc="-50" dirty="0">
                <a:latin typeface="Consolas"/>
                <a:cs typeface="Consolas"/>
              </a:rPr>
              <a:t>{</a:t>
            </a:r>
            <a:endParaRPr sz="1900">
              <a:latin typeface="Consolas"/>
              <a:cs typeface="Consolas"/>
            </a:endParaRPr>
          </a:p>
          <a:p>
            <a:pPr marR="5080" indent="1465580">
              <a:lnSpc>
                <a:spcPts val="2830"/>
              </a:lnSpc>
              <a:spcBef>
                <a:spcPts val="90"/>
              </a:spcBef>
            </a:pPr>
            <a:r>
              <a:rPr sz="1900" spc="-10" dirty="0">
                <a:solidFill>
                  <a:srgbClr val="FF0000"/>
                </a:solidFill>
                <a:latin typeface="Consolas"/>
                <a:cs typeface="Consolas"/>
              </a:rPr>
              <a:t>background-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color</a:t>
            </a:r>
            <a:r>
              <a:rPr sz="1900" dirty="0">
                <a:latin typeface="Consolas"/>
                <a:cs typeface="Consolas"/>
              </a:rPr>
              <a:t>:</a:t>
            </a:r>
            <a:r>
              <a:rPr sz="1900" spc="20" dirty="0"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0000FF"/>
                </a:solidFill>
                <a:latin typeface="Consolas"/>
                <a:cs typeface="Consolas"/>
              </a:rPr>
              <a:t>#982222</a:t>
            </a:r>
            <a:r>
              <a:rPr sz="1900" spc="-10" dirty="0">
                <a:latin typeface="Consolas"/>
                <a:cs typeface="Consolas"/>
              </a:rPr>
              <a:t>;} </a:t>
            </a:r>
            <a:r>
              <a:rPr sz="1900" dirty="0">
                <a:solidFill>
                  <a:srgbClr val="800000"/>
                </a:solidFill>
                <a:latin typeface="Consolas"/>
                <a:cs typeface="Consolas"/>
              </a:rPr>
              <a:t>div#byShortHex</a:t>
            </a:r>
            <a:r>
              <a:rPr sz="1900" spc="-2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900" spc="-2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800000"/>
                </a:solidFill>
                <a:latin typeface="Consolas"/>
                <a:cs typeface="Consolas"/>
              </a:rPr>
              <a:t>span:nth-</a:t>
            </a:r>
            <a:r>
              <a:rPr sz="1900" dirty="0">
                <a:solidFill>
                  <a:srgbClr val="800000"/>
                </a:solidFill>
                <a:latin typeface="Consolas"/>
                <a:cs typeface="Consolas"/>
              </a:rPr>
              <a:t>child(1)</a:t>
            </a:r>
            <a:r>
              <a:rPr sz="1900" spc="-2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900" spc="-50" dirty="0">
                <a:latin typeface="Consolas"/>
                <a:cs typeface="Consolas"/>
              </a:rPr>
              <a:t>{</a:t>
            </a:r>
            <a:endParaRPr sz="19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73655" y="4035374"/>
            <a:ext cx="14541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onsolas"/>
                <a:cs typeface="Consolas"/>
              </a:rPr>
              <a:t>}</a:t>
            </a:r>
            <a:endParaRPr sz="19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7311" y="3965903"/>
            <a:ext cx="4507230" cy="146050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38885">
              <a:lnSpc>
                <a:spcPct val="100000"/>
              </a:lnSpc>
              <a:spcBef>
                <a:spcPts val="645"/>
              </a:spcBef>
            </a:pPr>
            <a:r>
              <a:rPr sz="1900" spc="-10" dirty="0">
                <a:solidFill>
                  <a:srgbClr val="FF0000"/>
                </a:solidFill>
                <a:latin typeface="Consolas"/>
                <a:cs typeface="Consolas"/>
              </a:rPr>
              <a:t>border-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color</a:t>
            </a:r>
            <a:r>
              <a:rPr sz="1900" dirty="0">
                <a:latin typeface="Consolas"/>
                <a:cs typeface="Consolas"/>
              </a:rPr>
              <a:t>:</a:t>
            </a:r>
            <a:r>
              <a:rPr sz="1900" spc="-30" dirty="0">
                <a:latin typeface="Consolas"/>
                <a:cs typeface="Consolas"/>
              </a:rPr>
              <a:t> </a:t>
            </a:r>
            <a:r>
              <a:rPr sz="1900" spc="-20" dirty="0">
                <a:solidFill>
                  <a:srgbClr val="0000FF"/>
                </a:solidFill>
                <a:latin typeface="Consolas"/>
                <a:cs typeface="Consolas"/>
              </a:rPr>
              <a:t>#bb1</a:t>
            </a:r>
            <a:r>
              <a:rPr sz="1900" spc="-20" dirty="0">
                <a:latin typeface="Consolas"/>
                <a:cs typeface="Consolas"/>
              </a:rPr>
              <a:t>;</a:t>
            </a:r>
            <a:endParaRPr sz="1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sz="1900" dirty="0">
                <a:solidFill>
                  <a:srgbClr val="800000"/>
                </a:solidFill>
                <a:latin typeface="Consolas"/>
                <a:cs typeface="Consolas"/>
              </a:rPr>
              <a:t>div#byRGB</a:t>
            </a:r>
            <a:r>
              <a:rPr sz="1900" spc="-1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900" spc="-2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800000"/>
                </a:solidFill>
                <a:latin typeface="Consolas"/>
                <a:cs typeface="Consolas"/>
              </a:rPr>
              <a:t>span:nth-</a:t>
            </a:r>
            <a:r>
              <a:rPr sz="1900" dirty="0">
                <a:solidFill>
                  <a:srgbClr val="800000"/>
                </a:solidFill>
                <a:latin typeface="Consolas"/>
                <a:cs typeface="Consolas"/>
              </a:rPr>
              <a:t>child(1)</a:t>
            </a:r>
            <a:r>
              <a:rPr sz="1900" spc="-1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900" spc="-50" dirty="0">
                <a:latin typeface="Consolas"/>
                <a:cs typeface="Consolas"/>
              </a:rPr>
              <a:t>{</a:t>
            </a:r>
            <a:endParaRPr sz="1900">
              <a:latin typeface="Consolas"/>
              <a:cs typeface="Consolas"/>
            </a:endParaRPr>
          </a:p>
          <a:p>
            <a:pPr marL="1696085">
              <a:lnSpc>
                <a:spcPct val="100000"/>
              </a:lnSpc>
              <a:spcBef>
                <a:spcPts val="555"/>
              </a:spcBef>
            </a:pP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color</a:t>
            </a:r>
            <a:r>
              <a:rPr sz="1900" dirty="0">
                <a:latin typeface="Consolas"/>
                <a:cs typeface="Consolas"/>
              </a:rPr>
              <a:t>:</a:t>
            </a:r>
            <a:r>
              <a:rPr sz="1900" spc="-30" dirty="0"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0000FF"/>
                </a:solidFill>
                <a:latin typeface="Consolas"/>
                <a:cs typeface="Consolas"/>
              </a:rPr>
              <a:t>rgb(11,11,11)</a:t>
            </a:r>
            <a:r>
              <a:rPr sz="1900" spc="-10" dirty="0">
                <a:latin typeface="Consolas"/>
                <a:cs typeface="Consolas"/>
              </a:rPr>
              <a:t>;</a:t>
            </a:r>
            <a:endParaRPr sz="1900">
              <a:latin typeface="Consolas"/>
              <a:cs typeface="Consolas"/>
            </a:endParaRPr>
          </a:p>
          <a:p>
            <a:pPr marL="932180">
              <a:lnSpc>
                <a:spcPct val="100000"/>
              </a:lnSpc>
              <a:spcBef>
                <a:spcPts val="540"/>
              </a:spcBef>
            </a:pPr>
            <a:r>
              <a:rPr sz="1900" spc="-50" dirty="0">
                <a:latin typeface="Consolas"/>
                <a:cs typeface="Consolas"/>
              </a:rPr>
              <a:t>}</a:t>
            </a:r>
            <a:endParaRPr sz="19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27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Couleurs</a:t>
            </a:r>
            <a:r>
              <a:rPr spc="-220" dirty="0"/>
              <a:t> </a:t>
            </a:r>
            <a:r>
              <a:rPr spc="-325" dirty="0"/>
              <a:t>CSS3</a:t>
            </a:r>
            <a:r>
              <a:rPr spc="-229" dirty="0"/>
              <a:t> </a:t>
            </a:r>
            <a:r>
              <a:rPr spc="-445" dirty="0"/>
              <a:t>-</a:t>
            </a:r>
            <a:r>
              <a:rPr spc="-245" dirty="0"/>
              <a:t> </a:t>
            </a:r>
            <a:r>
              <a:rPr spc="-455" dirty="0"/>
              <a:t>HSL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639175" cy="38497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29235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fonction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hsl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(hue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15" dirty="0">
                <a:solidFill>
                  <a:srgbClr val="404040"/>
                </a:solidFill>
                <a:latin typeface="Verdana"/>
                <a:cs typeface="Verdana"/>
              </a:rPr>
              <a:t>+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saturation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15" dirty="0">
                <a:solidFill>
                  <a:srgbClr val="404040"/>
                </a:solidFill>
                <a:latin typeface="Verdana"/>
                <a:cs typeface="Verdana"/>
              </a:rPr>
              <a:t>+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lightness)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définit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couleur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partir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teinte,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saturation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 brillance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teinte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sz="2400" spc="-2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360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(</a:t>
            </a:r>
            <a:r>
              <a:rPr lang="fr-FR" sz="2400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roue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lang="fr-FR" sz="2400" spc="130" dirty="0">
                <a:solidFill>
                  <a:srgbClr val="404040"/>
                </a:solidFill>
                <a:latin typeface="Verdana"/>
                <a:cs typeface="Verdana"/>
              </a:rPr>
              <a:t>de </a:t>
            </a:r>
            <a:r>
              <a:rPr lang="fr-FR" sz="2400" spc="130" dirty="0" err="1">
                <a:solidFill>
                  <a:srgbClr val="404040"/>
                </a:solidFill>
                <a:latin typeface="Verdana"/>
                <a:cs typeface="Verdana"/>
              </a:rPr>
              <a:t>coleur</a:t>
            </a:r>
            <a:r>
              <a:rPr lang="fr-FR" sz="2400" spc="130" dirty="0">
                <a:solidFill>
                  <a:srgbClr val="404040"/>
                </a:solidFill>
                <a:latin typeface="Verdana"/>
                <a:cs typeface="Verdana"/>
              </a:rPr>
              <a:t>)</a:t>
            </a:r>
            <a:r>
              <a:rPr sz="2400" spc="-515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r>
              <a:rPr lang="fr-FR" sz="2400" spc="-5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120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correspond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vert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240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bleu.</a:t>
            </a:r>
            <a:endParaRPr sz="2400" dirty="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saturation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15" dirty="0">
                <a:solidFill>
                  <a:srgbClr val="404040"/>
                </a:solidFill>
                <a:latin typeface="Verdana"/>
                <a:cs typeface="Verdana"/>
              </a:rPr>
              <a:t>100%.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endParaRPr lang="fr-FR" sz="2400" spc="-185" dirty="0">
              <a:solidFill>
                <a:srgbClr val="404040"/>
              </a:solidFill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994"/>
              </a:spcBef>
            </a:pPr>
            <a:r>
              <a:rPr sz="2400" spc="-475" dirty="0">
                <a:solidFill>
                  <a:srgbClr val="404040"/>
                </a:solidFill>
                <a:latin typeface="Verdana"/>
                <a:cs typeface="Verdana"/>
              </a:rPr>
              <a:t>0%</a:t>
            </a:r>
            <a:r>
              <a:rPr lang="fr-FR" sz="2400" spc="-4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lang="fr-FR" sz="2400" spc="-165" dirty="0">
                <a:solidFill>
                  <a:srgbClr val="404040"/>
                </a:solidFill>
                <a:latin typeface="Verdana"/>
                <a:cs typeface="Verdana"/>
              </a:rPr>
              <a:t>correspond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niveau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gris.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45" dirty="0">
                <a:solidFill>
                  <a:srgbClr val="404040"/>
                </a:solidFill>
                <a:latin typeface="Verdana"/>
                <a:cs typeface="Verdana"/>
              </a:rPr>
              <a:t>100%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correspond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couleur d’origine.</a:t>
            </a:r>
            <a:endParaRPr sz="2400" dirty="0">
              <a:latin typeface="Verdana"/>
              <a:cs typeface="Verdana"/>
            </a:endParaRPr>
          </a:p>
          <a:p>
            <a:pPr marL="355600" marR="11430" indent="-342900">
              <a:lnSpc>
                <a:spcPct val="100000"/>
              </a:lnSpc>
              <a:spcBef>
                <a:spcPts val="1015"/>
              </a:spcBef>
              <a:buFont typeface="Arial" panose="020B0604020202020204" pitchFamily="34" charset="0"/>
              <a:buChar char="•"/>
            </a:pPr>
            <a:r>
              <a:rPr sz="2400" spc="-70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luminosité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sz="2400" spc="-2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10" dirty="0">
                <a:solidFill>
                  <a:srgbClr val="404040"/>
                </a:solidFill>
                <a:latin typeface="Verdana"/>
                <a:cs typeface="Verdana"/>
              </a:rPr>
              <a:t>100%.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75" dirty="0">
                <a:solidFill>
                  <a:srgbClr val="404040"/>
                </a:solidFill>
                <a:latin typeface="Verdana"/>
                <a:cs typeface="Verdana"/>
              </a:rPr>
              <a:t>0%</a:t>
            </a:r>
            <a:r>
              <a:rPr lang="fr-FR" sz="2400" spc="-185" dirty="0">
                <a:solidFill>
                  <a:srgbClr val="404040"/>
                </a:solidFill>
                <a:latin typeface="Verdana"/>
                <a:cs typeface="Verdana"/>
              </a:rPr>
              <a:t> pour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noir,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45" dirty="0">
                <a:solidFill>
                  <a:srgbClr val="404040"/>
                </a:solidFill>
                <a:latin typeface="Verdana"/>
                <a:cs typeface="Verdana"/>
              </a:rPr>
              <a:t>100%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correspond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blanc.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28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Couleurs</a:t>
            </a:r>
            <a:r>
              <a:rPr spc="-225" dirty="0"/>
              <a:t> </a:t>
            </a:r>
            <a:r>
              <a:rPr spc="-430" dirty="0"/>
              <a:t>HSL</a:t>
            </a:r>
            <a:r>
              <a:rPr spc="-245" dirty="0"/>
              <a:t> </a:t>
            </a:r>
            <a:r>
              <a:rPr spc="-445" dirty="0"/>
              <a:t>-</a:t>
            </a:r>
            <a:r>
              <a:rPr spc="-245" dirty="0"/>
              <a:t> </a:t>
            </a:r>
            <a:r>
              <a:rPr spc="-114" dirty="0"/>
              <a:t>Exemples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3587" y="1917192"/>
            <a:ext cx="10553700" cy="363664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229"/>
              </a:spcBef>
            </a:pPr>
            <a:r>
              <a:rPr sz="2400" dirty="0">
                <a:solidFill>
                  <a:srgbClr val="800000"/>
                </a:solidFill>
                <a:latin typeface="Consolas"/>
                <a:cs typeface="Consolas"/>
              </a:rPr>
              <a:t>div#byHSL</a:t>
            </a:r>
            <a:r>
              <a:rPr sz="2400" spc="-4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2400" spc="-4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800000"/>
                </a:solidFill>
                <a:latin typeface="Consolas"/>
                <a:cs typeface="Consolas"/>
              </a:rPr>
              <a:t>span:nth-</a:t>
            </a:r>
            <a:r>
              <a:rPr sz="2400" dirty="0">
                <a:solidFill>
                  <a:srgbClr val="800000"/>
                </a:solidFill>
                <a:latin typeface="Consolas"/>
                <a:cs typeface="Consolas"/>
              </a:rPr>
              <a:t>child(1)</a:t>
            </a:r>
            <a:r>
              <a:rPr sz="2400" spc="-4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400" spc="-50" dirty="0">
                <a:latin typeface="Consolas"/>
                <a:cs typeface="Consolas"/>
              </a:rPr>
              <a:t>{</a:t>
            </a:r>
            <a:endParaRPr sz="2400">
              <a:latin typeface="Consolas"/>
              <a:cs typeface="Consolas"/>
            </a:endParaRPr>
          </a:p>
          <a:p>
            <a:pPr marL="2110105" marR="2544445">
              <a:lnSpc>
                <a:spcPts val="3879"/>
              </a:lnSpc>
              <a:spcBef>
                <a:spcPts val="290"/>
              </a:spcBef>
            </a:pPr>
            <a:r>
              <a:rPr sz="2400" spc="-10" dirty="0">
                <a:solidFill>
                  <a:srgbClr val="FF0000"/>
                </a:solidFill>
                <a:latin typeface="Consolas"/>
                <a:cs typeface="Consolas"/>
              </a:rPr>
              <a:t>background-</a:t>
            </a:r>
            <a:r>
              <a:rPr sz="2400" dirty="0">
                <a:solidFill>
                  <a:srgbClr val="FF0000"/>
                </a:solidFill>
                <a:latin typeface="Consolas"/>
                <a:cs typeface="Consolas"/>
              </a:rPr>
              <a:t>color</a:t>
            </a:r>
            <a:r>
              <a:rPr sz="2400" dirty="0">
                <a:latin typeface="Consolas"/>
                <a:cs typeface="Consolas"/>
              </a:rPr>
              <a:t>:</a:t>
            </a:r>
            <a:r>
              <a:rPr sz="2400" spc="-25" dirty="0"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onsolas"/>
                <a:cs typeface="Consolas"/>
              </a:rPr>
              <a:t>hsl(120,30%,50%)</a:t>
            </a:r>
            <a:r>
              <a:rPr sz="2400" spc="-10" dirty="0">
                <a:latin typeface="Consolas"/>
                <a:cs typeface="Consolas"/>
              </a:rPr>
              <a:t>; </a:t>
            </a:r>
            <a:r>
              <a:rPr sz="2400" dirty="0">
                <a:solidFill>
                  <a:srgbClr val="FF0000"/>
                </a:solidFill>
                <a:latin typeface="Consolas"/>
                <a:cs typeface="Consolas"/>
              </a:rPr>
              <a:t>color</a:t>
            </a:r>
            <a:r>
              <a:rPr sz="2400" dirty="0">
                <a:latin typeface="Consolas"/>
                <a:cs typeface="Consolas"/>
              </a:rPr>
              <a:t>:</a:t>
            </a:r>
            <a:r>
              <a:rPr sz="2400" spc="-45" dirty="0"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onsolas"/>
                <a:cs typeface="Consolas"/>
              </a:rPr>
              <a:t>hsl(0,100%,50%)</a:t>
            </a:r>
            <a:r>
              <a:rPr sz="2400" spc="-10" dirty="0">
                <a:latin typeface="Consolas"/>
                <a:cs typeface="Consolas"/>
              </a:rPr>
              <a:t>;</a:t>
            </a:r>
            <a:endParaRPr sz="2400">
              <a:latin typeface="Consolas"/>
              <a:cs typeface="Consolas"/>
            </a:endParaRPr>
          </a:p>
          <a:p>
            <a:pPr marL="2110105">
              <a:lnSpc>
                <a:spcPct val="100000"/>
              </a:lnSpc>
              <a:spcBef>
                <a:spcPts val="710"/>
              </a:spcBef>
            </a:pPr>
            <a:r>
              <a:rPr sz="2400" spc="-10" dirty="0">
                <a:solidFill>
                  <a:srgbClr val="FF0000"/>
                </a:solidFill>
                <a:latin typeface="Consolas"/>
                <a:cs typeface="Consolas"/>
              </a:rPr>
              <a:t>border-</a:t>
            </a:r>
            <a:r>
              <a:rPr sz="2400" dirty="0">
                <a:solidFill>
                  <a:srgbClr val="FF0000"/>
                </a:solidFill>
                <a:latin typeface="Consolas"/>
                <a:cs typeface="Consolas"/>
              </a:rPr>
              <a:t>color</a:t>
            </a:r>
            <a:r>
              <a:rPr sz="2400" dirty="0">
                <a:latin typeface="Consolas"/>
                <a:cs typeface="Consolas"/>
              </a:rPr>
              <a:t>:</a:t>
            </a:r>
            <a:r>
              <a:rPr sz="2400" spc="-40" dirty="0"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onsolas"/>
                <a:cs typeface="Consolas"/>
              </a:rPr>
              <a:t>hsl(0,100%,25%)</a:t>
            </a:r>
            <a:r>
              <a:rPr sz="2400" spc="-10" dirty="0">
                <a:latin typeface="Consolas"/>
                <a:cs typeface="Consolas"/>
              </a:rPr>
              <a:t>;</a:t>
            </a:r>
            <a:endParaRPr sz="2400">
              <a:latin typeface="Consolas"/>
              <a:cs typeface="Consolas"/>
            </a:endParaRPr>
          </a:p>
          <a:p>
            <a:pPr marL="1436370">
              <a:lnSpc>
                <a:spcPct val="100000"/>
              </a:lnSpc>
              <a:spcBef>
                <a:spcPts val="994"/>
              </a:spcBef>
            </a:pPr>
            <a:r>
              <a:rPr sz="2400" spc="-50" dirty="0">
                <a:latin typeface="Consolas"/>
                <a:cs typeface="Consolas"/>
              </a:rPr>
              <a:t>}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29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EFA1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46970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90" dirty="0"/>
              <a:t> </a:t>
            </a:r>
            <a:r>
              <a:rPr sz="4000" spc="-330" dirty="0"/>
              <a:t>4</a:t>
            </a:r>
            <a:r>
              <a:rPr sz="4000" spc="-300" dirty="0"/>
              <a:t> </a:t>
            </a:r>
            <a:r>
              <a:rPr sz="4000" spc="-710" dirty="0"/>
              <a:t>:</a:t>
            </a:r>
            <a:r>
              <a:rPr sz="4000" spc="-295" dirty="0"/>
              <a:t> </a:t>
            </a:r>
            <a:r>
              <a:rPr sz="4000" spc="-100" dirty="0"/>
              <a:t>Le</a:t>
            </a:r>
            <a:r>
              <a:rPr sz="4000" spc="-270" dirty="0"/>
              <a:t> </a:t>
            </a:r>
            <a:r>
              <a:rPr sz="4000" spc="-170" dirty="0"/>
              <a:t>Texte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32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Polices</a:t>
            </a:r>
            <a:r>
              <a:rPr spc="-285" dirty="0"/>
              <a:t> </a:t>
            </a:r>
            <a:r>
              <a:rPr spc="200" dirty="0"/>
              <a:t>de</a:t>
            </a:r>
            <a:r>
              <a:rPr spc="-265" dirty="0"/>
              <a:t> </a:t>
            </a:r>
            <a:r>
              <a:rPr spc="80" dirty="0"/>
              <a:t>caractère</a:t>
            </a:r>
            <a:r>
              <a:rPr spc="-254" dirty="0"/>
              <a:t> </a:t>
            </a:r>
            <a:r>
              <a:rPr spc="-445" dirty="0"/>
              <a:t>-</a:t>
            </a:r>
            <a:r>
              <a:rPr spc="-270" dirty="0"/>
              <a:t> </a:t>
            </a:r>
            <a:r>
              <a:rPr spc="-35" dirty="0"/>
              <a:t>Typologie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8515" y="1558289"/>
            <a:ext cx="11205845" cy="4758162"/>
          </a:xfrm>
          <a:prstGeom prst="rect">
            <a:avLst/>
          </a:prstGeom>
        </p:spPr>
        <p:txBody>
          <a:bodyPr vert="horz" wrap="square" lIns="0" tIns="615188" rIns="0" bIns="0" rtlCol="0">
            <a:spAutoFit/>
          </a:bodyPr>
          <a:lstStyle/>
          <a:p>
            <a:pPr marL="2974975" marR="158750" indent="-3429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spc="-50" dirty="0"/>
              <a:t>Une</a:t>
            </a:r>
            <a:r>
              <a:rPr spc="-25" dirty="0"/>
              <a:t> </a:t>
            </a:r>
            <a:r>
              <a:rPr dirty="0"/>
              <a:t>police</a:t>
            </a:r>
            <a:r>
              <a:rPr spc="-100" dirty="0"/>
              <a:t> </a:t>
            </a:r>
            <a:r>
              <a:rPr spc="130" dirty="0"/>
              <a:t>de</a:t>
            </a:r>
            <a:r>
              <a:rPr spc="-50" dirty="0"/>
              <a:t> </a:t>
            </a:r>
            <a:r>
              <a:rPr dirty="0"/>
              <a:t>caractère</a:t>
            </a:r>
            <a:r>
              <a:rPr spc="-55" dirty="0"/>
              <a:t> </a:t>
            </a:r>
            <a:r>
              <a:rPr b="1" i="1" spc="-295" dirty="0">
                <a:solidFill>
                  <a:srgbClr val="FF0000"/>
                </a:solidFill>
                <a:latin typeface="Verdana"/>
                <a:cs typeface="Verdana"/>
              </a:rPr>
              <a:t>serif</a:t>
            </a:r>
            <a:r>
              <a:rPr b="1" i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pc="-114" dirty="0"/>
              <a:t>est</a:t>
            </a:r>
            <a:r>
              <a:rPr spc="-55" dirty="0"/>
              <a:t> </a:t>
            </a:r>
            <a:r>
              <a:rPr dirty="0"/>
              <a:t>une</a:t>
            </a:r>
            <a:r>
              <a:rPr spc="-55" dirty="0"/>
              <a:t> </a:t>
            </a:r>
            <a:r>
              <a:rPr dirty="0"/>
              <a:t>police</a:t>
            </a:r>
            <a:r>
              <a:rPr spc="-90" dirty="0"/>
              <a:t> </a:t>
            </a:r>
            <a:r>
              <a:rPr spc="-20" dirty="0"/>
              <a:t>avec </a:t>
            </a:r>
            <a:r>
              <a:rPr dirty="0"/>
              <a:t>des</a:t>
            </a:r>
            <a:r>
              <a:rPr spc="35" dirty="0"/>
              <a:t> </a:t>
            </a:r>
            <a:r>
              <a:rPr spc="-160" dirty="0"/>
              <a:t>traits</a:t>
            </a:r>
            <a:r>
              <a:rPr spc="-180" dirty="0"/>
              <a:t> </a:t>
            </a:r>
            <a:r>
              <a:rPr spc="-45" dirty="0"/>
              <a:t>additionnels</a:t>
            </a:r>
            <a:r>
              <a:rPr spc="-165" dirty="0"/>
              <a:t> </a:t>
            </a:r>
            <a:r>
              <a:rPr spc="-240" dirty="0"/>
              <a:t>sur</a:t>
            </a:r>
            <a:r>
              <a:rPr spc="-140" dirty="0"/>
              <a:t> </a:t>
            </a:r>
            <a:r>
              <a:rPr spc="-135" dirty="0"/>
              <a:t>les </a:t>
            </a:r>
            <a:r>
              <a:rPr spc="-10" dirty="0"/>
              <a:t>caractères.</a:t>
            </a:r>
            <a:r>
              <a:rPr spc="-140" dirty="0"/>
              <a:t> </a:t>
            </a:r>
            <a:r>
              <a:rPr dirty="0"/>
              <a:t>Ces</a:t>
            </a:r>
            <a:r>
              <a:rPr spc="-135" dirty="0"/>
              <a:t> </a:t>
            </a:r>
            <a:r>
              <a:rPr spc="-10" dirty="0"/>
              <a:t>polices </a:t>
            </a:r>
            <a:r>
              <a:rPr spc="-100" dirty="0"/>
              <a:t>sont</a:t>
            </a:r>
            <a:r>
              <a:rPr spc="-5" dirty="0"/>
              <a:t> </a:t>
            </a:r>
            <a:r>
              <a:rPr dirty="0"/>
              <a:t>appréciées</a:t>
            </a:r>
            <a:r>
              <a:rPr spc="-120" dirty="0"/>
              <a:t> </a:t>
            </a:r>
            <a:r>
              <a:rPr dirty="0"/>
              <a:t>en</a:t>
            </a:r>
            <a:r>
              <a:rPr spc="-135" dirty="0"/>
              <a:t> </a:t>
            </a:r>
            <a:r>
              <a:rPr spc="-75" dirty="0"/>
              <a:t>lectures</a:t>
            </a:r>
            <a:r>
              <a:rPr spc="-130" dirty="0"/>
              <a:t> </a:t>
            </a:r>
            <a:r>
              <a:rPr spc="60" dirty="0"/>
              <a:t>car</a:t>
            </a:r>
            <a:r>
              <a:rPr spc="-120" dirty="0"/>
              <a:t> </a:t>
            </a:r>
            <a:r>
              <a:rPr spc="-175" dirty="0"/>
              <a:t>très</a:t>
            </a:r>
            <a:r>
              <a:rPr spc="-125" dirty="0"/>
              <a:t> </a:t>
            </a:r>
            <a:r>
              <a:rPr spc="-155" dirty="0"/>
              <a:t>lisibles. Les</a:t>
            </a:r>
            <a:r>
              <a:rPr spc="-114" dirty="0"/>
              <a:t> </a:t>
            </a:r>
            <a:r>
              <a:rPr spc="-10" dirty="0"/>
              <a:t>petits </a:t>
            </a:r>
            <a:r>
              <a:rPr spc="-155" dirty="0"/>
              <a:t>traits</a:t>
            </a:r>
            <a:r>
              <a:rPr spc="-135" dirty="0"/>
              <a:t> </a:t>
            </a:r>
            <a:r>
              <a:rPr spc="-65" dirty="0"/>
              <a:t>supplémentaires</a:t>
            </a:r>
            <a:r>
              <a:rPr spc="-155" dirty="0"/>
              <a:t> </a:t>
            </a:r>
            <a:r>
              <a:rPr spc="-110" dirty="0"/>
              <a:t>sont</a:t>
            </a:r>
            <a:r>
              <a:rPr spc="-120" dirty="0"/>
              <a:t> </a:t>
            </a:r>
            <a:r>
              <a:rPr dirty="0"/>
              <a:t>appelés</a:t>
            </a:r>
            <a:r>
              <a:rPr spc="-114" dirty="0"/>
              <a:t> </a:t>
            </a:r>
            <a:r>
              <a:rPr spc="-545" dirty="0"/>
              <a:t>«</a:t>
            </a:r>
            <a:r>
              <a:rPr spc="-95" dirty="0"/>
              <a:t> </a:t>
            </a:r>
            <a:r>
              <a:rPr spc="-190" dirty="0"/>
              <a:t>serifs</a:t>
            </a:r>
            <a:r>
              <a:rPr spc="-140" dirty="0"/>
              <a:t> </a:t>
            </a:r>
            <a:r>
              <a:rPr spc="-595" dirty="0"/>
              <a:t>»</a:t>
            </a:r>
          </a:p>
          <a:p>
            <a:pPr marL="2974975" marR="354330" indent="-342900">
              <a:lnSpc>
                <a:spcPct val="901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pc="-160" dirty="0"/>
              <a:t>Les</a:t>
            </a:r>
            <a:r>
              <a:rPr spc="-155" dirty="0"/>
              <a:t> </a:t>
            </a:r>
            <a:r>
              <a:rPr dirty="0"/>
              <a:t>polices</a:t>
            </a:r>
            <a:r>
              <a:rPr spc="-165" dirty="0"/>
              <a:t> </a:t>
            </a:r>
            <a:r>
              <a:rPr b="1" i="1" spc="-250" dirty="0">
                <a:solidFill>
                  <a:srgbClr val="FF0000"/>
                </a:solidFill>
                <a:latin typeface="Verdana"/>
                <a:cs typeface="Verdana"/>
              </a:rPr>
              <a:t>sans-</a:t>
            </a:r>
            <a:r>
              <a:rPr b="1" i="1" spc="-295" dirty="0">
                <a:solidFill>
                  <a:srgbClr val="FF0000"/>
                </a:solidFill>
                <a:latin typeface="Verdana"/>
                <a:cs typeface="Verdana"/>
              </a:rPr>
              <a:t>serif</a:t>
            </a:r>
            <a:r>
              <a:rPr b="1" i="1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pc="-110" dirty="0"/>
              <a:t>sont</a:t>
            </a:r>
            <a:r>
              <a:rPr spc="-155" dirty="0"/>
              <a:t> </a:t>
            </a:r>
            <a:r>
              <a:rPr spc="-10" dirty="0"/>
              <a:t>des</a:t>
            </a:r>
            <a:r>
              <a:rPr spc="-155" dirty="0"/>
              <a:t> </a:t>
            </a:r>
            <a:r>
              <a:rPr spc="-10" dirty="0"/>
              <a:t>polices</a:t>
            </a:r>
            <a:r>
              <a:rPr spc="-180" dirty="0"/>
              <a:t> </a:t>
            </a:r>
            <a:r>
              <a:rPr spc="-135" dirty="0"/>
              <a:t>sans</a:t>
            </a:r>
            <a:r>
              <a:rPr spc="-175" dirty="0"/>
              <a:t> </a:t>
            </a:r>
            <a:r>
              <a:rPr spc="-135" dirty="0"/>
              <a:t>les</a:t>
            </a:r>
            <a:r>
              <a:rPr lang="fr-FR" spc="-150" dirty="0"/>
              <a:t> traits </a:t>
            </a:r>
            <a:r>
              <a:rPr spc="-75" dirty="0" err="1"/>
              <a:t>supplémentaires</a:t>
            </a:r>
            <a:r>
              <a:rPr spc="-75" dirty="0"/>
              <a:t>.</a:t>
            </a:r>
            <a:r>
              <a:rPr spc="-175" dirty="0"/>
              <a:t> </a:t>
            </a:r>
            <a:r>
              <a:rPr spc="-170" dirty="0"/>
              <a:t>Elles</a:t>
            </a:r>
            <a:r>
              <a:rPr spc="-145" dirty="0"/>
              <a:t> </a:t>
            </a:r>
            <a:r>
              <a:rPr spc="-105" dirty="0"/>
              <a:t>sont</a:t>
            </a:r>
            <a:r>
              <a:rPr spc="-145" dirty="0"/>
              <a:t> </a:t>
            </a:r>
            <a:r>
              <a:rPr spc="-175" dirty="0"/>
              <a:t>très</a:t>
            </a:r>
            <a:r>
              <a:rPr spc="-130" dirty="0"/>
              <a:t> </a:t>
            </a:r>
            <a:r>
              <a:rPr spc="-65" dirty="0"/>
              <a:t>claires</a:t>
            </a:r>
            <a:r>
              <a:rPr spc="-175" dirty="0"/>
              <a:t> </a:t>
            </a:r>
            <a:r>
              <a:rPr spc="-240" dirty="0"/>
              <a:t>sur</a:t>
            </a:r>
            <a:r>
              <a:rPr spc="-145" dirty="0"/>
              <a:t> </a:t>
            </a:r>
            <a:r>
              <a:rPr spc="-85" dirty="0"/>
              <a:t>un</a:t>
            </a:r>
            <a:r>
              <a:rPr spc="-140" dirty="0"/>
              <a:t> </a:t>
            </a:r>
            <a:r>
              <a:rPr spc="-75" dirty="0"/>
              <a:t>dispositif </a:t>
            </a:r>
            <a:r>
              <a:rPr spc="70" dirty="0"/>
              <a:t>comme</a:t>
            </a:r>
            <a:r>
              <a:rPr spc="-180" dirty="0"/>
              <a:t> </a:t>
            </a:r>
            <a:r>
              <a:rPr spc="-10" dirty="0"/>
              <a:t>l’écran.</a:t>
            </a:r>
          </a:p>
          <a:p>
            <a:pPr marL="2974975" marR="5080" indent="-342900">
              <a:lnSpc>
                <a:spcPct val="89800"/>
              </a:lnSpc>
              <a:spcBef>
                <a:spcPts val="1015"/>
              </a:spcBef>
              <a:buFont typeface="Arial" panose="020B0604020202020204" pitchFamily="34" charset="0"/>
              <a:buChar char="•"/>
            </a:pPr>
            <a:r>
              <a:rPr spc="-160" dirty="0"/>
              <a:t>Les </a:t>
            </a:r>
            <a:r>
              <a:rPr dirty="0"/>
              <a:t>polices</a:t>
            </a:r>
            <a:r>
              <a:rPr spc="-170" dirty="0"/>
              <a:t> </a:t>
            </a:r>
            <a:r>
              <a:rPr b="1" i="1" spc="-145" dirty="0">
                <a:solidFill>
                  <a:srgbClr val="FF0000"/>
                </a:solidFill>
                <a:latin typeface="Verdana"/>
                <a:cs typeface="Verdana"/>
              </a:rPr>
              <a:t>monospace </a:t>
            </a:r>
            <a:r>
              <a:rPr spc="-110" dirty="0"/>
              <a:t>sont</a:t>
            </a:r>
            <a:r>
              <a:rPr spc="-160" dirty="0"/>
              <a:t> </a:t>
            </a:r>
            <a:r>
              <a:rPr spc="-10" dirty="0"/>
              <a:t>des</a:t>
            </a:r>
            <a:r>
              <a:rPr spc="-155" dirty="0"/>
              <a:t> </a:t>
            </a:r>
            <a:r>
              <a:rPr spc="-10" dirty="0"/>
              <a:t>polices</a:t>
            </a:r>
            <a:r>
              <a:rPr spc="-185" dirty="0"/>
              <a:t> </a:t>
            </a:r>
            <a:r>
              <a:rPr dirty="0"/>
              <a:t>où</a:t>
            </a:r>
            <a:r>
              <a:rPr spc="-165" dirty="0"/>
              <a:t> </a:t>
            </a:r>
            <a:r>
              <a:rPr spc="-110" dirty="0"/>
              <a:t>tous</a:t>
            </a:r>
            <a:r>
              <a:rPr spc="-165" dirty="0"/>
              <a:t> </a:t>
            </a:r>
            <a:r>
              <a:rPr spc="-280" dirty="0"/>
              <a:t>les </a:t>
            </a:r>
            <a:r>
              <a:rPr dirty="0"/>
              <a:t>caractères</a:t>
            </a:r>
            <a:r>
              <a:rPr spc="-145" dirty="0"/>
              <a:t> </a:t>
            </a:r>
            <a:r>
              <a:rPr spc="-45" dirty="0"/>
              <a:t>ont</a:t>
            </a:r>
            <a:r>
              <a:rPr spc="-150" dirty="0"/>
              <a:t> </a:t>
            </a:r>
            <a:r>
              <a:rPr dirty="0"/>
              <a:t>la</a:t>
            </a:r>
            <a:r>
              <a:rPr spc="-160" dirty="0"/>
              <a:t> </a:t>
            </a:r>
            <a:r>
              <a:rPr dirty="0"/>
              <a:t>même</a:t>
            </a:r>
            <a:r>
              <a:rPr spc="-170" dirty="0"/>
              <a:t> </a:t>
            </a:r>
            <a:r>
              <a:rPr spc="-85" dirty="0"/>
              <a:t>largeur.</a:t>
            </a:r>
            <a:r>
              <a:rPr spc="-165" dirty="0"/>
              <a:t> </a:t>
            </a:r>
            <a:r>
              <a:rPr spc="-50" dirty="0"/>
              <a:t>Une</a:t>
            </a:r>
            <a:r>
              <a:rPr spc="-114" dirty="0"/>
              <a:t> </a:t>
            </a:r>
            <a:r>
              <a:rPr spc="-10" dirty="0"/>
              <a:t>des</a:t>
            </a:r>
            <a:r>
              <a:rPr spc="-135" dirty="0"/>
              <a:t> </a:t>
            </a:r>
            <a:r>
              <a:rPr spc="-114" dirty="0" err="1"/>
              <a:t>utilisation</a:t>
            </a:r>
            <a:r>
              <a:rPr lang="fr-FR" spc="-114" dirty="0"/>
              <a:t>s</a:t>
            </a:r>
            <a:r>
              <a:rPr spc="-190" dirty="0"/>
              <a:t> </a:t>
            </a:r>
            <a:r>
              <a:rPr spc="-25" dirty="0"/>
              <a:t>des </a:t>
            </a:r>
            <a:r>
              <a:rPr spc="-10" dirty="0"/>
              <a:t>polices</a:t>
            </a:r>
            <a:r>
              <a:rPr spc="-175" dirty="0"/>
              <a:t> </a:t>
            </a:r>
            <a:r>
              <a:rPr spc="50" dirty="0"/>
              <a:t>monospace</a:t>
            </a:r>
            <a:r>
              <a:rPr spc="-160" dirty="0"/>
              <a:t> </a:t>
            </a:r>
            <a:r>
              <a:rPr spc="-120" dirty="0"/>
              <a:t>est</a:t>
            </a:r>
            <a:r>
              <a:rPr spc="-160" dirty="0"/>
              <a:t> </a:t>
            </a:r>
            <a:r>
              <a:rPr spc="-40" dirty="0"/>
              <a:t>le</a:t>
            </a:r>
            <a:r>
              <a:rPr spc="-170" dirty="0"/>
              <a:t> </a:t>
            </a:r>
            <a:r>
              <a:rPr spc="165" dirty="0"/>
              <a:t>code</a:t>
            </a:r>
            <a:r>
              <a:rPr spc="-150" dirty="0"/>
              <a:t> </a:t>
            </a:r>
            <a:r>
              <a:rPr spc="-10" dirty="0"/>
              <a:t>source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33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Polices</a:t>
            </a:r>
            <a:r>
              <a:rPr spc="-285" dirty="0"/>
              <a:t> </a:t>
            </a:r>
            <a:r>
              <a:rPr spc="200" dirty="0"/>
              <a:t>de</a:t>
            </a:r>
            <a:r>
              <a:rPr spc="-265" dirty="0"/>
              <a:t> </a:t>
            </a:r>
            <a:r>
              <a:rPr spc="80" dirty="0"/>
              <a:t>caractère</a:t>
            </a:r>
            <a:r>
              <a:rPr spc="-254" dirty="0"/>
              <a:t> </a:t>
            </a:r>
            <a:r>
              <a:rPr spc="-445" dirty="0"/>
              <a:t>-</a:t>
            </a:r>
            <a:r>
              <a:rPr spc="-270" dirty="0"/>
              <a:t> </a:t>
            </a:r>
            <a:r>
              <a:rPr spc="-35" dirty="0"/>
              <a:t>Typologie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463280" cy="161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8204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Verdana"/>
                <a:cs typeface="Verdana"/>
              </a:rPr>
              <a:t>courbée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25" dirty="0">
                <a:solidFill>
                  <a:srgbClr val="404040"/>
                </a:solidFill>
                <a:latin typeface="Verdana"/>
                <a:cs typeface="Verdana"/>
              </a:rPr>
              <a:t>(</a:t>
            </a:r>
            <a:r>
              <a:rPr sz="2400" b="1" i="1" spc="-225" dirty="0">
                <a:solidFill>
                  <a:srgbClr val="FF0000"/>
                </a:solidFill>
                <a:latin typeface="Verdana"/>
                <a:cs typeface="Verdana"/>
              </a:rPr>
              <a:t>cursive</a:t>
            </a:r>
            <a:r>
              <a:rPr sz="2400" spc="-225" dirty="0">
                <a:solidFill>
                  <a:srgbClr val="404040"/>
                </a:solidFill>
                <a:latin typeface="Verdana"/>
                <a:cs typeface="Verdana"/>
              </a:rPr>
              <a:t>)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404040"/>
                </a:solidFill>
                <a:latin typeface="Verdana"/>
                <a:cs typeface="Verdana"/>
              </a:rPr>
              <a:t>police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qui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ressemble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l’écriture</a:t>
            </a:r>
            <a:r>
              <a:rPr sz="2400" spc="-2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2400" dirty="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fantaisiste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29" dirty="0">
                <a:solidFill>
                  <a:srgbClr val="404040"/>
                </a:solidFill>
                <a:latin typeface="Verdana"/>
                <a:cs typeface="Verdana"/>
              </a:rPr>
              <a:t>(</a:t>
            </a:r>
            <a:r>
              <a:rPr sz="2400" b="1" i="1" spc="-229" dirty="0">
                <a:solidFill>
                  <a:srgbClr val="FF0000"/>
                </a:solidFill>
                <a:latin typeface="Verdana"/>
                <a:cs typeface="Verdana"/>
              </a:rPr>
              <a:t>fantasy</a:t>
            </a:r>
            <a:r>
              <a:rPr sz="2400" spc="-229" dirty="0">
                <a:solidFill>
                  <a:srgbClr val="404040"/>
                </a:solidFill>
                <a:latin typeface="Verdana"/>
                <a:cs typeface="Verdana"/>
              </a:rPr>
              <a:t>)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35" dirty="0">
                <a:solidFill>
                  <a:srgbClr val="404040"/>
                </a:solidFill>
                <a:latin typeface="Verdana"/>
                <a:cs typeface="Verdana"/>
              </a:rPr>
              <a:t>ayant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400" spc="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caractère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décoratif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34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952" y="646252"/>
            <a:ext cx="72015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" dirty="0">
                <a:solidFill>
                  <a:srgbClr val="252525"/>
                </a:solidFill>
                <a:latin typeface="Verdana"/>
                <a:cs typeface="Verdana"/>
              </a:rPr>
              <a:t>Polices</a:t>
            </a:r>
            <a:r>
              <a:rPr sz="3600" spc="-285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600" spc="200" dirty="0">
                <a:solidFill>
                  <a:srgbClr val="252525"/>
                </a:solidFill>
                <a:latin typeface="Verdana"/>
                <a:cs typeface="Verdana"/>
              </a:rPr>
              <a:t>de</a:t>
            </a:r>
            <a:r>
              <a:rPr sz="3600" spc="-265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600" spc="80" dirty="0">
                <a:solidFill>
                  <a:srgbClr val="252525"/>
                </a:solidFill>
                <a:latin typeface="Verdana"/>
                <a:cs typeface="Verdana"/>
              </a:rPr>
              <a:t>caractère</a:t>
            </a:r>
            <a:r>
              <a:rPr sz="3600" spc="-254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600" spc="-445" dirty="0">
                <a:solidFill>
                  <a:srgbClr val="252525"/>
                </a:solidFill>
                <a:latin typeface="Verdana"/>
                <a:cs typeface="Verdana"/>
              </a:rPr>
              <a:t>-</a:t>
            </a:r>
            <a:r>
              <a:rPr sz="3600" spc="-27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600" spc="-35" dirty="0">
                <a:solidFill>
                  <a:srgbClr val="252525"/>
                </a:solidFill>
                <a:latin typeface="Verdana"/>
                <a:cs typeface="Verdana"/>
              </a:rPr>
              <a:t>Typologie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8270" y="2812329"/>
            <a:ext cx="7743825" cy="1463862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sz="4400" spc="1275" dirty="0">
                <a:solidFill>
                  <a:srgbClr val="404040"/>
                </a:solidFill>
                <a:latin typeface="Arial MT"/>
                <a:cs typeface="Arial MT"/>
              </a:rPr>
              <a:t>Police</a:t>
            </a:r>
            <a:r>
              <a:rPr sz="44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404040"/>
                </a:solidFill>
                <a:latin typeface="Arial MT"/>
                <a:cs typeface="Arial MT"/>
              </a:rPr>
              <a:t>sans</a:t>
            </a:r>
            <a:r>
              <a:rPr sz="4400" spc="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404040"/>
                </a:solidFill>
                <a:latin typeface="Arial MT"/>
                <a:cs typeface="Arial MT"/>
              </a:rPr>
              <a:t>serif</a:t>
            </a:r>
            <a:r>
              <a:rPr sz="4400" spc="-2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4400" spc="-10" dirty="0">
                <a:solidFill>
                  <a:srgbClr val="404040"/>
                </a:solidFill>
                <a:latin typeface="Arial MT"/>
                <a:cs typeface="Arial MT"/>
              </a:rPr>
              <a:t>Ari</a:t>
            </a:r>
            <a:r>
              <a:rPr lang="fr-FR" sz="4400" spc="-10" dirty="0">
                <a:solidFill>
                  <a:srgbClr val="404040"/>
                </a:solidFill>
                <a:latin typeface="Arial MT"/>
                <a:cs typeface="Arial MT"/>
              </a:rPr>
              <a:t>al</a:t>
            </a:r>
            <a:endParaRPr sz="4000" dirty="0">
              <a:latin typeface="Consolas"/>
              <a:cs typeface="Consolas"/>
            </a:endParaRPr>
          </a:p>
          <a:p>
            <a:pPr marL="584200" indent="-571500">
              <a:lnSpc>
                <a:spcPct val="100000"/>
              </a:lnSpc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sz="4400" i="1" spc="1100" dirty="0">
                <a:solidFill>
                  <a:srgbClr val="404040"/>
                </a:solidFill>
                <a:latin typeface="Calibri"/>
                <a:cs typeface="Calibri"/>
              </a:rPr>
              <a:t>Police</a:t>
            </a:r>
            <a:r>
              <a:rPr sz="4400" i="1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400" i="1" spc="-254" dirty="0">
                <a:solidFill>
                  <a:srgbClr val="404040"/>
                </a:solidFill>
                <a:latin typeface="Calibri"/>
                <a:cs typeface="Calibri"/>
              </a:rPr>
              <a:t>cursive</a:t>
            </a:r>
            <a:r>
              <a:rPr sz="4400" i="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400" i="1" spc="-325" dirty="0">
                <a:solidFill>
                  <a:srgbClr val="404040"/>
                </a:solidFill>
                <a:latin typeface="Calibri"/>
                <a:cs typeface="Calibri"/>
              </a:rPr>
              <a:t>Monotype</a:t>
            </a:r>
            <a:r>
              <a:rPr sz="4400" i="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400" i="1" spc="-635" dirty="0">
                <a:solidFill>
                  <a:srgbClr val="404040"/>
                </a:solidFill>
                <a:latin typeface="Calibri"/>
                <a:cs typeface="Calibri"/>
              </a:rPr>
              <a:t>Corsiva</a:t>
            </a:r>
            <a:endParaRPr lang="fr-FR" sz="4400" i="1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35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9299"/>
            <a:ext cx="767397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40" dirty="0"/>
              <a:t>Utilisation</a:t>
            </a:r>
            <a:r>
              <a:rPr sz="2800" spc="-204" dirty="0"/>
              <a:t> </a:t>
            </a:r>
            <a:r>
              <a:rPr sz="2800" spc="-40" dirty="0"/>
              <a:t>des</a:t>
            </a:r>
            <a:r>
              <a:rPr sz="2800" spc="-180" dirty="0"/>
              <a:t> </a:t>
            </a:r>
            <a:r>
              <a:rPr sz="2800" spc="-10" dirty="0"/>
              <a:t>polices</a:t>
            </a:r>
            <a:r>
              <a:rPr sz="2800" spc="-185" dirty="0"/>
              <a:t> </a:t>
            </a:r>
            <a:r>
              <a:rPr sz="2800" spc="150" dirty="0"/>
              <a:t>de</a:t>
            </a:r>
            <a:r>
              <a:rPr sz="2800" spc="-185" dirty="0"/>
              <a:t> </a:t>
            </a:r>
            <a:r>
              <a:rPr sz="2800" dirty="0"/>
              <a:t>caractères</a:t>
            </a:r>
            <a:r>
              <a:rPr sz="2800" spc="-150" dirty="0"/>
              <a:t> </a:t>
            </a:r>
            <a:r>
              <a:rPr sz="2800" spc="-20" dirty="0"/>
              <a:t>dans</a:t>
            </a:r>
            <a:r>
              <a:rPr sz="2800" spc="-195" dirty="0"/>
              <a:t> </a:t>
            </a:r>
            <a:r>
              <a:rPr sz="2800" spc="-25" dirty="0"/>
              <a:t>les </a:t>
            </a:r>
            <a:r>
              <a:rPr sz="2800" dirty="0"/>
              <a:t>pages</a:t>
            </a:r>
            <a:r>
              <a:rPr sz="2800" spc="30" dirty="0"/>
              <a:t> </a:t>
            </a:r>
            <a:r>
              <a:rPr sz="2800" spc="80" dirty="0"/>
              <a:t>web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668270" y="2124583"/>
            <a:ext cx="8656320" cy="342619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385"/>
              </a:spcBef>
            </a:pPr>
            <a:r>
              <a:rPr sz="2400" spc="-60" dirty="0" err="1">
                <a:solidFill>
                  <a:srgbClr val="404040"/>
                </a:solidFill>
                <a:latin typeface="Verdana"/>
                <a:cs typeface="Verdana"/>
              </a:rPr>
              <a:t>Lorsqu’une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Verdana"/>
                <a:cs typeface="Verdana"/>
              </a:rPr>
              <a:t>page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90" dirty="0">
                <a:solidFill>
                  <a:srgbClr val="404040"/>
                </a:solidFill>
                <a:latin typeface="Verdana"/>
                <a:cs typeface="Verdana"/>
              </a:rPr>
              <a:t>web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utilise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texte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écrit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avec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une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donnée,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il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faut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Verdana"/>
                <a:cs typeface="Verdana"/>
              </a:rPr>
              <a:t>que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cette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soit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installé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dans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Verdana"/>
                <a:cs typeface="Verdana"/>
              </a:rPr>
              <a:t>PC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du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navigateur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pour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qu’elle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soit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correctement affichée</a:t>
            </a:r>
            <a:endParaRPr sz="2400" dirty="0">
              <a:latin typeface="Verdana"/>
              <a:cs typeface="Verdana"/>
            </a:endParaRPr>
          </a:p>
          <a:p>
            <a:pPr marL="355600" marR="462915" indent="-342900" algn="just">
              <a:lnSpc>
                <a:spcPct val="90100"/>
              </a:lnSpc>
              <a:spcBef>
                <a:spcPts val="994"/>
              </a:spcBef>
            </a:pPr>
            <a:r>
              <a:rPr sz="2400" spc="-35" dirty="0" err="1">
                <a:solidFill>
                  <a:srgbClr val="404040"/>
                </a:solidFill>
                <a:latin typeface="Verdana"/>
                <a:cs typeface="Verdana"/>
              </a:rPr>
              <a:t>Certaines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Verdana"/>
                <a:cs typeface="Verdana"/>
              </a:rPr>
              <a:t>polices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standard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installés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35" dirty="0">
                <a:solidFill>
                  <a:srgbClr val="404040"/>
                </a:solidFill>
                <a:latin typeface="Verdana"/>
                <a:cs typeface="Verdana"/>
              </a:rPr>
              <a:t>sur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lang="fr-FR" sz="2400" spc="-180" dirty="0">
                <a:solidFill>
                  <a:srgbClr val="404040"/>
                </a:solidFill>
                <a:latin typeface="Verdana"/>
                <a:cs typeface="Verdana"/>
              </a:rPr>
              <a:t> plupart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404040"/>
                </a:solidFill>
                <a:latin typeface="Verdana"/>
                <a:cs typeface="Verdana"/>
              </a:rPr>
              <a:t>ordinateurs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/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tablettes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(times,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Verdana"/>
                <a:cs typeface="Verdana"/>
              </a:rPr>
              <a:t>georgia,</a:t>
            </a:r>
            <a:r>
              <a:rPr sz="2400" spc="-2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times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404040"/>
                </a:solidFill>
                <a:latin typeface="Verdana"/>
                <a:cs typeface="Verdana"/>
              </a:rPr>
              <a:t>new</a:t>
            </a:r>
            <a:r>
              <a:rPr sz="24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404040"/>
                </a:solidFill>
                <a:latin typeface="Verdana"/>
                <a:cs typeface="Verdana"/>
              </a:rPr>
              <a:t>roman,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arial,</a:t>
            </a:r>
            <a:r>
              <a:rPr sz="2400" spc="-2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verdana,</a:t>
            </a:r>
            <a:r>
              <a:rPr sz="2400" spc="-2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Verdana"/>
                <a:cs typeface="Verdana"/>
              </a:rPr>
              <a:t>helvetica,…)</a:t>
            </a:r>
            <a:endParaRPr sz="2400" dirty="0">
              <a:latin typeface="Verdana"/>
              <a:cs typeface="Verdana"/>
            </a:endParaRPr>
          </a:p>
          <a:p>
            <a:pPr marL="355600" marR="241935" indent="-342900" algn="just">
              <a:lnSpc>
                <a:spcPts val="2590"/>
              </a:lnSpc>
              <a:spcBef>
                <a:spcPts val="1035"/>
              </a:spcBef>
            </a:pPr>
            <a:r>
              <a:rPr sz="2400" spc="-21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navigateurs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doivent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supporter</a:t>
            </a:r>
            <a:r>
              <a:rPr sz="2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lang="fr-FR" sz="2400" spc="55" dirty="0">
                <a:solidFill>
                  <a:srgbClr val="404040"/>
                </a:solidFill>
                <a:latin typeface="Verdana"/>
                <a:cs typeface="Verdana"/>
              </a:rPr>
              <a:t>u moins une police </a:t>
            </a:r>
            <a:r>
              <a:rPr sz="2400" spc="-10" dirty="0" err="1">
                <a:solidFill>
                  <a:srgbClr val="404040"/>
                </a:solidFill>
                <a:latin typeface="Verdana"/>
                <a:cs typeface="Verdana"/>
              </a:rPr>
              <a:t>générique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groupe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(serif,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sans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serif,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75" dirty="0">
                <a:solidFill>
                  <a:srgbClr val="404040"/>
                </a:solidFill>
                <a:latin typeface="Verdana"/>
                <a:cs typeface="Verdana"/>
              </a:rPr>
              <a:t>…)</a:t>
            </a:r>
            <a:endParaRPr sz="2400" dirty="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685"/>
              </a:spcBef>
            </a:pPr>
            <a:r>
              <a:rPr sz="2400" spc="-215" dirty="0">
                <a:solidFill>
                  <a:srgbClr val="404040"/>
                </a:solidFill>
                <a:latin typeface="Verdana"/>
                <a:cs typeface="Verdana"/>
              </a:rPr>
              <a:t>CSS3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offre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moyen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contourner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50" dirty="0" err="1">
                <a:solidFill>
                  <a:srgbClr val="404040"/>
                </a:solidFill>
                <a:latin typeface="Verdana"/>
                <a:cs typeface="Verdana"/>
              </a:rPr>
              <a:t>cette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limitation</a:t>
            </a:r>
            <a:r>
              <a:rPr lang="fr-FR" sz="2400" spc="-20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36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7766684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</a:t>
            </a:r>
            <a:r>
              <a:rPr spc="-170" dirty="0"/>
              <a:t> </a:t>
            </a:r>
            <a:r>
              <a:rPr spc="95" dirty="0"/>
              <a:t>d’une</a:t>
            </a:r>
            <a:r>
              <a:rPr spc="-170" dirty="0"/>
              <a:t> </a:t>
            </a:r>
            <a:r>
              <a:rPr spc="65" dirty="0"/>
              <a:t>police</a:t>
            </a:r>
            <a:r>
              <a:rPr spc="-165" dirty="0"/>
              <a:t> </a:t>
            </a:r>
            <a:r>
              <a:rPr spc="-20" dirty="0"/>
              <a:t>dans</a:t>
            </a:r>
            <a:r>
              <a:rPr spc="-165" dirty="0"/>
              <a:t> </a:t>
            </a:r>
            <a:r>
              <a:rPr spc="-25" dirty="0"/>
              <a:t>une </a:t>
            </a:r>
            <a:r>
              <a:rPr spc="195" dirty="0"/>
              <a:t>page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680450" cy="198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fr-FR" sz="2400" spc="-35" dirty="0">
                <a:solidFill>
                  <a:srgbClr val="EFA12D"/>
                </a:solidFill>
                <a:latin typeface="Microsoft Sans Serif"/>
                <a:cs typeface="Microsoft Sans Serif"/>
              </a:rPr>
              <a:t>- </a:t>
            </a:r>
            <a:r>
              <a:rPr sz="2400" spc="-35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265" dirty="0">
                <a:solidFill>
                  <a:srgbClr val="FF0000"/>
                </a:solidFill>
                <a:latin typeface="Verdana"/>
                <a:cs typeface="Verdana"/>
              </a:rPr>
              <a:t>font-</a:t>
            </a:r>
            <a:r>
              <a:rPr sz="2400" b="1" i="1" spc="-235" dirty="0">
                <a:solidFill>
                  <a:srgbClr val="FF0000"/>
                </a:solidFill>
                <a:latin typeface="Verdana"/>
                <a:cs typeface="Verdana"/>
              </a:rPr>
              <a:t>family</a:t>
            </a:r>
            <a:r>
              <a:rPr sz="24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spécifie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65" dirty="0">
                <a:solidFill>
                  <a:srgbClr val="404040"/>
                </a:solidFill>
                <a:latin typeface="Verdana"/>
                <a:cs typeface="Verdana"/>
              </a:rPr>
              <a:t>caractères.</a:t>
            </a:r>
            <a:endParaRPr sz="2400" dirty="0">
              <a:latin typeface="Verdana"/>
              <a:cs typeface="Verdana"/>
            </a:endParaRPr>
          </a:p>
          <a:p>
            <a:pPr marR="76835" algn="ctr">
              <a:lnSpc>
                <a:spcPct val="100000"/>
              </a:lnSpc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doit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404040"/>
                </a:solidFill>
                <a:latin typeface="Verdana"/>
                <a:cs typeface="Verdana"/>
              </a:rPr>
              <a:t>installée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40" dirty="0">
                <a:solidFill>
                  <a:srgbClr val="404040"/>
                </a:solidFill>
                <a:latin typeface="Verdana"/>
                <a:cs typeface="Verdana"/>
              </a:rPr>
              <a:t>sur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poste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du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navigateur</a:t>
            </a:r>
            <a:endParaRPr sz="2400" dirty="0">
              <a:latin typeface="Verdana"/>
              <a:cs typeface="Verdana"/>
            </a:endParaRPr>
          </a:p>
          <a:p>
            <a:pPr marL="355600" marR="175895" indent="-342900">
              <a:lnSpc>
                <a:spcPct val="100000"/>
              </a:lnSpc>
              <a:spcBef>
                <a:spcPts val="994"/>
              </a:spcBef>
            </a:pPr>
            <a:r>
              <a:rPr lang="fr-FR" sz="2400" spc="-220" dirty="0">
                <a:solidFill>
                  <a:srgbClr val="404040"/>
                </a:solidFill>
                <a:latin typeface="Verdana"/>
                <a:cs typeface="Verdana"/>
              </a:rPr>
              <a:t>    - 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CSS3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introduit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règle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265" dirty="0">
                <a:solidFill>
                  <a:srgbClr val="FF0000"/>
                </a:solidFill>
                <a:latin typeface="Verdana"/>
                <a:cs typeface="Verdana"/>
              </a:rPr>
              <a:t>font-</a:t>
            </a:r>
            <a:r>
              <a:rPr sz="2400" b="1" i="1" spc="-95" dirty="0">
                <a:solidFill>
                  <a:srgbClr val="FF0000"/>
                </a:solidFill>
                <a:latin typeface="Verdana"/>
                <a:cs typeface="Verdana"/>
              </a:rPr>
              <a:t>face</a:t>
            </a:r>
            <a:r>
              <a:rPr sz="2400" b="1" i="1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qui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permet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Verdana"/>
                <a:cs typeface="Verdana"/>
              </a:rPr>
              <a:t>de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télécharger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65" dirty="0">
                <a:solidFill>
                  <a:srgbClr val="404040"/>
                </a:solidFill>
                <a:latin typeface="Verdana"/>
                <a:cs typeface="Verdana"/>
              </a:rPr>
              <a:t>si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celle-</a:t>
            </a:r>
            <a:r>
              <a:rPr sz="2400" spc="50" dirty="0">
                <a:solidFill>
                  <a:srgbClr val="404040"/>
                </a:solidFill>
                <a:latin typeface="Verdana"/>
                <a:cs typeface="Verdana"/>
              </a:rPr>
              <a:t>ci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n’est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pas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installé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40" dirty="0">
                <a:solidFill>
                  <a:srgbClr val="404040"/>
                </a:solidFill>
                <a:latin typeface="Verdana"/>
                <a:cs typeface="Verdana"/>
              </a:rPr>
              <a:t>sur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le poste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du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navigateur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37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Font-</a:t>
            </a:r>
            <a:r>
              <a:rPr spc="-140" dirty="0"/>
              <a:t>Family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035098"/>
            <a:ext cx="8704580" cy="174535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090"/>
              </a:spcBef>
              <a:buFont typeface="Arial" panose="020B0604020202020204" pitchFamily="34" charset="0"/>
              <a:buChar char="•"/>
            </a:pPr>
            <a:r>
              <a:rPr sz="2400" spc="-35" dirty="0" err="1">
                <a:solidFill>
                  <a:srgbClr val="404040"/>
                </a:solidFill>
                <a:latin typeface="Verdana"/>
                <a:cs typeface="Verdana"/>
              </a:rPr>
              <a:t>Spécifie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caractères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utiliser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dans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lang="fr-FR" sz="2400" spc="-125" dirty="0">
                <a:solidFill>
                  <a:srgbClr val="404040"/>
                </a:solidFill>
                <a:latin typeface="Verdana"/>
                <a:cs typeface="Verdana"/>
              </a:rPr>
              <a:t> page</a:t>
            </a:r>
            <a:endParaRPr sz="2400" dirty="0">
              <a:latin typeface="Verdana"/>
              <a:cs typeface="Verdana"/>
            </a:endParaRPr>
          </a:p>
          <a:p>
            <a:pPr marL="355600" marR="411480" indent="-342900" algn="just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65" dirty="0" err="1">
                <a:solidFill>
                  <a:srgbClr val="404040"/>
                </a:solidFill>
                <a:latin typeface="Verdana"/>
                <a:cs typeface="Verdana"/>
              </a:rPr>
              <a:t>Permet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spécifier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plusieurs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polices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séparées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par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2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virgules.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30" dirty="0">
                <a:solidFill>
                  <a:srgbClr val="404040"/>
                </a:solidFill>
                <a:latin typeface="Verdana"/>
                <a:cs typeface="Verdana"/>
              </a:rPr>
              <a:t>Si</a:t>
            </a:r>
            <a:r>
              <a:rPr sz="2400" spc="4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n’existe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pas,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 elle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 est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remplacée</a:t>
            </a:r>
            <a:r>
              <a:rPr sz="2400" spc="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 err="1">
                <a:solidFill>
                  <a:srgbClr val="404040"/>
                </a:solidFill>
                <a:latin typeface="Verdana"/>
                <a:cs typeface="Verdana"/>
              </a:rPr>
              <a:t>suivante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38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Font-</a:t>
            </a:r>
            <a:r>
              <a:rPr spc="-130" dirty="0"/>
              <a:t>family</a:t>
            </a:r>
            <a:r>
              <a:rPr spc="-170" dirty="0"/>
              <a:t> </a:t>
            </a:r>
            <a:r>
              <a:rPr spc="-135" dirty="0"/>
              <a:t>Syntaxe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9276" y="2133600"/>
            <a:ext cx="8915400" cy="377825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0">
              <a:lnSpc>
                <a:spcPts val="1745"/>
              </a:lnSpc>
            </a:pPr>
            <a:r>
              <a:rPr sz="1500" dirty="0">
                <a:solidFill>
                  <a:srgbClr val="800000"/>
                </a:solidFill>
                <a:latin typeface="Consolas"/>
                <a:cs typeface="Consolas"/>
              </a:rPr>
              <a:t>ul</a:t>
            </a:r>
            <a:r>
              <a:rPr sz="1500" spc="-1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500" spc="-20" dirty="0">
                <a:solidFill>
                  <a:srgbClr val="800000"/>
                </a:solidFill>
                <a:latin typeface="Consolas"/>
                <a:cs typeface="Consolas"/>
              </a:rPr>
              <a:t>li:nth-</a:t>
            </a:r>
            <a:r>
              <a:rPr sz="1500" dirty="0">
                <a:solidFill>
                  <a:srgbClr val="800000"/>
                </a:solidFill>
                <a:latin typeface="Consolas"/>
                <a:cs typeface="Consolas"/>
              </a:rPr>
              <a:t>child(1)</a:t>
            </a:r>
            <a:r>
              <a:rPr sz="1500" spc="-2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{</a:t>
            </a:r>
            <a:endParaRPr sz="1500" dirty="0">
              <a:latin typeface="Consolas"/>
              <a:cs typeface="Consolas"/>
            </a:endParaRPr>
          </a:p>
          <a:p>
            <a:pPr marL="1768475">
              <a:lnSpc>
                <a:spcPct val="100000"/>
              </a:lnSpc>
              <a:spcBef>
                <a:spcPts val="635"/>
              </a:spcBef>
            </a:pPr>
            <a:r>
              <a:rPr sz="1500" spc="-2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1500" dirty="0">
                <a:solidFill>
                  <a:srgbClr val="FF0000"/>
                </a:solidFill>
                <a:latin typeface="Consolas"/>
                <a:cs typeface="Consolas"/>
              </a:rPr>
              <a:t>family</a:t>
            </a:r>
            <a:r>
              <a:rPr sz="1500" dirty="0">
                <a:latin typeface="Consolas"/>
                <a:cs typeface="Consolas"/>
              </a:rPr>
              <a:t>:</a:t>
            </a:r>
            <a:r>
              <a:rPr sz="1500" spc="-35" dirty="0"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0000FF"/>
                </a:solidFill>
                <a:latin typeface="Consolas"/>
                <a:cs typeface="Consolas"/>
              </a:rPr>
              <a:t>Verdana</a:t>
            </a:r>
            <a:r>
              <a:rPr sz="1500" spc="-10" dirty="0">
                <a:latin typeface="Consolas"/>
                <a:cs typeface="Consolas"/>
              </a:rPr>
              <a:t>;</a:t>
            </a:r>
            <a:endParaRPr sz="1500" dirty="0">
              <a:latin typeface="Consolas"/>
              <a:cs typeface="Consolas"/>
            </a:endParaRPr>
          </a:p>
          <a:p>
            <a:pPr marL="1350645">
              <a:lnSpc>
                <a:spcPct val="100000"/>
              </a:lnSpc>
              <a:spcBef>
                <a:spcPts val="645"/>
              </a:spcBef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500" dirty="0">
              <a:latin typeface="Consolas"/>
              <a:cs typeface="Consolas"/>
            </a:endParaRPr>
          </a:p>
          <a:p>
            <a:pPr marL="1350645">
              <a:lnSpc>
                <a:spcPct val="100000"/>
              </a:lnSpc>
            </a:pPr>
            <a:r>
              <a:rPr sz="1500" dirty="0">
                <a:solidFill>
                  <a:srgbClr val="800000"/>
                </a:solidFill>
                <a:latin typeface="Consolas"/>
                <a:cs typeface="Consolas"/>
              </a:rPr>
              <a:t>ul</a:t>
            </a:r>
            <a:r>
              <a:rPr sz="1500" spc="-6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800000"/>
                </a:solidFill>
                <a:latin typeface="Consolas"/>
                <a:cs typeface="Consolas"/>
              </a:rPr>
              <a:t>li:nth-</a:t>
            </a:r>
            <a:r>
              <a:rPr sz="1500" dirty="0">
                <a:solidFill>
                  <a:srgbClr val="800000"/>
                </a:solidFill>
                <a:latin typeface="Consolas"/>
                <a:cs typeface="Consolas"/>
              </a:rPr>
              <a:t>child(2)</a:t>
            </a:r>
            <a:r>
              <a:rPr sz="1500" spc="-5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{</a:t>
            </a:r>
            <a:endParaRPr sz="1500" dirty="0">
              <a:latin typeface="Consolas"/>
              <a:cs typeface="Consolas"/>
            </a:endParaRPr>
          </a:p>
          <a:p>
            <a:pPr marL="1768475">
              <a:lnSpc>
                <a:spcPct val="100000"/>
              </a:lnSpc>
              <a:spcBef>
                <a:spcPts val="650"/>
              </a:spcBef>
            </a:pPr>
            <a:r>
              <a:rPr sz="1500" spc="-2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1500" dirty="0">
                <a:solidFill>
                  <a:srgbClr val="FF0000"/>
                </a:solidFill>
                <a:latin typeface="Consolas"/>
                <a:cs typeface="Consolas"/>
              </a:rPr>
              <a:t>family</a:t>
            </a:r>
            <a:r>
              <a:rPr sz="1500" dirty="0">
                <a:latin typeface="Consolas"/>
                <a:cs typeface="Consolas"/>
              </a:rPr>
              <a:t>:</a:t>
            </a:r>
            <a:r>
              <a:rPr sz="1500" spc="-65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00FF"/>
                </a:solidFill>
                <a:latin typeface="Consolas"/>
                <a:cs typeface="Consolas"/>
              </a:rPr>
              <a:t>Tahoma</a:t>
            </a:r>
            <a:r>
              <a:rPr sz="1500" dirty="0">
                <a:latin typeface="Consolas"/>
                <a:cs typeface="Consolas"/>
              </a:rPr>
              <a:t>,</a:t>
            </a:r>
            <a:r>
              <a:rPr sz="1500" spc="-60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00FF"/>
                </a:solidFill>
                <a:latin typeface="Consolas"/>
                <a:cs typeface="Consolas"/>
              </a:rPr>
              <a:t>Geneva</a:t>
            </a:r>
            <a:r>
              <a:rPr sz="1500" dirty="0">
                <a:latin typeface="Consolas"/>
                <a:cs typeface="Consolas"/>
              </a:rPr>
              <a:t>,</a:t>
            </a:r>
            <a:r>
              <a:rPr sz="1500" spc="-45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00FF"/>
                </a:solidFill>
                <a:latin typeface="Consolas"/>
                <a:cs typeface="Consolas"/>
              </a:rPr>
              <a:t>Verdana</a:t>
            </a:r>
            <a:r>
              <a:rPr sz="1500" dirty="0">
                <a:latin typeface="Consolas"/>
                <a:cs typeface="Consolas"/>
              </a:rPr>
              <a:t>,</a:t>
            </a:r>
            <a:r>
              <a:rPr sz="1500" spc="-50" dirty="0">
                <a:latin typeface="Consolas"/>
                <a:cs typeface="Consolas"/>
              </a:rPr>
              <a:t> </a:t>
            </a:r>
            <a:r>
              <a:rPr sz="1500" spc="-20" dirty="0">
                <a:solidFill>
                  <a:srgbClr val="0000FF"/>
                </a:solidFill>
                <a:latin typeface="Consolas"/>
                <a:cs typeface="Consolas"/>
              </a:rPr>
              <a:t>sans-</a:t>
            </a:r>
            <a:r>
              <a:rPr sz="1500" spc="-10" dirty="0">
                <a:solidFill>
                  <a:srgbClr val="0000FF"/>
                </a:solidFill>
                <a:latin typeface="Consolas"/>
                <a:cs typeface="Consolas"/>
              </a:rPr>
              <a:t>serif</a:t>
            </a:r>
            <a:r>
              <a:rPr sz="1500" spc="-10" dirty="0">
                <a:latin typeface="Consolas"/>
                <a:cs typeface="Consolas"/>
              </a:rPr>
              <a:t>;</a:t>
            </a:r>
            <a:endParaRPr sz="1500" dirty="0">
              <a:latin typeface="Consolas"/>
              <a:cs typeface="Consolas"/>
            </a:endParaRPr>
          </a:p>
          <a:p>
            <a:pPr marL="1350645">
              <a:lnSpc>
                <a:spcPct val="100000"/>
              </a:lnSpc>
              <a:spcBef>
                <a:spcPts val="635"/>
              </a:spcBef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500" dirty="0">
              <a:latin typeface="Consolas"/>
              <a:cs typeface="Consolas"/>
            </a:endParaRPr>
          </a:p>
          <a:p>
            <a:pPr marL="1350645">
              <a:lnSpc>
                <a:spcPct val="100000"/>
              </a:lnSpc>
            </a:pPr>
            <a:r>
              <a:rPr sz="1500" dirty="0">
                <a:solidFill>
                  <a:srgbClr val="800000"/>
                </a:solidFill>
                <a:latin typeface="Consolas"/>
                <a:cs typeface="Consolas"/>
              </a:rPr>
              <a:t>ul</a:t>
            </a:r>
            <a:r>
              <a:rPr sz="1500" spc="-6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800000"/>
                </a:solidFill>
                <a:latin typeface="Consolas"/>
                <a:cs typeface="Consolas"/>
              </a:rPr>
              <a:t>li:nth-</a:t>
            </a:r>
            <a:r>
              <a:rPr sz="1500" dirty="0">
                <a:solidFill>
                  <a:srgbClr val="800000"/>
                </a:solidFill>
                <a:latin typeface="Consolas"/>
                <a:cs typeface="Consolas"/>
              </a:rPr>
              <a:t>child(3)</a:t>
            </a:r>
            <a:r>
              <a:rPr sz="1500" spc="-5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{</a:t>
            </a:r>
            <a:endParaRPr sz="1500" dirty="0">
              <a:latin typeface="Consolas"/>
              <a:cs typeface="Consolas"/>
            </a:endParaRPr>
          </a:p>
          <a:p>
            <a:pPr marL="1768475">
              <a:lnSpc>
                <a:spcPts val="1620"/>
              </a:lnSpc>
              <a:spcBef>
                <a:spcPts val="635"/>
              </a:spcBef>
            </a:pPr>
            <a:r>
              <a:rPr sz="1500" spc="-2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1500" dirty="0">
                <a:solidFill>
                  <a:srgbClr val="FF0000"/>
                </a:solidFill>
                <a:latin typeface="Consolas"/>
                <a:cs typeface="Consolas"/>
              </a:rPr>
              <a:t>family</a:t>
            </a:r>
            <a:r>
              <a:rPr sz="1500" dirty="0">
                <a:latin typeface="Consolas"/>
                <a:cs typeface="Consolas"/>
              </a:rPr>
              <a:t>:</a:t>
            </a:r>
            <a:r>
              <a:rPr sz="1500" spc="-70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00FF"/>
                </a:solidFill>
                <a:latin typeface="Consolas"/>
                <a:cs typeface="Consolas"/>
              </a:rPr>
              <a:t>Cambria</a:t>
            </a:r>
            <a:r>
              <a:rPr sz="1500" dirty="0">
                <a:latin typeface="Consolas"/>
                <a:cs typeface="Consolas"/>
              </a:rPr>
              <a:t>,</a:t>
            </a:r>
            <a:r>
              <a:rPr sz="1500" spc="-65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00FF"/>
                </a:solidFill>
                <a:latin typeface="Consolas"/>
                <a:cs typeface="Consolas"/>
              </a:rPr>
              <a:t>Cochin</a:t>
            </a:r>
            <a:r>
              <a:rPr sz="1500" dirty="0">
                <a:latin typeface="Consolas"/>
                <a:cs typeface="Consolas"/>
              </a:rPr>
              <a:t>,</a:t>
            </a:r>
            <a:r>
              <a:rPr sz="1500" spc="-55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00FF"/>
                </a:solidFill>
                <a:latin typeface="Consolas"/>
                <a:cs typeface="Consolas"/>
              </a:rPr>
              <a:t>Georgia</a:t>
            </a:r>
            <a:r>
              <a:rPr sz="1500" dirty="0">
                <a:latin typeface="Consolas"/>
                <a:cs typeface="Consolas"/>
              </a:rPr>
              <a:t>,</a:t>
            </a:r>
            <a:r>
              <a:rPr sz="1500" spc="-60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00FF"/>
                </a:solidFill>
                <a:latin typeface="Consolas"/>
                <a:cs typeface="Consolas"/>
              </a:rPr>
              <a:t>Times</a:t>
            </a:r>
            <a:r>
              <a:rPr sz="1500" dirty="0">
                <a:latin typeface="Consolas"/>
                <a:cs typeface="Consolas"/>
              </a:rPr>
              <a:t>,</a:t>
            </a:r>
            <a:r>
              <a:rPr sz="1500" spc="-65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00FF"/>
                </a:solidFill>
                <a:latin typeface="Consolas"/>
                <a:cs typeface="Consolas"/>
              </a:rPr>
              <a:t>'Times</a:t>
            </a:r>
            <a:r>
              <a:rPr sz="150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5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0000FF"/>
                </a:solidFill>
                <a:latin typeface="Consolas"/>
                <a:cs typeface="Consolas"/>
              </a:rPr>
              <a:t>Roman'</a:t>
            </a:r>
            <a:r>
              <a:rPr sz="1500" spc="-10" dirty="0">
                <a:latin typeface="Consolas"/>
                <a:cs typeface="Consolas"/>
              </a:rPr>
              <a:t>,</a:t>
            </a:r>
            <a:endParaRPr sz="1500" dirty="0">
              <a:latin typeface="Consolas"/>
              <a:cs typeface="Consolas"/>
            </a:endParaRPr>
          </a:p>
          <a:p>
            <a:pPr marL="91440">
              <a:lnSpc>
                <a:spcPts val="1620"/>
              </a:lnSpc>
            </a:pPr>
            <a:r>
              <a:rPr sz="1500" spc="-10" dirty="0">
                <a:solidFill>
                  <a:srgbClr val="0000FF"/>
                </a:solidFill>
                <a:latin typeface="Consolas"/>
                <a:cs typeface="Consolas"/>
              </a:rPr>
              <a:t>serif</a:t>
            </a:r>
            <a:r>
              <a:rPr sz="1500" spc="-10" dirty="0">
                <a:latin typeface="Consolas"/>
                <a:cs typeface="Consolas"/>
              </a:rPr>
              <a:t>;</a:t>
            </a:r>
            <a:endParaRPr sz="1500" dirty="0">
              <a:latin typeface="Consolas"/>
              <a:cs typeface="Consolas"/>
            </a:endParaRPr>
          </a:p>
          <a:p>
            <a:pPr marL="1350645">
              <a:lnSpc>
                <a:spcPct val="100000"/>
              </a:lnSpc>
              <a:spcBef>
                <a:spcPts val="635"/>
              </a:spcBef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39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3759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Font-</a:t>
            </a:r>
            <a:r>
              <a:rPr spc="-254" dirty="0"/>
              <a:t>size</a:t>
            </a:r>
            <a:r>
              <a:rPr spc="-180" dirty="0"/>
              <a:t> </a:t>
            </a:r>
            <a:r>
              <a:rPr spc="-130" dirty="0"/>
              <a:t>Syntaxe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9276" y="1382267"/>
            <a:ext cx="8915400" cy="467106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270"/>
              </a:spcBef>
            </a:pPr>
            <a:r>
              <a:rPr sz="1600" dirty="0">
                <a:solidFill>
                  <a:srgbClr val="800000"/>
                </a:solidFill>
                <a:latin typeface="Consolas"/>
                <a:cs typeface="Consolas"/>
              </a:rPr>
              <a:t>ul</a:t>
            </a:r>
            <a:r>
              <a:rPr sz="1600" spc="-10" dirty="0">
                <a:solidFill>
                  <a:srgbClr val="800000"/>
                </a:solidFill>
                <a:latin typeface="Consolas"/>
                <a:cs typeface="Consolas"/>
              </a:rPr>
              <a:t> li:nth-</a:t>
            </a:r>
            <a:r>
              <a:rPr sz="1600" dirty="0">
                <a:solidFill>
                  <a:srgbClr val="800000"/>
                </a:solidFill>
                <a:latin typeface="Consolas"/>
                <a:cs typeface="Consolas"/>
              </a:rPr>
              <a:t>child(2)</a:t>
            </a:r>
            <a:r>
              <a:rPr sz="1600" spc="-1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1426845">
              <a:lnSpc>
                <a:spcPct val="100000"/>
              </a:lnSpc>
              <a:spcBef>
                <a:spcPts val="994"/>
              </a:spcBef>
            </a:pP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size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14px</a:t>
            </a:r>
            <a:r>
              <a:rPr sz="1600" spc="-20" dirty="0">
                <a:latin typeface="Consolas"/>
                <a:cs typeface="Consolas"/>
              </a:rPr>
              <a:t>;</a:t>
            </a:r>
            <a:endParaRPr sz="1600" dirty="0">
              <a:latin typeface="Consolas"/>
              <a:cs typeface="Consolas"/>
            </a:endParaRPr>
          </a:p>
          <a:p>
            <a:pPr marL="981710">
              <a:lnSpc>
                <a:spcPct val="100000"/>
              </a:lnSpc>
              <a:spcBef>
                <a:spcPts val="994"/>
              </a:spcBef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1426845" marR="5701665" indent="-445770">
              <a:lnSpc>
                <a:spcPct val="151900"/>
              </a:lnSpc>
              <a:spcBef>
                <a:spcPts val="15"/>
              </a:spcBef>
            </a:pPr>
            <a:r>
              <a:rPr sz="1600" dirty="0">
                <a:solidFill>
                  <a:srgbClr val="800000"/>
                </a:solidFill>
                <a:latin typeface="Consolas"/>
                <a:cs typeface="Consolas"/>
              </a:rPr>
              <a:t>ul</a:t>
            </a:r>
            <a:r>
              <a:rPr sz="1600" spc="-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Consolas"/>
                <a:cs typeface="Consolas"/>
              </a:rPr>
              <a:t>li:nth-</a:t>
            </a:r>
            <a:r>
              <a:rPr sz="1600" dirty="0">
                <a:solidFill>
                  <a:srgbClr val="800000"/>
                </a:solidFill>
                <a:latin typeface="Consolas"/>
                <a:cs typeface="Consolas"/>
              </a:rPr>
              <a:t>child(3)</a:t>
            </a:r>
            <a:r>
              <a:rPr sz="1600" spc="-1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 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size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14pt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 dirty="0">
              <a:latin typeface="Consolas"/>
              <a:cs typeface="Consolas"/>
            </a:endParaRPr>
          </a:p>
          <a:p>
            <a:pPr marL="981710">
              <a:lnSpc>
                <a:spcPct val="100000"/>
              </a:lnSpc>
              <a:spcBef>
                <a:spcPts val="994"/>
              </a:spcBef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1426845" marR="5701665" indent="-445770">
              <a:lnSpc>
                <a:spcPct val="151900"/>
              </a:lnSpc>
              <a:spcBef>
                <a:spcPts val="15"/>
              </a:spcBef>
            </a:pPr>
            <a:r>
              <a:rPr sz="1600" dirty="0">
                <a:solidFill>
                  <a:srgbClr val="800000"/>
                </a:solidFill>
                <a:latin typeface="Consolas"/>
                <a:cs typeface="Consolas"/>
              </a:rPr>
              <a:t>ul</a:t>
            </a:r>
            <a:r>
              <a:rPr sz="1600" spc="-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Consolas"/>
                <a:cs typeface="Consolas"/>
              </a:rPr>
              <a:t>li:nth-</a:t>
            </a:r>
            <a:r>
              <a:rPr sz="1600" dirty="0">
                <a:solidFill>
                  <a:srgbClr val="800000"/>
                </a:solidFill>
                <a:latin typeface="Consolas"/>
                <a:cs typeface="Consolas"/>
              </a:rPr>
              <a:t>child(4)</a:t>
            </a:r>
            <a:r>
              <a:rPr sz="1600" spc="-1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 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size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150%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 dirty="0">
              <a:latin typeface="Consolas"/>
              <a:cs typeface="Consolas"/>
            </a:endParaRPr>
          </a:p>
          <a:p>
            <a:pPr marL="981710">
              <a:lnSpc>
                <a:spcPct val="100000"/>
              </a:lnSpc>
              <a:spcBef>
                <a:spcPts val="994"/>
              </a:spcBef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981710">
              <a:lnSpc>
                <a:spcPct val="100000"/>
              </a:lnSpc>
              <a:spcBef>
                <a:spcPts val="1010"/>
              </a:spcBef>
            </a:pPr>
            <a:r>
              <a:rPr sz="1600" dirty="0">
                <a:solidFill>
                  <a:srgbClr val="800000"/>
                </a:solidFill>
                <a:latin typeface="Consolas"/>
                <a:cs typeface="Consolas"/>
              </a:rPr>
              <a:t>ul</a:t>
            </a:r>
            <a:r>
              <a:rPr sz="1600" spc="-1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Consolas"/>
                <a:cs typeface="Consolas"/>
              </a:rPr>
              <a:t>li:nth-</a:t>
            </a:r>
            <a:r>
              <a:rPr sz="1600" dirty="0">
                <a:solidFill>
                  <a:srgbClr val="800000"/>
                </a:solidFill>
                <a:latin typeface="Consolas"/>
                <a:cs typeface="Consolas"/>
              </a:rPr>
              <a:t>child(5)</a:t>
            </a:r>
            <a:r>
              <a:rPr sz="1600" spc="-1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1426845">
              <a:lnSpc>
                <a:spcPct val="100000"/>
              </a:lnSpc>
              <a:spcBef>
                <a:spcPts val="994"/>
              </a:spcBef>
            </a:pP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size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2em</a:t>
            </a:r>
            <a:r>
              <a:rPr sz="1600" spc="-20" dirty="0">
                <a:latin typeface="Consolas"/>
                <a:cs typeface="Consolas"/>
              </a:rPr>
              <a:t>;</a:t>
            </a:r>
            <a:endParaRPr sz="1600" dirty="0">
              <a:latin typeface="Consolas"/>
              <a:cs typeface="Consolas"/>
            </a:endParaRPr>
          </a:p>
          <a:p>
            <a:pPr marL="981710">
              <a:lnSpc>
                <a:spcPct val="100000"/>
              </a:lnSpc>
              <a:spcBef>
                <a:spcPts val="1010"/>
              </a:spcBef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40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</a:t>
            </a:r>
            <a:r>
              <a:rPr spc="-265" dirty="0"/>
              <a:t> </a:t>
            </a:r>
            <a:r>
              <a:rPr spc="-35" dirty="0"/>
              <a:t>règle</a:t>
            </a:r>
            <a:r>
              <a:rPr spc="-260" dirty="0"/>
              <a:t> </a:t>
            </a:r>
            <a:r>
              <a:rPr spc="-215" dirty="0"/>
              <a:t>@font-</a:t>
            </a:r>
            <a:r>
              <a:rPr spc="185" dirty="0"/>
              <a:t>face</a:t>
            </a:r>
            <a:r>
              <a:rPr spc="-260" dirty="0"/>
              <a:t> </a:t>
            </a:r>
            <a:r>
              <a:rPr spc="-335" dirty="0"/>
              <a:t>(CSS3)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553450" cy="31111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balise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300" dirty="0">
                <a:solidFill>
                  <a:srgbClr val="FF0000"/>
                </a:solidFill>
                <a:latin typeface="Verdana"/>
                <a:cs typeface="Verdana"/>
              </a:rPr>
              <a:t>@font-</a:t>
            </a:r>
            <a:r>
              <a:rPr sz="2400" b="1" i="1" spc="-90" dirty="0">
                <a:solidFill>
                  <a:srgbClr val="FF0000"/>
                </a:solidFill>
                <a:latin typeface="Verdana"/>
                <a:cs typeface="Verdana"/>
              </a:rPr>
              <a:t>face</a:t>
            </a:r>
            <a:r>
              <a:rPr sz="2400" b="1" i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permet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Verdana"/>
                <a:cs typeface="Verdana"/>
              </a:rPr>
              <a:t>télécharger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lang="fr-FR" sz="2400" spc="600" dirty="0">
                <a:solidFill>
                  <a:srgbClr val="404040"/>
                </a:solidFill>
                <a:latin typeface="Verdana"/>
                <a:cs typeface="Verdana"/>
              </a:rPr>
              <a:t> polices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qui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ne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pas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installées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40" dirty="0">
                <a:solidFill>
                  <a:srgbClr val="404040"/>
                </a:solidFill>
                <a:latin typeface="Verdana"/>
                <a:cs typeface="Verdana"/>
              </a:rPr>
              <a:t>sur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poste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spc="-75" dirty="0" err="1">
                <a:solidFill>
                  <a:srgbClr val="404040"/>
                </a:solidFill>
                <a:latin typeface="Verdana"/>
                <a:cs typeface="Verdana"/>
              </a:rPr>
              <a:t>L’attribut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240" dirty="0">
                <a:solidFill>
                  <a:srgbClr val="FF0000"/>
                </a:solidFill>
                <a:latin typeface="Verdana"/>
                <a:cs typeface="Verdana"/>
              </a:rPr>
              <a:t>src</a:t>
            </a:r>
            <a:r>
              <a:rPr sz="2400" b="1" i="1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spécifie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l’URL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caractères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400" spc="-75" dirty="0" err="1">
                <a:solidFill>
                  <a:srgbClr val="404040"/>
                </a:solidFill>
                <a:latin typeface="Verdana"/>
                <a:cs typeface="Verdana"/>
              </a:rPr>
              <a:t>L’attribut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260" dirty="0">
                <a:solidFill>
                  <a:srgbClr val="FF0000"/>
                </a:solidFill>
                <a:latin typeface="Verdana"/>
                <a:cs typeface="Verdana"/>
              </a:rPr>
              <a:t>format</a:t>
            </a:r>
            <a:r>
              <a:rPr sz="2400" b="1" i="1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définit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son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format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spc="-75" dirty="0" err="1">
                <a:solidFill>
                  <a:srgbClr val="404040"/>
                </a:solidFill>
                <a:latin typeface="Verdana"/>
                <a:cs typeface="Verdana"/>
              </a:rPr>
              <a:t>L’attribut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254" dirty="0">
                <a:solidFill>
                  <a:srgbClr val="FF0000"/>
                </a:solidFill>
                <a:latin typeface="Verdana"/>
                <a:cs typeface="Verdana"/>
              </a:rPr>
              <a:t>font-</a:t>
            </a:r>
            <a:r>
              <a:rPr sz="2400" b="1" i="1" spc="-229" dirty="0">
                <a:solidFill>
                  <a:srgbClr val="FF0000"/>
                </a:solidFill>
                <a:latin typeface="Verdana"/>
                <a:cs typeface="Verdana"/>
              </a:rPr>
              <a:t>family</a:t>
            </a:r>
            <a:r>
              <a:rPr sz="2400" b="1" i="1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définit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son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nom</a:t>
            </a:r>
            <a:endParaRPr sz="2400" dirty="0">
              <a:latin typeface="Verdana"/>
              <a:cs typeface="Verdana"/>
            </a:endParaRPr>
          </a:p>
          <a:p>
            <a:pPr marL="355600" marR="753110" indent="-342900">
              <a:lnSpc>
                <a:spcPct val="100000"/>
              </a:lnSpc>
              <a:spcBef>
                <a:spcPts val="1000"/>
              </a:spcBef>
            </a:pP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fois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spécifiée,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elle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Verdana"/>
                <a:cs typeface="Verdana"/>
              </a:rPr>
              <a:t>peut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 err="1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lang="fr-FR" sz="2400" spc="-20" dirty="0">
                <a:solidFill>
                  <a:srgbClr val="404040"/>
                </a:solidFill>
                <a:latin typeface="Verdana"/>
                <a:cs typeface="Verdana"/>
              </a:rPr>
              <a:t> utilisée</a:t>
            </a:r>
            <a:r>
              <a:rPr sz="24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404040"/>
                </a:solidFill>
                <a:latin typeface="Verdana"/>
                <a:cs typeface="Verdana"/>
              </a:rPr>
              <a:t>comme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autres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polices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installées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41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Formats</a:t>
            </a:r>
            <a:r>
              <a:rPr spc="-220" dirty="0"/>
              <a:t> </a:t>
            </a:r>
            <a:r>
              <a:rPr spc="195" dirty="0"/>
              <a:t>de</a:t>
            </a:r>
            <a:r>
              <a:rPr spc="-270" dirty="0"/>
              <a:t> </a:t>
            </a:r>
            <a:r>
              <a:rPr dirty="0"/>
              <a:t>polices</a:t>
            </a:r>
            <a:r>
              <a:rPr spc="-254" dirty="0"/>
              <a:t> </a:t>
            </a:r>
            <a:r>
              <a:rPr spc="195" dirty="0"/>
              <a:t>de</a:t>
            </a:r>
            <a:r>
              <a:rPr spc="-270" dirty="0"/>
              <a:t> </a:t>
            </a:r>
            <a:r>
              <a:rPr spc="-10" dirty="0"/>
              <a:t>caractères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034667"/>
            <a:ext cx="8729980" cy="3866828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lang="fr-FR" sz="2400" spc="-340" dirty="0">
                <a:solidFill>
                  <a:srgbClr val="404040"/>
                </a:solidFill>
                <a:latin typeface="Verdana"/>
                <a:cs typeface="Verdana"/>
              </a:rPr>
              <a:t>- </a:t>
            </a:r>
            <a:r>
              <a:rPr sz="2400" spc="-340" dirty="0">
                <a:solidFill>
                  <a:srgbClr val="404040"/>
                </a:solidFill>
                <a:latin typeface="Verdana"/>
                <a:cs typeface="Verdana"/>
              </a:rPr>
              <a:t>Il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existe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plusieurs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formats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police</a:t>
            </a:r>
            <a:endParaRPr sz="2400" dirty="0">
              <a:latin typeface="Verdana"/>
              <a:cs typeface="Verdana"/>
            </a:endParaRPr>
          </a:p>
          <a:p>
            <a:pPr marL="355600" marR="367665" indent="-342900">
              <a:lnSpc>
                <a:spcPts val="2590"/>
              </a:lnSpc>
              <a:spcBef>
                <a:spcPts val="1040"/>
              </a:spcBef>
            </a:pPr>
            <a:r>
              <a:rPr lang="fr-FR" sz="2400" spc="-65" dirty="0">
                <a:solidFill>
                  <a:srgbClr val="404040"/>
                </a:solidFill>
                <a:latin typeface="Verdana"/>
                <a:cs typeface="Verdana"/>
              </a:rPr>
              <a:t>-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format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opentype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Verdana"/>
                <a:cs typeface="Verdana"/>
              </a:rPr>
              <a:t>embedded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254" dirty="0">
                <a:solidFill>
                  <a:srgbClr val="FF0000"/>
                </a:solidFill>
                <a:latin typeface="Verdana"/>
                <a:cs typeface="Verdana"/>
              </a:rPr>
              <a:t>(extension</a:t>
            </a:r>
            <a:r>
              <a:rPr sz="2400" b="1" i="1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b="1" i="1" spc="-550" dirty="0">
                <a:solidFill>
                  <a:srgbClr val="FF0000"/>
                </a:solidFill>
                <a:latin typeface="Verdana"/>
                <a:cs typeface="Verdana"/>
              </a:rPr>
              <a:t>eot)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proposé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Microsoft</a:t>
            </a:r>
            <a:r>
              <a:rPr sz="2400" spc="-2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pris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Verdana"/>
                <a:cs typeface="Verdana"/>
              </a:rPr>
              <a:t>charge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ses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navigateurs</a:t>
            </a:r>
            <a:endParaRPr sz="2400" dirty="0">
              <a:latin typeface="Verdana"/>
              <a:cs typeface="Verdana"/>
            </a:endParaRPr>
          </a:p>
          <a:p>
            <a:pPr marL="355600" marR="378460" indent="-342900">
              <a:lnSpc>
                <a:spcPct val="89900"/>
              </a:lnSpc>
              <a:spcBef>
                <a:spcPts val="975"/>
              </a:spcBef>
            </a:pPr>
            <a:r>
              <a:rPr lang="fr-FR" sz="2400" spc="-65" dirty="0">
                <a:solidFill>
                  <a:srgbClr val="404040"/>
                </a:solidFill>
                <a:latin typeface="Verdana"/>
                <a:cs typeface="Verdana"/>
              </a:rPr>
              <a:t>-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format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940" dirty="0">
                <a:solidFill>
                  <a:srgbClr val="FF0000"/>
                </a:solidFill>
                <a:latin typeface="Verdana"/>
                <a:cs typeface="Verdana"/>
              </a:rPr>
              <a:t>«</a:t>
            </a:r>
            <a:r>
              <a:rPr sz="2400" b="1" i="1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b="1" i="1" spc="-215" dirty="0">
                <a:solidFill>
                  <a:srgbClr val="FF0000"/>
                </a:solidFill>
                <a:latin typeface="Verdana"/>
                <a:cs typeface="Verdana"/>
              </a:rPr>
              <a:t>web</a:t>
            </a:r>
            <a:r>
              <a:rPr sz="2400" b="1" i="1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b="1" i="1" spc="-160" dirty="0">
                <a:solidFill>
                  <a:srgbClr val="FF0000"/>
                </a:solidFill>
                <a:latin typeface="Verdana"/>
                <a:cs typeface="Verdana"/>
              </a:rPr>
              <a:t>open</a:t>
            </a:r>
            <a:r>
              <a:rPr sz="2400" b="1" i="1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b="1" i="1" spc="-260" dirty="0">
                <a:solidFill>
                  <a:srgbClr val="FF0000"/>
                </a:solidFill>
                <a:latin typeface="Verdana"/>
                <a:cs typeface="Verdana"/>
              </a:rPr>
              <a:t>format</a:t>
            </a:r>
            <a:r>
              <a:rPr sz="2400" b="1" i="1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b="1" i="1" spc="-940" dirty="0">
                <a:solidFill>
                  <a:srgbClr val="FF0000"/>
                </a:solidFill>
                <a:latin typeface="Verdana"/>
                <a:cs typeface="Verdana"/>
              </a:rPr>
              <a:t>»</a:t>
            </a:r>
            <a:r>
              <a:rPr sz="2400" b="1" i="1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(extension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 err="1">
                <a:solidFill>
                  <a:srgbClr val="404040"/>
                </a:solidFill>
                <a:latin typeface="Verdana"/>
                <a:cs typeface="Verdana"/>
              </a:rPr>
              <a:t>woff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lang="fr-FR" sz="2400" spc="-160" dirty="0">
                <a:solidFill>
                  <a:srgbClr val="404040"/>
                </a:solidFill>
                <a:latin typeface="Verdana"/>
                <a:cs typeface="Verdana"/>
              </a:rPr>
              <a:t> est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 un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format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soutenu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Microsoft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fondation </a:t>
            </a:r>
            <a:r>
              <a:rPr sz="2400" spc="-75" dirty="0">
                <a:solidFill>
                  <a:srgbClr val="404040"/>
                </a:solidFill>
                <a:latin typeface="Verdana"/>
                <a:cs typeface="Verdana"/>
              </a:rPr>
              <a:t>Mozilla.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40" dirty="0">
                <a:solidFill>
                  <a:srgbClr val="404040"/>
                </a:solidFill>
                <a:latin typeface="Verdana"/>
                <a:cs typeface="Verdana"/>
              </a:rPr>
              <a:t>Il</a:t>
            </a:r>
            <a:r>
              <a:rPr sz="2400" spc="-2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pris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404040"/>
                </a:solidFill>
                <a:latin typeface="Verdana"/>
                <a:cs typeface="Verdana"/>
              </a:rPr>
              <a:t>charge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Chrome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ainsi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Verdana"/>
                <a:cs typeface="Verdana"/>
              </a:rPr>
              <a:t>que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les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versions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récentes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60" dirty="0">
                <a:solidFill>
                  <a:srgbClr val="404040"/>
                </a:solidFill>
                <a:latin typeface="Verdana"/>
                <a:cs typeface="Verdana"/>
              </a:rPr>
              <a:t>IE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Firefox.</a:t>
            </a:r>
            <a:endParaRPr sz="2400" dirty="0">
              <a:latin typeface="Verdana"/>
              <a:cs typeface="Verdana"/>
            </a:endParaRPr>
          </a:p>
          <a:p>
            <a:pPr marL="355600" marR="5080" indent="-342900">
              <a:lnSpc>
                <a:spcPts val="2590"/>
              </a:lnSpc>
              <a:spcBef>
                <a:spcPts val="1050"/>
              </a:spcBef>
            </a:pPr>
            <a:r>
              <a:rPr lang="fr-FR" sz="2400" spc="-65" dirty="0">
                <a:solidFill>
                  <a:srgbClr val="404040"/>
                </a:solidFill>
                <a:latin typeface="Verdana"/>
                <a:cs typeface="Verdana"/>
              </a:rPr>
              <a:t>-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format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truetype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254" dirty="0">
                <a:solidFill>
                  <a:srgbClr val="FF0000"/>
                </a:solidFill>
                <a:latin typeface="Verdana"/>
                <a:cs typeface="Verdana"/>
              </a:rPr>
              <a:t>(extension</a:t>
            </a:r>
            <a:r>
              <a:rPr sz="2400" b="1" i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b="1" i="1" spc="-370" dirty="0">
                <a:solidFill>
                  <a:srgbClr val="FF0000"/>
                </a:solidFill>
                <a:latin typeface="Verdana"/>
                <a:cs typeface="Verdana"/>
              </a:rPr>
              <a:t>ttf)</a:t>
            </a:r>
            <a:r>
              <a:rPr sz="2400" b="1" i="1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promu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80" dirty="0">
                <a:solidFill>
                  <a:srgbClr val="404040"/>
                </a:solidFill>
                <a:latin typeface="Verdana"/>
                <a:cs typeface="Verdana"/>
              </a:rPr>
              <a:t>Apple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400" spc="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compatible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avec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Chrome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Safari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42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3141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@font-</a:t>
            </a:r>
            <a:r>
              <a:rPr spc="185" dirty="0"/>
              <a:t>face</a:t>
            </a:r>
            <a:r>
              <a:rPr spc="-225" dirty="0"/>
              <a:t> </a:t>
            </a:r>
            <a:r>
              <a:rPr spc="-95" dirty="0"/>
              <a:t>syntaxe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89276" y="2127504"/>
            <a:ext cx="8915400" cy="3784600"/>
            <a:chOff x="2589276" y="2127504"/>
            <a:chExt cx="8915400" cy="3784600"/>
          </a:xfrm>
        </p:grpSpPr>
        <p:sp>
          <p:nvSpPr>
            <p:cNvPr id="4" name="object 4"/>
            <p:cNvSpPr/>
            <p:nvPr/>
          </p:nvSpPr>
          <p:spPr>
            <a:xfrm>
              <a:off x="2589276" y="2133600"/>
              <a:ext cx="8915400" cy="3778250"/>
            </a:xfrm>
            <a:custGeom>
              <a:avLst/>
              <a:gdLst/>
              <a:ahLst/>
              <a:cxnLst/>
              <a:rect l="l" t="t" r="r" b="b"/>
              <a:pathLst>
                <a:path w="8915400" h="3778250">
                  <a:moveTo>
                    <a:pt x="8915400" y="0"/>
                  </a:moveTo>
                  <a:lnTo>
                    <a:pt x="0" y="0"/>
                  </a:lnTo>
                  <a:lnTo>
                    <a:pt x="0" y="3777996"/>
                  </a:lnTo>
                  <a:lnTo>
                    <a:pt x="8915400" y="3777996"/>
                  </a:lnTo>
                  <a:lnTo>
                    <a:pt x="8915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80589" y="2127516"/>
              <a:ext cx="2933700" cy="2513330"/>
            </a:xfrm>
            <a:custGeom>
              <a:avLst/>
              <a:gdLst/>
              <a:ahLst/>
              <a:cxnLst/>
              <a:rect l="l" t="t" r="r" b="b"/>
              <a:pathLst>
                <a:path w="2933700" h="2513329">
                  <a:moveTo>
                    <a:pt x="140195" y="0"/>
                  </a:moveTo>
                  <a:lnTo>
                    <a:pt x="0" y="0"/>
                  </a:lnTo>
                  <a:lnTo>
                    <a:pt x="0" y="298691"/>
                  </a:lnTo>
                  <a:lnTo>
                    <a:pt x="140195" y="298691"/>
                  </a:lnTo>
                  <a:lnTo>
                    <a:pt x="140195" y="0"/>
                  </a:lnTo>
                  <a:close/>
                </a:path>
                <a:path w="2933700" h="2513329">
                  <a:moveTo>
                    <a:pt x="1955292" y="0"/>
                  </a:moveTo>
                  <a:lnTo>
                    <a:pt x="1955292" y="0"/>
                  </a:lnTo>
                  <a:lnTo>
                    <a:pt x="140208" y="0"/>
                  </a:lnTo>
                  <a:lnTo>
                    <a:pt x="140208" y="298691"/>
                  </a:lnTo>
                  <a:lnTo>
                    <a:pt x="1955292" y="298691"/>
                  </a:lnTo>
                  <a:lnTo>
                    <a:pt x="1955292" y="0"/>
                  </a:lnTo>
                  <a:close/>
                </a:path>
                <a:path w="2933700" h="2513329">
                  <a:moveTo>
                    <a:pt x="2234171" y="986015"/>
                  </a:moveTo>
                  <a:lnTo>
                    <a:pt x="1956816" y="986015"/>
                  </a:lnTo>
                  <a:lnTo>
                    <a:pt x="1676400" y="986015"/>
                  </a:lnTo>
                  <a:lnTo>
                    <a:pt x="1676400" y="1284719"/>
                  </a:lnTo>
                  <a:lnTo>
                    <a:pt x="1956816" y="1284719"/>
                  </a:lnTo>
                  <a:lnTo>
                    <a:pt x="2234171" y="1284719"/>
                  </a:lnTo>
                  <a:lnTo>
                    <a:pt x="2234171" y="986015"/>
                  </a:lnTo>
                  <a:close/>
                </a:path>
                <a:path w="2933700" h="2513329">
                  <a:moveTo>
                    <a:pt x="2793492" y="2214359"/>
                  </a:moveTo>
                  <a:lnTo>
                    <a:pt x="2653284" y="2214359"/>
                  </a:lnTo>
                  <a:lnTo>
                    <a:pt x="2514600" y="2214359"/>
                  </a:lnTo>
                  <a:lnTo>
                    <a:pt x="2235708" y="2214359"/>
                  </a:lnTo>
                  <a:lnTo>
                    <a:pt x="2235708" y="2513063"/>
                  </a:lnTo>
                  <a:lnTo>
                    <a:pt x="2514600" y="2513063"/>
                  </a:lnTo>
                  <a:lnTo>
                    <a:pt x="2653284" y="2513063"/>
                  </a:lnTo>
                  <a:lnTo>
                    <a:pt x="2793492" y="2513063"/>
                  </a:lnTo>
                  <a:lnTo>
                    <a:pt x="2793492" y="2214359"/>
                  </a:lnTo>
                  <a:close/>
                </a:path>
                <a:path w="2933700" h="2513329">
                  <a:moveTo>
                    <a:pt x="2933700" y="1600187"/>
                  </a:moveTo>
                  <a:lnTo>
                    <a:pt x="2793492" y="1600187"/>
                  </a:lnTo>
                  <a:lnTo>
                    <a:pt x="2514600" y="1600187"/>
                  </a:lnTo>
                  <a:lnTo>
                    <a:pt x="2235708" y="1600187"/>
                  </a:lnTo>
                  <a:lnTo>
                    <a:pt x="2235708" y="1898891"/>
                  </a:lnTo>
                  <a:lnTo>
                    <a:pt x="2514600" y="1898891"/>
                  </a:lnTo>
                  <a:lnTo>
                    <a:pt x="2793492" y="1898891"/>
                  </a:lnTo>
                  <a:lnTo>
                    <a:pt x="2933700" y="1898891"/>
                  </a:lnTo>
                  <a:lnTo>
                    <a:pt x="2933700" y="1600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89276" y="2133600"/>
            <a:ext cx="8915400" cy="377825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1775">
              <a:lnSpc>
                <a:spcPts val="2205"/>
              </a:lnSpc>
            </a:pP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@font-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face</a:t>
            </a:r>
            <a:r>
              <a:rPr sz="2000" spc="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60" dirty="0">
                <a:latin typeface="Consolas"/>
                <a:cs typeface="Consolas"/>
              </a:rPr>
              <a:t>{</a:t>
            </a:r>
            <a:endParaRPr sz="2000">
              <a:latin typeface="Consolas"/>
              <a:cs typeface="Consolas"/>
            </a:endParaRPr>
          </a:p>
          <a:p>
            <a:pPr marL="1768475">
              <a:lnSpc>
                <a:spcPct val="100000"/>
              </a:lnSpc>
              <a:spcBef>
                <a:spcPts val="515"/>
              </a:spcBef>
            </a:pP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family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15" dirty="0"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'blackjack'</a:t>
            </a:r>
            <a:r>
              <a:rPr sz="2000" spc="-10" dirty="0"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  <a:p>
            <a:pPr marL="1768475">
              <a:lnSpc>
                <a:spcPts val="2160"/>
              </a:lnSpc>
              <a:spcBef>
                <a:spcPts val="530"/>
              </a:spcBef>
            </a:pP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src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100" dirty="0"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url('Fonts/black_jack-webfont.woff')</a:t>
            </a:r>
            <a:endParaRPr sz="2000">
              <a:latin typeface="Consolas"/>
              <a:cs typeface="Consolas"/>
            </a:endParaRPr>
          </a:p>
          <a:p>
            <a:pPr marL="91440">
              <a:lnSpc>
                <a:spcPts val="2160"/>
              </a:lnSpc>
            </a:pP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format('woff')</a:t>
            </a:r>
            <a:r>
              <a:rPr sz="2000" spc="-10" dirty="0">
                <a:latin typeface="Consolas"/>
                <a:cs typeface="Consolas"/>
              </a:rPr>
              <a:t>,</a:t>
            </a:r>
            <a:endParaRPr sz="2000">
              <a:latin typeface="Consolas"/>
              <a:cs typeface="Consolas"/>
            </a:endParaRPr>
          </a:p>
          <a:p>
            <a:pPr marL="91440" marR="2808605" indent="2235835">
              <a:lnSpc>
                <a:spcPts val="1920"/>
              </a:lnSpc>
              <a:spcBef>
                <a:spcPts val="980"/>
              </a:spcBef>
            </a:pP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url('Fonts/black_jack.ttf') format('truetype')</a:t>
            </a:r>
            <a:r>
              <a:rPr sz="2000" spc="-10" dirty="0">
                <a:latin typeface="Consolas"/>
                <a:cs typeface="Consolas"/>
              </a:rPr>
              <a:t>,</a:t>
            </a:r>
            <a:endParaRPr sz="2000">
              <a:latin typeface="Consolas"/>
              <a:cs typeface="Consolas"/>
            </a:endParaRPr>
          </a:p>
          <a:p>
            <a:pPr marL="2327275">
              <a:lnSpc>
                <a:spcPts val="2160"/>
              </a:lnSpc>
              <a:spcBef>
                <a:spcPts val="530"/>
              </a:spcBef>
            </a:pP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url('Fonts/black_jack-webfont.eot')</a:t>
            </a:r>
            <a:endParaRPr sz="2000">
              <a:latin typeface="Consolas"/>
              <a:cs typeface="Consolas"/>
            </a:endParaRPr>
          </a:p>
          <a:p>
            <a:pPr marL="91440">
              <a:lnSpc>
                <a:spcPts val="2160"/>
              </a:lnSpc>
            </a:pP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format('opentype')</a:t>
            </a:r>
            <a:r>
              <a:rPr sz="2000" spc="-10" dirty="0"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  <a:p>
            <a:pPr marL="1768475" marR="4344035">
              <a:lnSpc>
                <a:spcPct val="121500"/>
              </a:lnSpc>
              <a:spcBef>
                <a:spcPts val="10"/>
              </a:spcBef>
            </a:pP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weight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15" dirty="0"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normal</a:t>
            </a:r>
            <a:r>
              <a:rPr sz="2000" spc="-10" dirty="0">
                <a:latin typeface="Consolas"/>
                <a:cs typeface="Consolas"/>
              </a:rPr>
              <a:t>; </a:t>
            </a: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style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10" dirty="0"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normal</a:t>
            </a:r>
            <a:r>
              <a:rPr sz="2000" spc="-10" dirty="0"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  <a:p>
            <a:pPr marL="1210310">
              <a:lnSpc>
                <a:spcPct val="100000"/>
              </a:lnSpc>
              <a:spcBef>
                <a:spcPts val="515"/>
              </a:spcBef>
            </a:pPr>
            <a:r>
              <a:rPr sz="2000" spc="-50" dirty="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43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EFA1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@font-</a:t>
            </a:r>
            <a:r>
              <a:rPr spc="165" dirty="0"/>
              <a:t>face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44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48867" y="1827275"/>
            <a:ext cx="9585960" cy="3931920"/>
            <a:chOff x="848867" y="1827275"/>
            <a:chExt cx="9585960" cy="39319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867" y="1827275"/>
              <a:ext cx="9585959" cy="39319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39" y="2022347"/>
              <a:ext cx="8997696" cy="33436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EFA1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8659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90" dirty="0"/>
              <a:t> </a:t>
            </a:r>
            <a:r>
              <a:rPr sz="4000" spc="-330" dirty="0"/>
              <a:t>5</a:t>
            </a:r>
            <a:r>
              <a:rPr sz="4000" spc="-300" dirty="0"/>
              <a:t> </a:t>
            </a:r>
            <a:r>
              <a:rPr sz="4000" spc="-710" dirty="0"/>
              <a:t>:</a:t>
            </a:r>
            <a:r>
              <a:rPr sz="4000" spc="-300" dirty="0"/>
              <a:t> </a:t>
            </a:r>
            <a:r>
              <a:rPr sz="4000" spc="-220" dirty="0"/>
              <a:t>Boîtes,</a:t>
            </a:r>
            <a:r>
              <a:rPr sz="4000" spc="-275" dirty="0"/>
              <a:t> </a:t>
            </a:r>
            <a:r>
              <a:rPr sz="4000" spc="-310" dirty="0"/>
              <a:t>Listes</a:t>
            </a:r>
            <a:r>
              <a:rPr sz="4000" spc="-305" dirty="0"/>
              <a:t> </a:t>
            </a:r>
            <a:r>
              <a:rPr sz="4000" dirty="0"/>
              <a:t>et</a:t>
            </a:r>
            <a:r>
              <a:rPr sz="4000" spc="-295" dirty="0"/>
              <a:t> </a:t>
            </a:r>
            <a:r>
              <a:rPr sz="4000" spc="-30" dirty="0"/>
              <a:t>Tableaux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46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Bordures</a:t>
            </a:r>
            <a:r>
              <a:rPr spc="-240" dirty="0"/>
              <a:t> </a:t>
            </a:r>
            <a:r>
              <a:rPr dirty="0"/>
              <a:t>et</a:t>
            </a:r>
            <a:r>
              <a:rPr spc="-245" dirty="0"/>
              <a:t> </a:t>
            </a:r>
            <a:r>
              <a:rPr spc="-10" dirty="0"/>
              <a:t>Marges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47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52144" y="2106167"/>
            <a:ext cx="8874760" cy="3782695"/>
          </a:xfrm>
          <a:custGeom>
            <a:avLst/>
            <a:gdLst/>
            <a:ahLst/>
            <a:cxnLst/>
            <a:rect l="l" t="t" r="r" b="b"/>
            <a:pathLst>
              <a:path w="8874760" h="3782695">
                <a:moveTo>
                  <a:pt x="8874252" y="0"/>
                </a:moveTo>
                <a:lnTo>
                  <a:pt x="0" y="0"/>
                </a:lnTo>
                <a:lnTo>
                  <a:pt x="0" y="3782567"/>
                </a:lnTo>
                <a:lnTo>
                  <a:pt x="8874252" y="3782567"/>
                </a:lnTo>
                <a:lnTo>
                  <a:pt x="8874252" y="0"/>
                </a:lnTo>
                <a:close/>
              </a:path>
            </a:pathLst>
          </a:custGeom>
          <a:solidFill>
            <a:srgbClr val="EFA1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2144" y="2106167"/>
            <a:ext cx="8874760" cy="3782695"/>
          </a:xfrm>
          <a:prstGeom prst="rect">
            <a:avLst/>
          </a:prstGeom>
          <a:ln w="15240">
            <a:solidFill>
              <a:srgbClr val="AF761F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Marge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Extérieure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(Margin)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90344" y="2464307"/>
            <a:ext cx="7199630" cy="3068320"/>
          </a:xfrm>
          <a:custGeom>
            <a:avLst/>
            <a:gdLst/>
            <a:ahLst/>
            <a:cxnLst/>
            <a:rect l="l" t="t" r="r" b="b"/>
            <a:pathLst>
              <a:path w="7199630" h="3068320">
                <a:moveTo>
                  <a:pt x="7199376" y="0"/>
                </a:moveTo>
                <a:lnTo>
                  <a:pt x="0" y="0"/>
                </a:lnTo>
                <a:lnTo>
                  <a:pt x="0" y="3067812"/>
                </a:lnTo>
                <a:lnTo>
                  <a:pt x="7199376" y="3067812"/>
                </a:lnTo>
                <a:lnTo>
                  <a:pt x="71993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90344" y="2464307"/>
            <a:ext cx="7199630" cy="3068320"/>
          </a:xfrm>
          <a:prstGeom prst="rect">
            <a:avLst/>
          </a:prstGeom>
          <a:ln w="1524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20"/>
              </a:spcBef>
            </a:pP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Bordure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(Border)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84932" y="2845307"/>
            <a:ext cx="5408930" cy="2304415"/>
          </a:xfrm>
          <a:custGeom>
            <a:avLst/>
            <a:gdLst/>
            <a:ahLst/>
            <a:cxnLst/>
            <a:rect l="l" t="t" r="r" b="b"/>
            <a:pathLst>
              <a:path w="5408930" h="2304415">
                <a:moveTo>
                  <a:pt x="5408676" y="0"/>
                </a:moveTo>
                <a:lnTo>
                  <a:pt x="0" y="0"/>
                </a:lnTo>
                <a:lnTo>
                  <a:pt x="0" y="2304288"/>
                </a:lnTo>
                <a:lnTo>
                  <a:pt x="5408676" y="2304288"/>
                </a:lnTo>
                <a:lnTo>
                  <a:pt x="5408676" y="0"/>
                </a:lnTo>
                <a:close/>
              </a:path>
            </a:pathLst>
          </a:custGeom>
          <a:solidFill>
            <a:srgbClr val="A463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84932" y="2845307"/>
            <a:ext cx="5408930" cy="2304415"/>
          </a:xfrm>
          <a:prstGeom prst="rect">
            <a:avLst/>
          </a:prstGeom>
          <a:ln w="15240">
            <a:solidFill>
              <a:srgbClr val="784637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Marge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Intérieure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(Padding)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59123" y="3171444"/>
            <a:ext cx="3860800" cy="1652270"/>
            <a:chOff x="3659123" y="3171444"/>
            <a:chExt cx="3860800" cy="1652270"/>
          </a:xfrm>
        </p:grpSpPr>
        <p:sp>
          <p:nvSpPr>
            <p:cNvPr id="11" name="object 11"/>
            <p:cNvSpPr/>
            <p:nvPr/>
          </p:nvSpPr>
          <p:spPr>
            <a:xfrm>
              <a:off x="3666743" y="3179064"/>
              <a:ext cx="3845560" cy="1637030"/>
            </a:xfrm>
            <a:custGeom>
              <a:avLst/>
              <a:gdLst/>
              <a:ahLst/>
              <a:cxnLst/>
              <a:rect l="l" t="t" r="r" b="b"/>
              <a:pathLst>
                <a:path w="3845559" h="1637029">
                  <a:moveTo>
                    <a:pt x="3845052" y="0"/>
                  </a:moveTo>
                  <a:lnTo>
                    <a:pt x="0" y="0"/>
                  </a:lnTo>
                  <a:lnTo>
                    <a:pt x="0" y="1636776"/>
                  </a:lnTo>
                  <a:lnTo>
                    <a:pt x="3845052" y="1636776"/>
                  </a:lnTo>
                  <a:lnTo>
                    <a:pt x="3845052" y="0"/>
                  </a:lnTo>
                  <a:close/>
                </a:path>
              </a:pathLst>
            </a:custGeom>
            <a:solidFill>
              <a:srgbClr val="C17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66743" y="3179064"/>
              <a:ext cx="3845560" cy="1637030"/>
            </a:xfrm>
            <a:custGeom>
              <a:avLst/>
              <a:gdLst/>
              <a:ahLst/>
              <a:cxnLst/>
              <a:rect l="l" t="t" r="r" b="b"/>
              <a:pathLst>
                <a:path w="3845559" h="1637029">
                  <a:moveTo>
                    <a:pt x="0" y="1636776"/>
                  </a:moveTo>
                  <a:lnTo>
                    <a:pt x="3845052" y="1636776"/>
                  </a:lnTo>
                  <a:lnTo>
                    <a:pt x="3845052" y="0"/>
                  </a:lnTo>
                  <a:lnTo>
                    <a:pt x="0" y="0"/>
                  </a:lnTo>
                  <a:lnTo>
                    <a:pt x="0" y="1636776"/>
                  </a:lnTo>
                  <a:close/>
                </a:path>
              </a:pathLst>
            </a:custGeom>
            <a:ln w="15240">
              <a:solidFill>
                <a:srgbClr val="8D53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Bordure</a:t>
            </a:r>
            <a:r>
              <a:rPr spc="-254" dirty="0"/>
              <a:t> </a:t>
            </a:r>
            <a:r>
              <a:rPr spc="40" dirty="0"/>
              <a:t>raccourci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8388" y="2221992"/>
            <a:ext cx="10555605" cy="2002789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234"/>
              </a:spcBef>
            </a:pPr>
            <a:r>
              <a:rPr sz="2400" dirty="0">
                <a:solidFill>
                  <a:srgbClr val="800000"/>
                </a:solidFill>
                <a:latin typeface="Consolas"/>
                <a:cs typeface="Consolas"/>
              </a:rPr>
              <a:t>div</a:t>
            </a:r>
            <a:r>
              <a:rPr sz="2400" spc="-4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800000"/>
                </a:solidFill>
                <a:latin typeface="Consolas"/>
                <a:cs typeface="Consolas"/>
              </a:rPr>
              <a:t>p:nth-</a:t>
            </a:r>
            <a:r>
              <a:rPr sz="2400" dirty="0">
                <a:solidFill>
                  <a:srgbClr val="800000"/>
                </a:solidFill>
                <a:latin typeface="Consolas"/>
                <a:cs typeface="Consolas"/>
              </a:rPr>
              <a:t>child(3)</a:t>
            </a:r>
            <a:r>
              <a:rPr sz="2400" spc="-3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400" spc="-50" dirty="0">
                <a:latin typeface="Consolas"/>
                <a:cs typeface="Consolas"/>
              </a:rPr>
              <a:t>{</a:t>
            </a:r>
            <a:endParaRPr sz="2400">
              <a:latin typeface="Consolas"/>
              <a:cs typeface="Consolas"/>
            </a:endParaRPr>
          </a:p>
          <a:p>
            <a:pPr marL="2783205">
              <a:lnSpc>
                <a:spcPct val="100000"/>
              </a:lnSpc>
              <a:spcBef>
                <a:spcPts val="994"/>
              </a:spcBef>
            </a:pPr>
            <a:r>
              <a:rPr sz="2400" dirty="0">
                <a:solidFill>
                  <a:srgbClr val="FF0000"/>
                </a:solidFill>
                <a:latin typeface="Consolas"/>
                <a:cs typeface="Consolas"/>
              </a:rPr>
              <a:t>border</a:t>
            </a:r>
            <a:r>
              <a:rPr sz="2400" spc="-3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:</a:t>
            </a:r>
            <a:r>
              <a:rPr sz="2400" spc="-30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5px</a:t>
            </a:r>
            <a:r>
              <a:rPr sz="24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solid</a:t>
            </a:r>
            <a:r>
              <a:rPr sz="24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onsolas"/>
                <a:cs typeface="Consolas"/>
              </a:rPr>
              <a:t>blue</a:t>
            </a:r>
            <a:r>
              <a:rPr sz="2400" spc="-10" dirty="0">
                <a:latin typeface="Consolas"/>
                <a:cs typeface="Consolas"/>
              </a:rPr>
              <a:t>;</a:t>
            </a:r>
            <a:endParaRPr sz="2400">
              <a:latin typeface="Consolas"/>
              <a:cs typeface="Consolas"/>
            </a:endParaRPr>
          </a:p>
          <a:p>
            <a:pPr marL="2111375">
              <a:lnSpc>
                <a:spcPct val="100000"/>
              </a:lnSpc>
              <a:spcBef>
                <a:spcPts val="1025"/>
              </a:spcBef>
            </a:pPr>
            <a:r>
              <a:rPr sz="2400" spc="-50" dirty="0">
                <a:latin typeface="Consolas"/>
                <a:cs typeface="Consolas"/>
              </a:rPr>
              <a:t>}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48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Marges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032533"/>
            <a:ext cx="8257540" cy="324755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Les </a:t>
            </a:r>
            <a:r>
              <a:rPr sz="2200" spc="-65" dirty="0">
                <a:solidFill>
                  <a:srgbClr val="404040"/>
                </a:solidFill>
                <a:latin typeface="Verdana"/>
                <a:cs typeface="Verdana"/>
              </a:rPr>
              <a:t>marges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404040"/>
                </a:solidFill>
                <a:latin typeface="Verdana"/>
                <a:cs typeface="Verdana"/>
              </a:rPr>
              <a:t>exprimées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2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0" dirty="0">
                <a:solidFill>
                  <a:srgbClr val="404040"/>
                </a:solidFill>
                <a:latin typeface="Verdana"/>
                <a:cs typeface="Verdana"/>
              </a:rPr>
              <a:t>pixel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ou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404040"/>
                </a:solidFill>
                <a:latin typeface="Verdana"/>
                <a:cs typeface="Verdana"/>
              </a:rPr>
              <a:t>pourcentage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ts val="2375"/>
              </a:lnSpc>
              <a:spcBef>
                <a:spcPts val="480"/>
              </a:spcBef>
            </a:pP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Verdana"/>
                <a:cs typeface="Verdana"/>
              </a:rPr>
              <a:t>marges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10" dirty="0">
                <a:solidFill>
                  <a:srgbClr val="404040"/>
                </a:solidFill>
                <a:latin typeface="Verdana"/>
                <a:cs typeface="Verdana"/>
              </a:rPr>
              <a:t>intérieures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Verdana"/>
                <a:cs typeface="Verdana"/>
              </a:rPr>
              <a:t>définies</a:t>
            </a:r>
            <a:r>
              <a:rPr sz="22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Verdana"/>
                <a:cs typeface="Verdana"/>
              </a:rPr>
              <a:t>avec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endParaRPr sz="2200" dirty="0">
              <a:latin typeface="Verdana"/>
              <a:cs typeface="Verdana"/>
            </a:endParaRPr>
          </a:p>
          <a:p>
            <a:pPr marL="355600">
              <a:lnSpc>
                <a:spcPts val="2375"/>
              </a:lnSpc>
            </a:pP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55" dirty="0">
                <a:solidFill>
                  <a:srgbClr val="404040"/>
                </a:solidFill>
                <a:latin typeface="Verdana"/>
                <a:cs typeface="Verdana"/>
              </a:rPr>
              <a:t>padding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3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ts val="2375"/>
              </a:lnSpc>
              <a:spcBef>
                <a:spcPts val="470"/>
              </a:spcBef>
            </a:pP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Verdana"/>
                <a:cs typeface="Verdana"/>
              </a:rPr>
              <a:t>marges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5" dirty="0">
                <a:solidFill>
                  <a:srgbClr val="404040"/>
                </a:solidFill>
                <a:latin typeface="Verdana"/>
                <a:cs typeface="Verdana"/>
              </a:rPr>
              <a:t>extérieures</a:t>
            </a:r>
            <a:r>
              <a:rPr sz="22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Verdana"/>
                <a:cs typeface="Verdana"/>
              </a:rPr>
              <a:t>définies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Verdana"/>
                <a:cs typeface="Verdana"/>
              </a:rPr>
              <a:t>avec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endParaRPr sz="2200" dirty="0">
              <a:latin typeface="Verdana"/>
              <a:cs typeface="Verdana"/>
            </a:endParaRPr>
          </a:p>
          <a:p>
            <a:pPr marL="355600">
              <a:lnSpc>
                <a:spcPts val="2375"/>
              </a:lnSpc>
            </a:pP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Verdana"/>
                <a:cs typeface="Verdana"/>
              </a:rPr>
              <a:t>margin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3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côtés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peuvent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Verdana"/>
                <a:cs typeface="Verdana"/>
              </a:rPr>
              <a:t>avoir</a:t>
            </a:r>
            <a:r>
              <a:rPr sz="22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Verdana"/>
                <a:cs typeface="Verdana"/>
              </a:rPr>
              <a:t>marges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différentes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200" spc="-35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75" dirty="0">
                <a:solidFill>
                  <a:srgbClr val="404040"/>
                </a:solidFill>
                <a:latin typeface="Verdana"/>
                <a:cs typeface="Verdana"/>
              </a:rPr>
              <a:t>formule</a:t>
            </a:r>
            <a:r>
              <a:rPr sz="22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raccourcie</a:t>
            </a:r>
            <a:r>
              <a:rPr sz="22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peut</a:t>
            </a:r>
            <a:r>
              <a:rPr sz="22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2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utilisée</a:t>
            </a:r>
            <a:endParaRPr sz="2200" dirty="0">
              <a:latin typeface="Verdana"/>
              <a:cs typeface="Verdana"/>
            </a:endParaRPr>
          </a:p>
          <a:p>
            <a:pPr marL="355600" marR="5080" indent="-342900">
              <a:lnSpc>
                <a:spcPct val="80000"/>
              </a:lnSpc>
              <a:spcBef>
                <a:spcPts val="994"/>
              </a:spcBef>
            </a:pPr>
            <a:r>
              <a:rPr sz="2200" spc="-5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marge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auto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Verdana"/>
                <a:cs typeface="Verdana"/>
              </a:rPr>
              <a:t>permet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404040"/>
                </a:solidFill>
                <a:latin typeface="Verdana"/>
                <a:cs typeface="Verdana"/>
              </a:rPr>
              <a:t>centrer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horizontalement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2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Verdana"/>
                <a:cs typeface="Verdana"/>
              </a:rPr>
              <a:t>élément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7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condition</a:t>
            </a:r>
            <a:r>
              <a:rPr sz="22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Verdana"/>
                <a:cs typeface="Verdana"/>
              </a:rPr>
              <a:t>qu’il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404040"/>
                </a:solidFill>
                <a:latin typeface="Verdana"/>
                <a:cs typeface="Verdana"/>
              </a:rPr>
              <a:t>ait</a:t>
            </a:r>
            <a:r>
              <a:rPr sz="22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 err="1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 err="1">
                <a:solidFill>
                  <a:srgbClr val="404040"/>
                </a:solidFill>
                <a:latin typeface="Verdana"/>
                <a:cs typeface="Verdana"/>
              </a:rPr>
              <a:t>largeur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49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Affichage</a:t>
            </a:r>
            <a:r>
              <a:rPr spc="-275" dirty="0"/>
              <a:t> </a:t>
            </a:r>
            <a:r>
              <a:rPr spc="-20" dirty="0"/>
              <a:t>des</a:t>
            </a:r>
            <a:r>
              <a:rPr spc="-270" dirty="0"/>
              <a:t> </a:t>
            </a:r>
            <a:r>
              <a:rPr spc="-55" dirty="0"/>
              <a:t>éléments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094102"/>
            <a:ext cx="8700770" cy="211493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404495" indent="-342900">
              <a:lnSpc>
                <a:spcPct val="80000"/>
              </a:lnSpc>
              <a:spcBef>
                <a:spcPts val="620"/>
              </a:spcBef>
              <a:buFontTx/>
              <a:buChar char="-"/>
            </a:pPr>
            <a:r>
              <a:rPr sz="2200" spc="-35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visibility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404040"/>
                </a:solidFill>
                <a:latin typeface="Verdana"/>
                <a:cs typeface="Verdana"/>
              </a:rPr>
              <a:t>permet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d’afficher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ou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2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404040"/>
                </a:solidFill>
                <a:latin typeface="Verdana"/>
                <a:cs typeface="Verdana"/>
              </a:rPr>
              <a:t>cacher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2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404040"/>
                </a:solidFill>
                <a:latin typeface="Verdana"/>
                <a:cs typeface="Verdana"/>
              </a:rPr>
              <a:t>élément.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14" dirty="0">
                <a:solidFill>
                  <a:srgbClr val="404040"/>
                </a:solidFill>
                <a:latin typeface="Verdana"/>
                <a:cs typeface="Verdana"/>
              </a:rPr>
              <a:t>Elle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peut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Verdana"/>
                <a:cs typeface="Verdana"/>
              </a:rPr>
              <a:t>avoir</a:t>
            </a:r>
            <a:r>
              <a:rPr sz="22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5" dirty="0" err="1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lang="fr-FR" sz="2200" spc="-55" dirty="0">
                <a:solidFill>
                  <a:srgbClr val="404040"/>
                </a:solidFill>
                <a:latin typeface="Verdana"/>
                <a:cs typeface="Verdana"/>
              </a:rPr>
              <a:t>s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404040"/>
                </a:solidFill>
                <a:latin typeface="Verdana"/>
                <a:cs typeface="Verdana"/>
              </a:rPr>
              <a:t>visible</a:t>
            </a:r>
            <a:r>
              <a:rPr sz="22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ou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hidden </a:t>
            </a:r>
            <a:r>
              <a:rPr sz="2200" spc="-395" dirty="0">
                <a:solidFill>
                  <a:srgbClr val="404040"/>
                </a:solidFill>
                <a:latin typeface="Verdana"/>
                <a:cs typeface="Verdana"/>
              </a:rPr>
              <a:t>».</a:t>
            </a:r>
            <a:endParaRPr lang="fr-FR" sz="2200" dirty="0">
              <a:latin typeface="Verdana"/>
              <a:cs typeface="Verdana"/>
            </a:endParaRPr>
          </a:p>
          <a:p>
            <a:pPr marL="12700">
              <a:lnSpc>
                <a:spcPts val="2375"/>
              </a:lnSpc>
              <a:spcBef>
                <a:spcPts val="490"/>
              </a:spcBef>
            </a:pPr>
            <a:r>
              <a:rPr lang="fr-FR" sz="2200" spc="-130" dirty="0">
                <a:solidFill>
                  <a:srgbClr val="404040"/>
                </a:solidFill>
                <a:latin typeface="Verdana"/>
                <a:cs typeface="Verdana"/>
              </a:rPr>
              <a:t>- 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Verdana"/>
                <a:cs typeface="Verdana"/>
              </a:rPr>
              <a:t>élément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peut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aussi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50" dirty="0">
                <a:solidFill>
                  <a:srgbClr val="404040"/>
                </a:solidFill>
                <a:latin typeface="Verdana"/>
                <a:cs typeface="Verdana"/>
              </a:rPr>
              <a:t>caché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14" dirty="0">
                <a:solidFill>
                  <a:srgbClr val="404040"/>
                </a:solidFill>
                <a:latin typeface="Verdana"/>
                <a:cs typeface="Verdana"/>
              </a:rPr>
              <a:t>utilisant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endParaRPr sz="2200" dirty="0">
              <a:latin typeface="Verdana"/>
              <a:cs typeface="Verdana"/>
            </a:endParaRPr>
          </a:p>
          <a:p>
            <a:pPr marL="355600" marR="5080">
              <a:lnSpc>
                <a:spcPct val="80000"/>
              </a:lnSpc>
              <a:spcBef>
                <a:spcPts val="265"/>
              </a:spcBef>
            </a:pP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404040"/>
                </a:solidFill>
                <a:latin typeface="Verdana"/>
                <a:cs typeface="Verdana"/>
              </a:rPr>
              <a:t>display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Verdana"/>
                <a:cs typeface="Verdana"/>
              </a:rPr>
              <a:t>avec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none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55" dirty="0">
                <a:solidFill>
                  <a:srgbClr val="404040"/>
                </a:solidFill>
                <a:latin typeface="Verdana"/>
                <a:cs typeface="Verdana"/>
              </a:rPr>
              <a:t>».</a:t>
            </a:r>
            <a:r>
              <a:rPr sz="22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différence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Verdana"/>
                <a:cs typeface="Verdana"/>
              </a:rPr>
              <a:t>avec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404040"/>
                </a:solidFill>
                <a:latin typeface="Verdana"/>
                <a:cs typeface="Verdana"/>
              </a:rPr>
              <a:t>visibility 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50" dirty="0">
                <a:solidFill>
                  <a:srgbClr val="404040"/>
                </a:solidFill>
                <a:latin typeface="Verdana"/>
                <a:cs typeface="Verdana"/>
              </a:rPr>
              <a:t>que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hidden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14" dirty="0">
                <a:solidFill>
                  <a:srgbClr val="404040"/>
                </a:solidFill>
                <a:latin typeface="Verdana"/>
                <a:cs typeface="Verdana"/>
              </a:rPr>
              <a:t>laisse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55" dirty="0">
                <a:solidFill>
                  <a:srgbClr val="404040"/>
                </a:solidFill>
                <a:latin typeface="Verdana"/>
                <a:cs typeface="Verdana"/>
              </a:rPr>
              <a:t>l’espace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l’élément </a:t>
            </a:r>
            <a:r>
              <a:rPr sz="2200" spc="-100" dirty="0">
                <a:solidFill>
                  <a:srgbClr val="404040"/>
                </a:solidFill>
                <a:latin typeface="Verdana"/>
                <a:cs typeface="Verdana"/>
              </a:rPr>
              <a:t>réservé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Verdana"/>
                <a:cs typeface="Verdana"/>
              </a:rPr>
              <a:t>tandis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50" dirty="0">
                <a:solidFill>
                  <a:srgbClr val="404040"/>
                </a:solidFill>
                <a:latin typeface="Verdana"/>
                <a:cs typeface="Verdana"/>
              </a:rPr>
              <a:t>que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none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2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40" dirty="0">
                <a:solidFill>
                  <a:srgbClr val="404040"/>
                </a:solidFill>
                <a:latin typeface="Verdana"/>
                <a:cs typeface="Verdana"/>
              </a:rPr>
              <a:t>cache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ne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réserve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pas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lang="fr-FR" sz="2200" spc="-170" dirty="0">
                <a:solidFill>
                  <a:srgbClr val="404040"/>
                </a:solidFill>
                <a:latin typeface="Verdana"/>
                <a:cs typeface="Verdana"/>
              </a:rPr>
              <a:t>d’</a:t>
            </a:r>
            <a:r>
              <a:rPr sz="2200" spc="-10" dirty="0" err="1">
                <a:solidFill>
                  <a:srgbClr val="404040"/>
                </a:solidFill>
                <a:latin typeface="Verdana"/>
                <a:cs typeface="Verdana"/>
              </a:rPr>
              <a:t>espace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50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Styler</a:t>
            </a:r>
            <a:r>
              <a:rPr spc="-254" dirty="0"/>
              <a:t> </a:t>
            </a:r>
            <a:r>
              <a:rPr spc="-210" dirty="0"/>
              <a:t>les</a:t>
            </a:r>
            <a:r>
              <a:rPr spc="-250" dirty="0"/>
              <a:t> </a:t>
            </a:r>
            <a:r>
              <a:rPr spc="-10" dirty="0"/>
              <a:t>tableaux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638540" cy="3223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5692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130" dirty="0" err="1">
                <a:solidFill>
                  <a:srgbClr val="404040"/>
                </a:solidFill>
                <a:latin typeface="Verdana"/>
                <a:cs typeface="Verdana"/>
              </a:rPr>
              <a:t>Toutes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règles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du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CSS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 err="1">
                <a:solidFill>
                  <a:srgbClr val="404040"/>
                </a:solidFill>
                <a:latin typeface="Verdana"/>
                <a:cs typeface="Verdana"/>
              </a:rPr>
              <a:t>s’appliquent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aux</a:t>
            </a:r>
            <a:r>
              <a:rPr lang="fr-FR" sz="2400" spc="-60" dirty="0">
                <a:solidFill>
                  <a:srgbClr val="404040"/>
                </a:solidFill>
                <a:latin typeface="Verdana"/>
                <a:cs typeface="Verdana"/>
              </a:rPr>
              <a:t> tableaux</a:t>
            </a:r>
            <a:r>
              <a:rPr sz="2400" spc="-620" dirty="0">
                <a:solidFill>
                  <a:srgbClr val="404040"/>
                </a:solidFill>
                <a:latin typeface="Verdana"/>
                <a:cs typeface="Verdana"/>
              </a:rPr>
              <a:t>,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notamment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border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qui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définit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bordures.</a:t>
            </a:r>
            <a:endParaRPr sz="2400" dirty="0">
              <a:latin typeface="Verdana"/>
              <a:cs typeface="Verdana"/>
            </a:endParaRPr>
          </a:p>
          <a:p>
            <a:pPr marL="355600" marR="153035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border-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spacing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permet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définir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l’espacement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cellules.</a:t>
            </a:r>
            <a:endParaRPr sz="2400" dirty="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border-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collapse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permet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définir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45" dirty="0">
                <a:solidFill>
                  <a:srgbClr val="404040"/>
                </a:solidFill>
                <a:latin typeface="Verdana"/>
                <a:cs typeface="Verdana"/>
              </a:rPr>
              <a:t>comportement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bordures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qui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se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rejoignent.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collapse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95" dirty="0">
                <a:solidFill>
                  <a:srgbClr val="404040"/>
                </a:solidFill>
                <a:latin typeface="Verdana"/>
                <a:cs typeface="Verdana"/>
              </a:rPr>
              <a:t>» </a:t>
            </a:r>
            <a:r>
              <a:rPr sz="2400" spc="-75" dirty="0">
                <a:solidFill>
                  <a:srgbClr val="404040"/>
                </a:solidFill>
                <a:latin typeface="Verdana"/>
                <a:cs typeface="Verdana"/>
              </a:rPr>
              <a:t>fusionne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bordures.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separate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affiche séparées.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52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EFA1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52679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90" dirty="0"/>
              <a:t> </a:t>
            </a:r>
            <a:r>
              <a:rPr sz="4000" spc="-330" dirty="0"/>
              <a:t>6</a:t>
            </a:r>
            <a:r>
              <a:rPr sz="4000" spc="-305" dirty="0"/>
              <a:t> </a:t>
            </a:r>
            <a:r>
              <a:rPr sz="4000" spc="-710" dirty="0"/>
              <a:t>:</a:t>
            </a:r>
            <a:r>
              <a:rPr sz="4000" spc="-300" dirty="0"/>
              <a:t> </a:t>
            </a:r>
            <a:r>
              <a:rPr sz="4000" spc="-150" dirty="0"/>
              <a:t>Disposition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57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38684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Disposition</a:t>
            </a:r>
            <a:r>
              <a:rPr spc="-135" dirty="0"/>
              <a:t> </a:t>
            </a:r>
            <a:r>
              <a:rPr spc="-105" dirty="0"/>
              <a:t>simple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432" y="2121179"/>
            <a:ext cx="10347325" cy="2260234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740"/>
              </a:spcBef>
            </a:pPr>
            <a:r>
              <a:rPr lang="fr-FR" sz="2200" spc="-60" dirty="0">
                <a:solidFill>
                  <a:srgbClr val="404040"/>
                </a:solidFill>
                <a:latin typeface="Verdana"/>
                <a:cs typeface="Verdana"/>
              </a:rPr>
              <a:t>- </a:t>
            </a:r>
            <a:r>
              <a:rPr sz="2200" spc="-6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Verdana"/>
                <a:cs typeface="Verdana"/>
              </a:rPr>
              <a:t>regroupement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60" dirty="0">
                <a:solidFill>
                  <a:srgbClr val="404040"/>
                </a:solidFill>
                <a:latin typeface="Verdana"/>
                <a:cs typeface="Verdana"/>
              </a:rPr>
              <a:t>mode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75" dirty="0">
                <a:solidFill>
                  <a:srgbClr val="404040"/>
                </a:solidFill>
                <a:latin typeface="Verdana"/>
                <a:cs typeface="Verdana"/>
              </a:rPr>
              <a:t>bloc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Verdana"/>
                <a:cs typeface="Verdana"/>
              </a:rPr>
              <a:t>permet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Verdana"/>
                <a:cs typeface="Verdana"/>
              </a:rPr>
              <a:t>gérer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404040"/>
                </a:solidFill>
                <a:latin typeface="Verdana"/>
                <a:cs typeface="Verdana"/>
              </a:rPr>
              <a:t>disposition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lang="fr-FR" sz="2200" dirty="0">
                <a:latin typeface="Verdana"/>
                <a:cs typeface="Verdana"/>
              </a:rPr>
              <a:t> </a:t>
            </a:r>
            <a:r>
              <a:rPr sz="2200" spc="-10" dirty="0" err="1">
                <a:solidFill>
                  <a:srgbClr val="404040"/>
                </a:solidFill>
                <a:latin typeface="Verdana"/>
                <a:cs typeface="Verdana"/>
              </a:rPr>
              <a:t>éléments</a:t>
            </a:r>
            <a:r>
              <a:rPr lang="fr-FR" sz="2200" spc="-10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lang="fr-FR" sz="2200" spc="185" dirty="0">
                <a:solidFill>
                  <a:srgbClr val="EFA12D"/>
                </a:solidFill>
                <a:latin typeface="Microsoft Sans Serif"/>
                <a:cs typeface="Microsoft Sans Serif"/>
              </a:rPr>
              <a:t>- </a:t>
            </a:r>
            <a:r>
              <a:rPr sz="2200" spc="185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404040"/>
                </a:solidFill>
                <a:latin typeface="Verdana"/>
                <a:cs typeface="Verdana"/>
              </a:rPr>
              <a:t>Dans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Verdana"/>
                <a:cs typeface="Verdana"/>
              </a:rPr>
              <a:t>scénario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0" dirty="0">
                <a:solidFill>
                  <a:srgbClr val="404040"/>
                </a:solidFill>
                <a:latin typeface="Verdana"/>
                <a:cs typeface="Verdana"/>
              </a:rPr>
              <a:t>normal,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Verdana"/>
                <a:cs typeface="Verdana"/>
              </a:rPr>
              <a:t>chaque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Verdana"/>
                <a:cs typeface="Verdana"/>
              </a:rPr>
              <a:t>élément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60" dirty="0">
                <a:solidFill>
                  <a:srgbClr val="404040"/>
                </a:solidFill>
                <a:latin typeface="Verdana"/>
                <a:cs typeface="Verdana"/>
              </a:rPr>
              <a:t>mode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75" dirty="0">
                <a:solidFill>
                  <a:srgbClr val="404040"/>
                </a:solidFill>
                <a:latin typeface="Verdana"/>
                <a:cs typeface="Verdana"/>
              </a:rPr>
              <a:t>bloc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14" dirty="0">
                <a:solidFill>
                  <a:srgbClr val="404040"/>
                </a:solidFill>
                <a:latin typeface="Verdana"/>
                <a:cs typeface="Verdana"/>
              </a:rPr>
              <a:t>affiché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2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404040"/>
                </a:solidFill>
                <a:latin typeface="Verdana"/>
                <a:cs typeface="Verdana"/>
              </a:rPr>
              <a:t>dessous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l’autres</a:t>
            </a:r>
            <a:endParaRPr sz="2200" dirty="0">
              <a:latin typeface="Verdana"/>
              <a:cs typeface="Verdana"/>
            </a:endParaRPr>
          </a:p>
          <a:p>
            <a:pPr marL="355600" marR="5080" indent="-343535">
              <a:lnSpc>
                <a:spcPts val="2380"/>
              </a:lnSpc>
              <a:spcBef>
                <a:spcPts val="990"/>
              </a:spcBef>
            </a:pPr>
            <a:r>
              <a:rPr lang="fr-FR" sz="2200" spc="-290" dirty="0">
                <a:solidFill>
                  <a:srgbClr val="404040"/>
                </a:solidFill>
                <a:latin typeface="Verdana"/>
                <a:cs typeface="Verdana"/>
              </a:rPr>
              <a:t>- </a:t>
            </a:r>
            <a:r>
              <a:rPr sz="2200" spc="-290" dirty="0">
                <a:solidFill>
                  <a:srgbClr val="404040"/>
                </a:solidFill>
                <a:latin typeface="Verdana"/>
                <a:cs typeface="Verdana"/>
              </a:rPr>
              <a:t>Si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404040"/>
                </a:solidFill>
                <a:latin typeface="Verdana"/>
                <a:cs typeface="Verdana"/>
              </a:rPr>
              <a:t>width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ou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25" dirty="0">
                <a:solidFill>
                  <a:srgbClr val="404040"/>
                </a:solidFill>
                <a:latin typeface="Verdana"/>
                <a:cs typeface="Verdana"/>
              </a:rPr>
              <a:t>max-</a:t>
            </a:r>
            <a:r>
              <a:rPr sz="2200" spc="-45" dirty="0">
                <a:solidFill>
                  <a:srgbClr val="404040"/>
                </a:solidFill>
                <a:latin typeface="Verdana"/>
                <a:cs typeface="Verdana"/>
              </a:rPr>
              <a:t>width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ne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pas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Verdana"/>
                <a:cs typeface="Verdana"/>
              </a:rPr>
              <a:t>spécifiées</a:t>
            </a:r>
            <a:r>
              <a:rPr sz="22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00" dirty="0">
                <a:solidFill>
                  <a:srgbClr val="404040"/>
                </a:solidFill>
                <a:latin typeface="Verdana"/>
                <a:cs typeface="Verdana"/>
              </a:rPr>
              <a:t>,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0" dirty="0" err="1">
                <a:solidFill>
                  <a:srgbClr val="404040"/>
                </a:solidFill>
                <a:latin typeface="Verdana"/>
                <a:cs typeface="Verdana"/>
              </a:rPr>
              <a:t>l’élément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 err="1">
                <a:solidFill>
                  <a:srgbClr val="404040"/>
                </a:solidFill>
                <a:latin typeface="Verdana"/>
                <a:cs typeface="Verdana"/>
              </a:rPr>
              <a:t>prend</a:t>
            </a:r>
            <a:r>
              <a:rPr lang="fr-FR" sz="2200" spc="-10" dirty="0">
                <a:solidFill>
                  <a:srgbClr val="404040"/>
                </a:solidFill>
                <a:latin typeface="Verdana"/>
                <a:cs typeface="Verdana"/>
              </a:rPr>
              <a:t> toute</a:t>
            </a:r>
            <a:r>
              <a:rPr lang="fr-FR" sz="2200" spc="5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0" dirty="0" err="1">
                <a:solidFill>
                  <a:srgbClr val="404040"/>
                </a:solidFill>
                <a:latin typeface="Verdana"/>
                <a:cs typeface="Verdana"/>
              </a:rPr>
              <a:t>largeur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disponible</a:t>
            </a:r>
            <a:r>
              <a:rPr lang="fr-FR" sz="2200" spc="-10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58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7866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Positionnement</a:t>
            </a:r>
            <a:r>
              <a:rPr spc="-229" dirty="0"/>
              <a:t> </a:t>
            </a:r>
            <a:r>
              <a:rPr spc="-100" dirty="0"/>
              <a:t>relatif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432" y="2216276"/>
            <a:ext cx="10347960" cy="39106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lang="fr-FR" sz="2200" spc="-50" dirty="0">
                <a:solidFill>
                  <a:srgbClr val="404040"/>
                </a:solidFill>
                <a:latin typeface="Verdana"/>
                <a:cs typeface="Verdana"/>
              </a:rPr>
              <a:t>- </a:t>
            </a:r>
            <a:r>
              <a:rPr sz="2200" spc="-5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404040"/>
                </a:solidFill>
                <a:latin typeface="Verdana"/>
                <a:cs typeface="Verdana"/>
              </a:rPr>
              <a:t>position</a:t>
            </a:r>
            <a:r>
              <a:rPr sz="22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Verdana"/>
                <a:cs typeface="Verdana"/>
              </a:rPr>
              <a:t>relative</a:t>
            </a:r>
            <a:r>
              <a:rPr sz="22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Verdana"/>
                <a:cs typeface="Verdana"/>
              </a:rPr>
              <a:t>déplace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Verdana"/>
                <a:cs typeface="Verdana"/>
              </a:rPr>
              <a:t>élément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404040"/>
                </a:solidFill>
                <a:latin typeface="Verdana"/>
                <a:cs typeface="Verdana"/>
              </a:rPr>
              <a:t>rapport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7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404040"/>
                </a:solidFill>
                <a:latin typeface="Verdana"/>
                <a:cs typeface="Verdana"/>
              </a:rPr>
              <a:t>sa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position</a:t>
            </a:r>
            <a:endParaRPr sz="2200" dirty="0">
              <a:latin typeface="Verdana"/>
              <a:cs typeface="Verdana"/>
            </a:endParaRPr>
          </a:p>
          <a:p>
            <a:pPr marL="355600">
              <a:lnSpc>
                <a:spcPts val="2510"/>
              </a:lnSpc>
            </a:pP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404040"/>
                </a:solidFill>
                <a:latin typeface="Verdana"/>
                <a:cs typeface="Verdana"/>
              </a:rPr>
              <a:t>normale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3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ts val="2510"/>
              </a:lnSpc>
              <a:spcBef>
                <a:spcPts val="745"/>
              </a:spcBef>
            </a:pPr>
            <a:r>
              <a:rPr lang="fr-FR" sz="2200" spc="-80" dirty="0">
                <a:solidFill>
                  <a:srgbClr val="404040"/>
                </a:solidFill>
                <a:latin typeface="Verdana"/>
                <a:cs typeface="Verdana"/>
              </a:rPr>
              <a:t>- </a:t>
            </a:r>
            <a:r>
              <a:rPr sz="2200" spc="-80" dirty="0">
                <a:solidFill>
                  <a:srgbClr val="404040"/>
                </a:solidFill>
                <a:latin typeface="Verdana"/>
                <a:cs typeface="Verdana"/>
              </a:rPr>
              <a:t>Pour</a:t>
            </a:r>
            <a:r>
              <a:rPr sz="22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Verdana"/>
                <a:cs typeface="Verdana"/>
              </a:rPr>
              <a:t>indiquer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75" dirty="0">
                <a:solidFill>
                  <a:srgbClr val="404040"/>
                </a:solidFill>
                <a:latin typeface="Verdana"/>
                <a:cs typeface="Verdana"/>
              </a:rPr>
              <a:t>position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75" dirty="0">
                <a:solidFill>
                  <a:srgbClr val="404040"/>
                </a:solidFill>
                <a:latin typeface="Verdana"/>
                <a:cs typeface="Verdana"/>
              </a:rPr>
              <a:t>relative,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utiliser</a:t>
            </a:r>
            <a:r>
              <a:rPr sz="22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Verdana"/>
                <a:cs typeface="Verdana"/>
              </a:rPr>
              <a:t>règle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75" dirty="0">
                <a:solidFill>
                  <a:srgbClr val="404040"/>
                </a:solidFill>
                <a:latin typeface="Verdana"/>
                <a:cs typeface="Verdana"/>
              </a:rPr>
              <a:t>position</a:t>
            </a:r>
            <a:r>
              <a:rPr sz="22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2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Verdana"/>
                <a:cs typeface="Verdana"/>
              </a:rPr>
              <a:t>avec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endParaRPr sz="2200" dirty="0">
              <a:latin typeface="Verdana"/>
              <a:cs typeface="Verdana"/>
            </a:endParaRPr>
          </a:p>
          <a:p>
            <a:pPr marL="355600">
              <a:lnSpc>
                <a:spcPts val="2510"/>
              </a:lnSpc>
            </a:pPr>
            <a:r>
              <a:rPr sz="2200" spc="-55" dirty="0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Verdana"/>
                <a:cs typeface="Verdana"/>
              </a:rPr>
              <a:t>relative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3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endParaRPr sz="2200" dirty="0">
              <a:latin typeface="Verdana"/>
              <a:cs typeface="Verdana"/>
            </a:endParaRPr>
          </a:p>
          <a:p>
            <a:pPr marR="372745" algn="r">
              <a:lnSpc>
                <a:spcPts val="2510"/>
              </a:lnSpc>
              <a:spcBef>
                <a:spcPts val="730"/>
              </a:spcBef>
            </a:pPr>
            <a:r>
              <a:rPr lang="fr-FR" sz="2200" spc="-75" dirty="0">
                <a:solidFill>
                  <a:srgbClr val="404040"/>
                </a:solidFill>
                <a:latin typeface="Verdana"/>
                <a:cs typeface="Verdana"/>
              </a:rPr>
              <a:t>- </a:t>
            </a:r>
            <a:r>
              <a:rPr sz="2200" spc="-75" dirty="0">
                <a:solidFill>
                  <a:srgbClr val="404040"/>
                </a:solidFill>
                <a:latin typeface="Verdana"/>
                <a:cs typeface="Verdana"/>
              </a:rPr>
              <a:t>Pour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bouger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Verdana"/>
                <a:cs typeface="Verdana"/>
              </a:rPr>
              <a:t>l’élément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404040"/>
                </a:solidFill>
                <a:latin typeface="Verdana"/>
                <a:cs typeface="Verdana"/>
              </a:rPr>
              <a:t>rapport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7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404040"/>
                </a:solidFill>
                <a:latin typeface="Verdana"/>
                <a:cs typeface="Verdana"/>
              </a:rPr>
              <a:t>sa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404040"/>
                </a:solidFill>
                <a:latin typeface="Verdana"/>
                <a:cs typeface="Verdana"/>
              </a:rPr>
              <a:t>position</a:t>
            </a:r>
            <a:r>
              <a:rPr sz="22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404040"/>
                </a:solidFill>
                <a:latin typeface="Verdana"/>
                <a:cs typeface="Verdana"/>
              </a:rPr>
              <a:t>normale,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50" dirty="0" err="1">
                <a:solidFill>
                  <a:srgbClr val="404040"/>
                </a:solidFill>
                <a:latin typeface="Verdana"/>
                <a:cs typeface="Verdana"/>
              </a:rPr>
              <a:t>utiliser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lang="fr-FR" sz="2200" spc="-48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lang="fr-FR" sz="2200" spc="-95" dirty="0">
                <a:solidFill>
                  <a:srgbClr val="404040"/>
                </a:solidFill>
                <a:latin typeface="Verdana"/>
                <a:cs typeface="Verdana"/>
              </a:rPr>
              <a:t>top</a:t>
            </a:r>
            <a:r>
              <a:rPr sz="2200" spc="-380" dirty="0">
                <a:solidFill>
                  <a:srgbClr val="404040"/>
                </a:solidFill>
                <a:latin typeface="Verdana"/>
                <a:cs typeface="Verdana"/>
              </a:rPr>
              <a:t>»,</a:t>
            </a:r>
            <a:endParaRPr sz="2200" dirty="0">
              <a:latin typeface="Verdana"/>
              <a:cs typeface="Verdana"/>
            </a:endParaRPr>
          </a:p>
          <a:p>
            <a:pPr marR="316865" algn="r">
              <a:lnSpc>
                <a:spcPts val="2375"/>
              </a:lnSpc>
            </a:pP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0" dirty="0">
                <a:solidFill>
                  <a:srgbClr val="404040"/>
                </a:solidFill>
                <a:latin typeface="Verdana"/>
                <a:cs typeface="Verdana"/>
              </a:rPr>
              <a:t>left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55" dirty="0">
                <a:solidFill>
                  <a:srgbClr val="404040"/>
                </a:solidFill>
                <a:latin typeface="Verdana"/>
                <a:cs typeface="Verdana"/>
              </a:rPr>
              <a:t>»,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5" dirty="0">
                <a:solidFill>
                  <a:srgbClr val="404040"/>
                </a:solidFill>
                <a:latin typeface="Verdana"/>
                <a:cs typeface="Verdana"/>
              </a:rPr>
              <a:t>right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ou</a:t>
            </a:r>
            <a:r>
              <a:rPr sz="22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bottom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55" dirty="0">
                <a:solidFill>
                  <a:srgbClr val="404040"/>
                </a:solidFill>
                <a:latin typeface="Verdana"/>
                <a:cs typeface="Verdana"/>
              </a:rPr>
              <a:t>».</a:t>
            </a:r>
            <a:r>
              <a:rPr sz="22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404040"/>
                </a:solidFill>
                <a:latin typeface="Verdana"/>
                <a:cs typeface="Verdana"/>
              </a:rPr>
              <a:t>valeurs</a:t>
            </a:r>
            <a:r>
              <a:rPr sz="22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peuvent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30" dirty="0">
                <a:solidFill>
                  <a:srgbClr val="404040"/>
                </a:solidFill>
                <a:latin typeface="Verdana"/>
                <a:cs typeface="Verdana"/>
              </a:rPr>
              <a:t>pixels,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90" dirty="0">
                <a:solidFill>
                  <a:srgbClr val="404040"/>
                </a:solidFill>
                <a:latin typeface="Verdana"/>
                <a:cs typeface="Verdana"/>
              </a:rPr>
              <a:t>ems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Verdana"/>
                <a:cs typeface="Verdana"/>
              </a:rPr>
              <a:t>ou</a:t>
            </a:r>
            <a:endParaRPr sz="2200" dirty="0">
              <a:latin typeface="Verdana"/>
              <a:cs typeface="Verdana"/>
            </a:endParaRPr>
          </a:p>
          <a:p>
            <a:pPr marL="355600">
              <a:lnSpc>
                <a:spcPts val="2510"/>
              </a:lnSpc>
            </a:pPr>
            <a:r>
              <a:rPr sz="2200" spc="-455" dirty="0">
                <a:solidFill>
                  <a:srgbClr val="404040"/>
                </a:solidFill>
                <a:latin typeface="Verdana"/>
                <a:cs typeface="Verdana"/>
              </a:rPr>
              <a:t>%</a:t>
            </a:r>
            <a:r>
              <a:rPr lang="fr-FR" sz="2200" spc="-4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55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2200" dirty="0">
              <a:latin typeface="Verdana"/>
              <a:cs typeface="Verdana"/>
            </a:endParaRPr>
          </a:p>
          <a:p>
            <a:pPr marL="355600" marR="5080" indent="-343535" algn="just">
              <a:lnSpc>
                <a:spcPts val="2380"/>
              </a:lnSpc>
              <a:spcBef>
                <a:spcPts val="1030"/>
              </a:spcBef>
              <a:buFontTx/>
              <a:buChar char="-"/>
            </a:pPr>
            <a:r>
              <a:rPr sz="2200" spc="-8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2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50" dirty="0">
                <a:solidFill>
                  <a:srgbClr val="404040"/>
                </a:solidFill>
                <a:latin typeface="Verdana"/>
                <a:cs typeface="Verdana"/>
              </a:rPr>
              <a:t>déplacement</a:t>
            </a:r>
            <a:r>
              <a:rPr sz="22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404040"/>
                </a:solidFill>
                <a:latin typeface="Verdana"/>
                <a:cs typeface="Verdana"/>
              </a:rPr>
              <a:t>relatif</a:t>
            </a:r>
            <a:r>
              <a:rPr sz="22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7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22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0" dirty="0">
                <a:solidFill>
                  <a:srgbClr val="404040"/>
                </a:solidFill>
                <a:latin typeface="Verdana"/>
                <a:cs typeface="Verdana"/>
              </a:rPr>
              <a:t>parfois</a:t>
            </a:r>
            <a:r>
              <a:rPr sz="22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2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conséquence,</a:t>
            </a:r>
            <a:r>
              <a:rPr sz="22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2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0" dirty="0" err="1">
                <a:solidFill>
                  <a:srgbClr val="404040"/>
                </a:solidFill>
                <a:latin typeface="Verdana"/>
                <a:cs typeface="Verdana"/>
              </a:rPr>
              <a:t>mettre</a:t>
            </a:r>
            <a:r>
              <a:rPr lang="fr-FR" sz="2200" spc="-105" dirty="0">
                <a:solidFill>
                  <a:srgbClr val="404040"/>
                </a:solidFill>
                <a:latin typeface="Verdana"/>
                <a:cs typeface="Verdana"/>
              </a:rPr>
              <a:t> un </a:t>
            </a:r>
            <a:r>
              <a:rPr lang="fr-FR" sz="2200" spc="-105" dirty="0" err="1">
                <a:solidFill>
                  <a:srgbClr val="404040"/>
                </a:solidFill>
                <a:latin typeface="Verdana"/>
                <a:cs typeface="Verdana"/>
              </a:rPr>
              <a:t>element</a:t>
            </a:r>
            <a:r>
              <a:rPr lang="fr-FR" sz="22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20" dirty="0">
                <a:solidFill>
                  <a:srgbClr val="404040"/>
                </a:solidFill>
                <a:latin typeface="Verdana"/>
                <a:cs typeface="Verdana"/>
              </a:rPr>
              <a:t>sur</a:t>
            </a:r>
            <a:r>
              <a:rPr sz="2200" spc="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2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404040"/>
                </a:solidFill>
                <a:latin typeface="Verdana"/>
                <a:cs typeface="Verdana"/>
              </a:rPr>
              <a:t>autre</a:t>
            </a:r>
            <a:r>
              <a:rPr sz="22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14" dirty="0">
                <a:solidFill>
                  <a:srgbClr val="404040"/>
                </a:solidFill>
                <a:latin typeface="Verdana"/>
                <a:cs typeface="Verdana"/>
              </a:rPr>
              <a:t>(le</a:t>
            </a:r>
            <a:r>
              <a:rPr sz="22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404040"/>
                </a:solidFill>
                <a:latin typeface="Verdana"/>
                <a:cs typeface="Verdana"/>
              </a:rPr>
              <a:t>premier</a:t>
            </a:r>
            <a:r>
              <a:rPr sz="22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couvre</a:t>
            </a:r>
            <a:r>
              <a:rPr sz="22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2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Verdana"/>
                <a:cs typeface="Verdana"/>
              </a:rPr>
              <a:t>deuxième).</a:t>
            </a:r>
            <a:r>
              <a:rPr sz="22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90" dirty="0">
                <a:solidFill>
                  <a:srgbClr val="404040"/>
                </a:solidFill>
                <a:latin typeface="Verdana"/>
                <a:cs typeface="Verdana"/>
              </a:rPr>
              <a:t>Pour</a:t>
            </a:r>
            <a:r>
              <a:rPr sz="22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90" dirty="0">
                <a:solidFill>
                  <a:srgbClr val="404040"/>
                </a:solidFill>
                <a:latin typeface="Verdana"/>
                <a:cs typeface="Verdana"/>
              </a:rPr>
              <a:t>soigner</a:t>
            </a:r>
            <a:r>
              <a:rPr sz="22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Verdana"/>
                <a:cs typeface="Verdana"/>
              </a:rPr>
              <a:t>l’effet, 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utiliser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2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484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2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54" dirty="0">
                <a:solidFill>
                  <a:srgbClr val="404040"/>
                </a:solidFill>
                <a:latin typeface="Verdana"/>
                <a:cs typeface="Verdana"/>
              </a:rPr>
              <a:t>z-</a:t>
            </a:r>
            <a:r>
              <a:rPr sz="2200" spc="-45" dirty="0">
                <a:solidFill>
                  <a:srgbClr val="404040"/>
                </a:solidFill>
                <a:latin typeface="Verdana"/>
                <a:cs typeface="Verdana"/>
              </a:rPr>
              <a:t>index</a:t>
            </a:r>
            <a:r>
              <a:rPr sz="22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95" dirty="0">
                <a:solidFill>
                  <a:srgbClr val="404040"/>
                </a:solidFill>
                <a:latin typeface="Verdana"/>
                <a:cs typeface="Verdana"/>
              </a:rPr>
              <a:t>».</a:t>
            </a:r>
            <a:endParaRPr lang="fr-FR" sz="2200" spc="-395" dirty="0">
              <a:solidFill>
                <a:srgbClr val="404040"/>
              </a:solidFill>
              <a:latin typeface="Verdana"/>
              <a:cs typeface="Verdana"/>
            </a:endParaRPr>
          </a:p>
          <a:p>
            <a:pPr marL="355600" marR="5080" indent="-343535" algn="just">
              <a:lnSpc>
                <a:spcPts val="2380"/>
              </a:lnSpc>
              <a:spcBef>
                <a:spcPts val="1030"/>
              </a:spcBef>
              <a:buFontTx/>
              <a:buChar char="-"/>
            </a:pPr>
            <a:endParaRPr sz="2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59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Positionnement</a:t>
            </a:r>
            <a:r>
              <a:rPr spc="-229" dirty="0"/>
              <a:t> </a:t>
            </a:r>
            <a:r>
              <a:rPr spc="-10" dirty="0"/>
              <a:t>absolu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8515" y="1558289"/>
            <a:ext cx="11205845" cy="3424654"/>
          </a:xfrm>
          <a:prstGeom prst="rect">
            <a:avLst/>
          </a:prstGeom>
        </p:spPr>
        <p:txBody>
          <a:bodyPr vert="horz" wrap="square" lIns="0" tIns="704214" rIns="0" bIns="0" rtlCol="0">
            <a:spAutoFit/>
          </a:bodyPr>
          <a:lstStyle/>
          <a:p>
            <a:pPr marL="1203960" marR="5080" indent="-343535">
              <a:lnSpc>
                <a:spcPct val="100000"/>
              </a:lnSpc>
              <a:spcBef>
                <a:spcPts val="100"/>
              </a:spcBef>
            </a:pPr>
            <a:r>
              <a:rPr spc="-60" dirty="0" err="1"/>
              <a:t>Lorsqu’une</a:t>
            </a:r>
            <a:r>
              <a:rPr spc="-125" dirty="0"/>
              <a:t> </a:t>
            </a:r>
            <a:r>
              <a:rPr spc="-80" dirty="0"/>
              <a:t>position</a:t>
            </a:r>
            <a:r>
              <a:rPr spc="-195" dirty="0"/>
              <a:t> </a:t>
            </a:r>
            <a:r>
              <a:rPr dirty="0"/>
              <a:t>absolue</a:t>
            </a:r>
            <a:r>
              <a:rPr spc="-155" dirty="0"/>
              <a:t> </a:t>
            </a:r>
            <a:r>
              <a:rPr spc="-114" dirty="0"/>
              <a:t>est</a:t>
            </a:r>
            <a:r>
              <a:rPr spc="-155" dirty="0"/>
              <a:t> </a:t>
            </a:r>
            <a:r>
              <a:rPr spc="-40" dirty="0"/>
              <a:t>attribuée</a:t>
            </a:r>
            <a:r>
              <a:rPr spc="-185" dirty="0"/>
              <a:t> </a:t>
            </a:r>
            <a:r>
              <a:rPr spc="200" dirty="0"/>
              <a:t>à</a:t>
            </a:r>
            <a:r>
              <a:rPr spc="-150" dirty="0"/>
              <a:t> </a:t>
            </a:r>
            <a:r>
              <a:rPr spc="-85" dirty="0"/>
              <a:t>un</a:t>
            </a:r>
            <a:r>
              <a:rPr spc="-155" dirty="0"/>
              <a:t> </a:t>
            </a:r>
            <a:r>
              <a:rPr spc="-45" dirty="0"/>
              <a:t>élément,</a:t>
            </a:r>
            <a:r>
              <a:rPr spc="-185" dirty="0"/>
              <a:t> </a:t>
            </a:r>
            <a:r>
              <a:rPr spc="-180" dirty="0"/>
              <a:t>il</a:t>
            </a:r>
            <a:r>
              <a:rPr spc="-185" dirty="0"/>
              <a:t> </a:t>
            </a:r>
            <a:r>
              <a:rPr spc="-25" dirty="0"/>
              <a:t>est </a:t>
            </a:r>
            <a:r>
              <a:rPr spc="-55" dirty="0"/>
              <a:t>positionné</a:t>
            </a:r>
            <a:r>
              <a:rPr spc="-190" dirty="0"/>
              <a:t> </a:t>
            </a:r>
            <a:r>
              <a:rPr dirty="0"/>
              <a:t>par</a:t>
            </a:r>
            <a:r>
              <a:rPr spc="-145" dirty="0"/>
              <a:t> </a:t>
            </a:r>
            <a:r>
              <a:rPr spc="-30" dirty="0"/>
              <a:t>rapport</a:t>
            </a:r>
            <a:r>
              <a:rPr spc="-145" dirty="0"/>
              <a:t> </a:t>
            </a:r>
            <a:r>
              <a:rPr spc="-50" dirty="0"/>
              <a:t>aux</a:t>
            </a:r>
            <a:r>
              <a:rPr spc="-160" dirty="0"/>
              <a:t> </a:t>
            </a:r>
            <a:r>
              <a:rPr dirty="0"/>
              <a:t>coordonnées</a:t>
            </a:r>
            <a:r>
              <a:rPr spc="-120" dirty="0"/>
              <a:t> </a:t>
            </a:r>
            <a:r>
              <a:rPr spc="-80" dirty="0"/>
              <a:t>(top,</a:t>
            </a:r>
            <a:r>
              <a:rPr spc="-120" dirty="0"/>
              <a:t> </a:t>
            </a:r>
            <a:r>
              <a:rPr spc="-114" dirty="0"/>
              <a:t>left,</a:t>
            </a:r>
            <a:r>
              <a:rPr spc="-180" dirty="0"/>
              <a:t> </a:t>
            </a:r>
            <a:r>
              <a:rPr spc="-125" dirty="0"/>
              <a:t>right</a:t>
            </a:r>
            <a:r>
              <a:rPr spc="-180" dirty="0"/>
              <a:t> </a:t>
            </a:r>
            <a:r>
              <a:rPr dirty="0"/>
              <a:t>et</a:t>
            </a:r>
            <a:r>
              <a:rPr spc="-145" dirty="0"/>
              <a:t> </a:t>
            </a:r>
            <a:r>
              <a:rPr spc="-10" dirty="0"/>
              <a:t>bottom) </a:t>
            </a:r>
            <a:r>
              <a:rPr dirty="0"/>
              <a:t>et</a:t>
            </a:r>
            <a:r>
              <a:rPr spc="-140" dirty="0"/>
              <a:t> </a:t>
            </a:r>
            <a:r>
              <a:rPr spc="-20" dirty="0"/>
              <a:t>l’élément</a:t>
            </a:r>
            <a:r>
              <a:rPr spc="-155" dirty="0"/>
              <a:t> </a:t>
            </a:r>
            <a:r>
              <a:rPr spc="105" dirty="0"/>
              <a:t>n’a</a:t>
            </a:r>
            <a:r>
              <a:rPr spc="-150" dirty="0"/>
              <a:t> </a:t>
            </a:r>
            <a:r>
              <a:rPr spc="-120" dirty="0"/>
              <a:t>plus</a:t>
            </a:r>
            <a:r>
              <a:rPr spc="-130" dirty="0"/>
              <a:t> </a:t>
            </a:r>
            <a:r>
              <a:rPr spc="55" dirty="0"/>
              <a:t>aucun</a:t>
            </a:r>
            <a:r>
              <a:rPr spc="-160" dirty="0"/>
              <a:t> </a:t>
            </a:r>
            <a:r>
              <a:rPr dirty="0"/>
              <a:t>impact</a:t>
            </a:r>
            <a:r>
              <a:rPr spc="-180" dirty="0"/>
              <a:t> </a:t>
            </a:r>
            <a:r>
              <a:rPr spc="-240" dirty="0"/>
              <a:t>sur</a:t>
            </a:r>
            <a:r>
              <a:rPr spc="-135" dirty="0"/>
              <a:t> les </a:t>
            </a:r>
            <a:r>
              <a:rPr spc="-114" dirty="0"/>
              <a:t>autres.</a:t>
            </a:r>
            <a:r>
              <a:rPr spc="-150" dirty="0"/>
              <a:t> </a:t>
            </a:r>
            <a:endParaRPr spc="-25" dirty="0"/>
          </a:p>
          <a:p>
            <a:pPr marL="1203960" marR="201930" indent="-343535">
              <a:lnSpc>
                <a:spcPct val="100000"/>
              </a:lnSpc>
              <a:spcBef>
                <a:spcPts val="994"/>
              </a:spcBef>
            </a:pPr>
            <a:r>
              <a:rPr spc="-80" dirty="0" err="1"/>
              <a:t>Lorsqu’un</a:t>
            </a:r>
            <a:r>
              <a:rPr spc="-130" dirty="0"/>
              <a:t> </a:t>
            </a:r>
            <a:r>
              <a:rPr spc="-20" dirty="0"/>
              <a:t>élément</a:t>
            </a:r>
            <a:r>
              <a:rPr spc="-170" dirty="0"/>
              <a:t> </a:t>
            </a:r>
            <a:r>
              <a:rPr spc="-114" dirty="0"/>
              <a:t>est</a:t>
            </a:r>
            <a:r>
              <a:rPr spc="-150" dirty="0"/>
              <a:t> </a:t>
            </a:r>
            <a:r>
              <a:rPr spc="-55" dirty="0"/>
              <a:t>positionné</a:t>
            </a:r>
            <a:r>
              <a:rPr spc="-195" dirty="0"/>
              <a:t> </a:t>
            </a:r>
            <a:r>
              <a:rPr spc="65" dirty="0"/>
              <a:t>d’une</a:t>
            </a:r>
            <a:r>
              <a:rPr spc="-150" dirty="0"/>
              <a:t> </a:t>
            </a:r>
            <a:r>
              <a:rPr spc="-35" dirty="0"/>
              <a:t>manière</a:t>
            </a:r>
            <a:r>
              <a:rPr spc="-185" dirty="0"/>
              <a:t> </a:t>
            </a:r>
            <a:r>
              <a:rPr dirty="0"/>
              <a:t>absolue</a:t>
            </a:r>
            <a:r>
              <a:rPr spc="-150" dirty="0"/>
              <a:t> </a:t>
            </a:r>
            <a:r>
              <a:rPr spc="150" dirty="0"/>
              <a:t>à </a:t>
            </a:r>
            <a:r>
              <a:rPr spc="-100" dirty="0"/>
              <a:t>l’intérieur</a:t>
            </a:r>
            <a:r>
              <a:rPr spc="-180" dirty="0"/>
              <a:t> </a:t>
            </a:r>
            <a:r>
              <a:rPr spc="50" dirty="0"/>
              <a:t>d’un</a:t>
            </a:r>
            <a:r>
              <a:rPr spc="-135" dirty="0"/>
              <a:t> </a:t>
            </a:r>
            <a:r>
              <a:rPr spc="-40" dirty="0"/>
              <a:t>autre</a:t>
            </a:r>
            <a:r>
              <a:rPr spc="-135" dirty="0"/>
              <a:t> </a:t>
            </a:r>
            <a:r>
              <a:rPr spc="-20" dirty="0"/>
              <a:t>élément</a:t>
            </a:r>
            <a:r>
              <a:rPr spc="-150" dirty="0"/>
              <a:t> </a:t>
            </a:r>
            <a:r>
              <a:rPr dirty="0"/>
              <a:t>en</a:t>
            </a:r>
            <a:r>
              <a:rPr spc="-140" dirty="0"/>
              <a:t> </a:t>
            </a:r>
            <a:r>
              <a:rPr spc="65" dirty="0"/>
              <a:t>mode</a:t>
            </a:r>
            <a:r>
              <a:rPr spc="-130" dirty="0"/>
              <a:t> </a:t>
            </a:r>
            <a:r>
              <a:rPr spc="-110" dirty="0"/>
              <a:t>relatif,</a:t>
            </a:r>
            <a:r>
              <a:rPr spc="-185" dirty="0"/>
              <a:t> il </a:t>
            </a:r>
            <a:r>
              <a:rPr spc="-114" dirty="0"/>
              <a:t>est</a:t>
            </a:r>
            <a:r>
              <a:rPr spc="-130" dirty="0"/>
              <a:t> </a:t>
            </a:r>
            <a:r>
              <a:rPr spc="-55" dirty="0"/>
              <a:t>positionné</a:t>
            </a:r>
            <a:r>
              <a:rPr spc="-165" dirty="0"/>
              <a:t> </a:t>
            </a:r>
            <a:r>
              <a:rPr spc="-25" dirty="0"/>
              <a:t>par </a:t>
            </a:r>
            <a:r>
              <a:rPr spc="-35" dirty="0"/>
              <a:t>rapport</a:t>
            </a:r>
            <a:r>
              <a:rPr spc="-150" dirty="0"/>
              <a:t> </a:t>
            </a:r>
            <a:r>
              <a:rPr spc="200" dirty="0"/>
              <a:t>à</a:t>
            </a:r>
            <a:r>
              <a:rPr spc="-150" dirty="0"/>
              <a:t> </a:t>
            </a:r>
            <a:r>
              <a:rPr spc="-20" dirty="0"/>
              <a:t>l’élément</a:t>
            </a:r>
            <a:r>
              <a:rPr spc="-175" dirty="0"/>
              <a:t> </a:t>
            </a:r>
            <a:r>
              <a:rPr spc="-45" dirty="0"/>
              <a:t>parent.</a:t>
            </a:r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60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3097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Positionnement</a:t>
            </a:r>
            <a:r>
              <a:rPr spc="-229" dirty="0"/>
              <a:t> </a:t>
            </a:r>
            <a:r>
              <a:rPr spc="-114" dirty="0"/>
              <a:t>fixe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8515" y="1558289"/>
            <a:ext cx="11205845" cy="2316659"/>
          </a:xfrm>
          <a:prstGeom prst="rect">
            <a:avLst/>
          </a:prstGeom>
        </p:spPr>
        <p:txBody>
          <a:bodyPr vert="horz" wrap="square" lIns="0" tIns="704214" rIns="0" bIns="0" rtlCol="0">
            <a:spAutoFit/>
          </a:bodyPr>
          <a:lstStyle/>
          <a:p>
            <a:pPr marL="1203960" marR="5080" indent="-343535">
              <a:lnSpc>
                <a:spcPct val="100000"/>
              </a:lnSpc>
              <a:spcBef>
                <a:spcPts val="100"/>
              </a:spcBef>
            </a:pPr>
            <a:r>
              <a:rPr lang="fr-FR" spc="-10" dirty="0"/>
              <a:t>- </a:t>
            </a:r>
            <a:r>
              <a:rPr spc="-10" dirty="0"/>
              <a:t>La</a:t>
            </a:r>
            <a:r>
              <a:rPr spc="-150" dirty="0"/>
              <a:t> </a:t>
            </a:r>
            <a:r>
              <a:rPr spc="-75" dirty="0"/>
              <a:t>position</a:t>
            </a:r>
            <a:r>
              <a:rPr spc="-195" dirty="0"/>
              <a:t> </a:t>
            </a:r>
            <a:r>
              <a:rPr spc="-110" dirty="0"/>
              <a:t>fixe</a:t>
            </a:r>
            <a:r>
              <a:rPr spc="-185" dirty="0"/>
              <a:t> </a:t>
            </a:r>
            <a:r>
              <a:rPr spc="-114" dirty="0"/>
              <a:t>est</a:t>
            </a:r>
            <a:r>
              <a:rPr spc="-150" dirty="0"/>
              <a:t> </a:t>
            </a:r>
            <a:r>
              <a:rPr spc="-20" dirty="0"/>
              <a:t>semblable</a:t>
            </a:r>
            <a:r>
              <a:rPr spc="-150" dirty="0"/>
              <a:t> </a:t>
            </a:r>
            <a:r>
              <a:rPr spc="55" dirty="0"/>
              <a:t>au</a:t>
            </a:r>
            <a:r>
              <a:rPr spc="-170" dirty="0"/>
              <a:t> </a:t>
            </a:r>
            <a:r>
              <a:rPr spc="-60" dirty="0"/>
              <a:t>positionnement</a:t>
            </a:r>
            <a:r>
              <a:rPr spc="-190" dirty="0"/>
              <a:t> </a:t>
            </a:r>
            <a:r>
              <a:rPr spc="-25" dirty="0" err="1"/>
              <a:t>absolu</a:t>
            </a:r>
            <a:r>
              <a:rPr spc="-145" dirty="0"/>
              <a:t> </a:t>
            </a:r>
            <a:r>
              <a:rPr spc="-80" dirty="0" err="1"/>
              <a:t>sauf</a:t>
            </a:r>
            <a:r>
              <a:rPr lang="fr-FR" spc="-170" dirty="0"/>
              <a:t> que</a:t>
            </a:r>
            <a:r>
              <a:rPr spc="-20" dirty="0"/>
              <a:t> l’élément</a:t>
            </a:r>
            <a:r>
              <a:rPr spc="-155" dirty="0"/>
              <a:t> </a:t>
            </a:r>
            <a:r>
              <a:rPr spc="50" dirty="0"/>
              <a:t>garde</a:t>
            </a:r>
            <a:r>
              <a:rPr spc="-135" dirty="0"/>
              <a:t> </a:t>
            </a:r>
            <a:r>
              <a:rPr spc="-140" dirty="0"/>
              <a:t>toujours</a:t>
            </a:r>
            <a:r>
              <a:rPr spc="-150" dirty="0"/>
              <a:t> </a:t>
            </a:r>
            <a:r>
              <a:rPr dirty="0"/>
              <a:t>la</a:t>
            </a:r>
            <a:r>
              <a:rPr spc="-135" dirty="0"/>
              <a:t> </a:t>
            </a:r>
            <a:r>
              <a:rPr dirty="0"/>
              <a:t>même</a:t>
            </a:r>
            <a:r>
              <a:rPr spc="-155" dirty="0"/>
              <a:t> </a:t>
            </a:r>
            <a:r>
              <a:rPr spc="-80" dirty="0"/>
              <a:t>position</a:t>
            </a:r>
            <a:r>
              <a:rPr spc="-180" dirty="0"/>
              <a:t> </a:t>
            </a:r>
            <a:r>
              <a:rPr spc="-80" dirty="0"/>
              <a:t>lorsque</a:t>
            </a:r>
            <a:r>
              <a:rPr spc="-130" dirty="0"/>
              <a:t> </a:t>
            </a:r>
            <a:r>
              <a:rPr spc="-105" dirty="0"/>
              <a:t>l’utilisateur</a:t>
            </a:r>
            <a:r>
              <a:rPr spc="-160" dirty="0"/>
              <a:t> </a:t>
            </a:r>
            <a:r>
              <a:rPr spc="-10" dirty="0"/>
              <a:t>défile </a:t>
            </a:r>
            <a:r>
              <a:rPr dirty="0"/>
              <a:t>la</a:t>
            </a:r>
            <a:r>
              <a:rPr spc="-200" dirty="0"/>
              <a:t> </a:t>
            </a:r>
            <a:r>
              <a:rPr spc="125" dirty="0"/>
              <a:t>page</a:t>
            </a:r>
          </a:p>
          <a:p>
            <a:pPr marL="861060">
              <a:lnSpc>
                <a:spcPct val="100000"/>
              </a:lnSpc>
              <a:spcBef>
                <a:spcPts val="994"/>
              </a:spcBef>
            </a:pPr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61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EFA1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53936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85" dirty="0"/>
              <a:t> </a:t>
            </a:r>
            <a:r>
              <a:rPr sz="4000" spc="-330" dirty="0"/>
              <a:t>7</a:t>
            </a:r>
            <a:r>
              <a:rPr sz="4000" spc="-300" dirty="0"/>
              <a:t> </a:t>
            </a:r>
            <a:r>
              <a:rPr sz="4000" spc="-710" dirty="0"/>
              <a:t>:</a:t>
            </a:r>
            <a:r>
              <a:rPr sz="4000" spc="-295" dirty="0"/>
              <a:t> </a:t>
            </a:r>
            <a:r>
              <a:rPr sz="4000" spc="-254" dirty="0"/>
              <a:t>Les</a:t>
            </a:r>
            <a:r>
              <a:rPr sz="4000" spc="-280" dirty="0"/>
              <a:t> </a:t>
            </a:r>
            <a:r>
              <a:rPr sz="4000" spc="-10" dirty="0"/>
              <a:t>images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64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Arrière</a:t>
            </a:r>
            <a:r>
              <a:rPr spc="-204" dirty="0"/>
              <a:t> </a:t>
            </a:r>
            <a:r>
              <a:rPr dirty="0"/>
              <a:t>plan</a:t>
            </a:r>
            <a:r>
              <a:rPr spc="-210" dirty="0"/>
              <a:t> </a:t>
            </a:r>
            <a:r>
              <a:rPr spc="195" dirty="0"/>
              <a:t>de</a:t>
            </a:r>
            <a:r>
              <a:rPr spc="-225" dirty="0"/>
              <a:t> </a:t>
            </a:r>
            <a:r>
              <a:rPr dirty="0"/>
              <a:t>type</a:t>
            </a:r>
            <a:r>
              <a:rPr spc="-215" dirty="0"/>
              <a:t> </a:t>
            </a:r>
            <a:r>
              <a:rPr spc="-10" dirty="0"/>
              <a:t>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24583"/>
            <a:ext cx="8624570" cy="356520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381635" indent="-342900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170" dirty="0">
                <a:solidFill>
                  <a:srgbClr val="404040"/>
                </a:solidFill>
                <a:latin typeface="Verdana"/>
                <a:cs typeface="Verdana"/>
              </a:rPr>
              <a:t>background-</a:t>
            </a:r>
            <a:r>
              <a:rPr sz="2400" b="1" i="1" spc="-160" dirty="0">
                <a:solidFill>
                  <a:srgbClr val="404040"/>
                </a:solidFill>
                <a:latin typeface="Verdana"/>
                <a:cs typeface="Verdana"/>
              </a:rPr>
              <a:t>image</a:t>
            </a:r>
            <a:r>
              <a:rPr sz="2400" b="1" i="1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permet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6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19" dirty="0">
                <a:solidFill>
                  <a:srgbClr val="404040"/>
                </a:solidFill>
                <a:latin typeface="Verdana"/>
                <a:cs typeface="Verdana"/>
              </a:rPr>
              <a:t>définir</a:t>
            </a:r>
            <a:r>
              <a:rPr sz="2400" spc="-2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image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404040"/>
                </a:solidFill>
                <a:latin typeface="Verdana"/>
                <a:cs typeface="Verdana"/>
              </a:rPr>
              <a:t>comme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arrière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plan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(voir images.html)</a:t>
            </a:r>
            <a:endParaRPr lang="fr-FR" sz="2400" dirty="0">
              <a:latin typeface="Verdana"/>
              <a:cs typeface="Verdana"/>
            </a:endParaRPr>
          </a:p>
          <a:p>
            <a:pPr marL="355600" marR="381635" indent="-342900">
              <a:lnSpc>
                <a:spcPts val="2590"/>
              </a:lnSpc>
              <a:spcBef>
                <a:spcPts val="425"/>
              </a:spcBef>
            </a:pPr>
            <a:r>
              <a:rPr sz="2400" spc="-70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170" dirty="0">
                <a:solidFill>
                  <a:srgbClr val="404040"/>
                </a:solidFill>
                <a:latin typeface="Verdana"/>
                <a:cs typeface="Verdana"/>
              </a:rPr>
              <a:t>background-</a:t>
            </a:r>
            <a:r>
              <a:rPr sz="2400" b="1" i="1" spc="-175" dirty="0">
                <a:solidFill>
                  <a:srgbClr val="404040"/>
                </a:solidFill>
                <a:latin typeface="Verdana"/>
                <a:cs typeface="Verdana"/>
              </a:rPr>
              <a:t>repeat</a:t>
            </a:r>
            <a:r>
              <a:rPr sz="2400" b="1" i="1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permet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40" dirty="0">
                <a:solidFill>
                  <a:srgbClr val="404040"/>
                </a:solidFill>
                <a:latin typeface="Verdana"/>
                <a:cs typeface="Verdana"/>
              </a:rPr>
              <a:t>définir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répétition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l’arrière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plan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25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horizontal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(</a:t>
            </a:r>
            <a:r>
              <a:rPr sz="2400" b="1" i="1" spc="-180" dirty="0">
                <a:solidFill>
                  <a:srgbClr val="404040"/>
                </a:solidFill>
                <a:latin typeface="Verdana"/>
                <a:cs typeface="Verdana"/>
              </a:rPr>
              <a:t>repeat-</a:t>
            </a:r>
            <a:r>
              <a:rPr sz="2400" b="1" i="1" spc="-240" dirty="0">
                <a:solidFill>
                  <a:srgbClr val="404040"/>
                </a:solidFill>
                <a:latin typeface="Verdana"/>
                <a:cs typeface="Verdana"/>
              </a:rPr>
              <a:t>x</a:t>
            </a:r>
            <a:r>
              <a:rPr sz="2400" spc="-240" dirty="0">
                <a:solidFill>
                  <a:srgbClr val="404040"/>
                </a:solidFill>
                <a:latin typeface="Verdana"/>
                <a:cs typeface="Verdana"/>
              </a:rPr>
              <a:t>)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ou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vertical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(</a:t>
            </a:r>
            <a:r>
              <a:rPr sz="2400" b="1" i="1" spc="-185" dirty="0">
                <a:solidFill>
                  <a:srgbClr val="404040"/>
                </a:solidFill>
                <a:latin typeface="Verdana"/>
                <a:cs typeface="Verdana"/>
              </a:rPr>
              <a:t>repeat-</a:t>
            </a:r>
            <a:r>
              <a:rPr sz="2400" b="1" i="1" spc="-220" dirty="0">
                <a:solidFill>
                  <a:srgbClr val="404040"/>
                </a:solidFill>
                <a:latin typeface="Verdana"/>
                <a:cs typeface="Verdana"/>
              </a:rPr>
              <a:t>y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).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190" dirty="0">
                <a:solidFill>
                  <a:srgbClr val="404040"/>
                </a:solidFill>
                <a:latin typeface="Verdana"/>
                <a:cs typeface="Verdana"/>
              </a:rPr>
              <a:t>norepeat</a:t>
            </a:r>
            <a:r>
              <a:rPr sz="2400" b="1" i="1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désactive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la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répétition.</a:t>
            </a:r>
            <a:endParaRPr sz="2400" dirty="0">
              <a:latin typeface="Verdana"/>
              <a:cs typeface="Verdana"/>
            </a:endParaRPr>
          </a:p>
          <a:p>
            <a:pPr marL="355600" marR="153035" indent="-342900">
              <a:lnSpc>
                <a:spcPct val="90000"/>
              </a:lnSpc>
              <a:spcBef>
                <a:spcPts val="975"/>
              </a:spcBef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170" dirty="0">
                <a:solidFill>
                  <a:srgbClr val="404040"/>
                </a:solidFill>
                <a:latin typeface="Verdana"/>
                <a:cs typeface="Verdana"/>
              </a:rPr>
              <a:t>background-</a:t>
            </a:r>
            <a:r>
              <a:rPr sz="2400" b="1" i="1" spc="-210" dirty="0">
                <a:solidFill>
                  <a:srgbClr val="404040"/>
                </a:solidFill>
                <a:latin typeface="Verdana"/>
                <a:cs typeface="Verdana"/>
              </a:rPr>
              <a:t>attachment</a:t>
            </a:r>
            <a:r>
              <a:rPr sz="2400" b="1" i="1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définit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le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comportement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l’arrière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plan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rapport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Verdana"/>
                <a:cs typeface="Verdana"/>
              </a:rPr>
              <a:t>page.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valeur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215" dirty="0">
                <a:solidFill>
                  <a:srgbClr val="404040"/>
                </a:solidFill>
                <a:latin typeface="Verdana"/>
                <a:cs typeface="Verdana"/>
              </a:rPr>
              <a:t>fixed</a:t>
            </a:r>
            <a:r>
              <a:rPr sz="2400" b="1" i="1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fixe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l’arrière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plan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tandis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Verdana"/>
                <a:cs typeface="Verdana"/>
              </a:rPr>
              <a:t>que</a:t>
            </a:r>
            <a:endParaRPr sz="2400" dirty="0">
              <a:latin typeface="Verdana"/>
              <a:cs typeface="Verdana"/>
            </a:endParaRPr>
          </a:p>
          <a:p>
            <a:pPr marL="355600">
              <a:lnSpc>
                <a:spcPts val="2590"/>
              </a:lnSpc>
            </a:pP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i="1" spc="-225" dirty="0">
                <a:solidFill>
                  <a:srgbClr val="404040"/>
                </a:solidFill>
                <a:latin typeface="Verdana"/>
                <a:cs typeface="Verdana"/>
              </a:rPr>
              <a:t>scroll</a:t>
            </a:r>
            <a:r>
              <a:rPr sz="2400" b="1" i="1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fait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défiler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avec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Verdana"/>
                <a:cs typeface="Verdana"/>
              </a:rPr>
              <a:t>page.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65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Position</a:t>
            </a:r>
            <a:r>
              <a:rPr spc="-215" dirty="0"/>
              <a:t> </a:t>
            </a:r>
            <a:r>
              <a:rPr spc="195" dirty="0"/>
              <a:t>de</a:t>
            </a:r>
            <a:r>
              <a:rPr spc="-250" dirty="0"/>
              <a:t> </a:t>
            </a:r>
            <a:r>
              <a:rPr spc="-105" dirty="0"/>
              <a:t>l’arrière</a:t>
            </a:r>
            <a:r>
              <a:rPr spc="-220" dirty="0"/>
              <a:t> </a:t>
            </a:r>
            <a:r>
              <a:rPr spc="-20" dirty="0"/>
              <a:t>plan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581639"/>
          </a:xfrm>
          <a:prstGeom prst="rect">
            <a:avLst/>
          </a:prstGeom>
        </p:spPr>
        <p:txBody>
          <a:bodyPr vert="horz" wrap="square" lIns="0" tIns="615569" rIns="0" bIns="0" rtlCol="0">
            <a:spAutoFit/>
          </a:bodyPr>
          <a:lstStyle/>
          <a:p>
            <a:pPr marL="26320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</a:t>
            </a:r>
            <a:r>
              <a:rPr spc="-150" dirty="0"/>
              <a:t> </a:t>
            </a:r>
            <a:r>
              <a:rPr spc="-75" dirty="0"/>
              <a:t>position</a:t>
            </a:r>
            <a:r>
              <a:rPr spc="-195" dirty="0"/>
              <a:t> </a:t>
            </a:r>
            <a:r>
              <a:rPr spc="130" dirty="0"/>
              <a:t>de</a:t>
            </a:r>
            <a:r>
              <a:rPr spc="-145" dirty="0"/>
              <a:t> </a:t>
            </a:r>
            <a:r>
              <a:rPr spc="-80" dirty="0"/>
              <a:t>l’arrière</a:t>
            </a:r>
            <a:r>
              <a:rPr spc="-170" dirty="0"/>
              <a:t> </a:t>
            </a:r>
            <a:r>
              <a:rPr dirty="0"/>
              <a:t>plan</a:t>
            </a:r>
            <a:r>
              <a:rPr spc="-175" dirty="0"/>
              <a:t> </a:t>
            </a:r>
            <a:r>
              <a:rPr spc="-114" dirty="0"/>
              <a:t>est</a:t>
            </a:r>
            <a:r>
              <a:rPr spc="-145" dirty="0"/>
              <a:t> </a:t>
            </a:r>
            <a:r>
              <a:rPr spc="-25" dirty="0"/>
              <a:t>définie</a:t>
            </a:r>
            <a:r>
              <a:rPr spc="-195" dirty="0"/>
              <a:t> </a:t>
            </a:r>
            <a:r>
              <a:rPr spc="110" dirty="0"/>
              <a:t>avec</a:t>
            </a:r>
          </a:p>
          <a:p>
            <a:pPr marL="2974975">
              <a:lnSpc>
                <a:spcPct val="100000"/>
              </a:lnSpc>
            </a:pPr>
            <a:r>
              <a:rPr spc="-545" dirty="0"/>
              <a:t>«</a:t>
            </a:r>
            <a:r>
              <a:rPr spc="-135" dirty="0"/>
              <a:t> </a:t>
            </a:r>
            <a:r>
              <a:rPr b="1" i="1" spc="-170" dirty="0">
                <a:latin typeface="Verdana"/>
                <a:cs typeface="Verdana"/>
              </a:rPr>
              <a:t>background-</a:t>
            </a:r>
            <a:r>
              <a:rPr b="1" i="1" spc="-235" dirty="0">
                <a:latin typeface="Verdana"/>
                <a:cs typeface="Verdana"/>
              </a:rPr>
              <a:t>position</a:t>
            </a:r>
            <a:r>
              <a:rPr b="1" i="1" spc="-114" dirty="0">
                <a:latin typeface="Verdana"/>
                <a:cs typeface="Verdana"/>
              </a:rPr>
              <a:t> </a:t>
            </a:r>
            <a:r>
              <a:rPr spc="-595" dirty="0"/>
              <a:t>»</a:t>
            </a:r>
          </a:p>
          <a:p>
            <a:pPr marL="2632075">
              <a:lnSpc>
                <a:spcPct val="100000"/>
              </a:lnSpc>
              <a:spcBef>
                <a:spcPts val="994"/>
              </a:spcBef>
            </a:pPr>
            <a:r>
              <a:rPr spc="-100" dirty="0"/>
              <a:t>Des</a:t>
            </a:r>
            <a:r>
              <a:rPr spc="-155" dirty="0"/>
              <a:t> </a:t>
            </a:r>
            <a:r>
              <a:rPr spc="-105" dirty="0"/>
              <a:t>valeurs</a:t>
            </a:r>
            <a:r>
              <a:rPr spc="-190" dirty="0"/>
              <a:t> </a:t>
            </a:r>
            <a:r>
              <a:rPr spc="70" dirty="0"/>
              <a:t>comme</a:t>
            </a:r>
            <a:r>
              <a:rPr spc="-160" dirty="0"/>
              <a:t> </a:t>
            </a:r>
            <a:r>
              <a:rPr spc="-545" dirty="0"/>
              <a:t>«</a:t>
            </a:r>
            <a:r>
              <a:rPr spc="-155" dirty="0"/>
              <a:t> </a:t>
            </a:r>
            <a:r>
              <a:rPr b="1" i="1" spc="-265" dirty="0">
                <a:latin typeface="Verdana"/>
                <a:cs typeface="Verdana"/>
              </a:rPr>
              <a:t>left</a:t>
            </a:r>
            <a:r>
              <a:rPr b="1" i="1" spc="-120" dirty="0">
                <a:latin typeface="Verdana"/>
                <a:cs typeface="Verdana"/>
              </a:rPr>
              <a:t> </a:t>
            </a:r>
            <a:r>
              <a:rPr b="1" i="1" spc="-200" dirty="0">
                <a:latin typeface="Verdana"/>
                <a:cs typeface="Verdana"/>
              </a:rPr>
              <a:t>top</a:t>
            </a:r>
            <a:r>
              <a:rPr b="1" i="1" spc="-130" dirty="0">
                <a:latin typeface="Verdana"/>
                <a:cs typeface="Verdana"/>
              </a:rPr>
              <a:t> </a:t>
            </a:r>
            <a:r>
              <a:rPr spc="-390" dirty="0"/>
              <a:t>»,</a:t>
            </a:r>
            <a:r>
              <a:rPr spc="-150" dirty="0"/>
              <a:t> </a:t>
            </a:r>
            <a:r>
              <a:rPr spc="-545" dirty="0"/>
              <a:t>«</a:t>
            </a:r>
            <a:r>
              <a:rPr spc="-150" dirty="0"/>
              <a:t> </a:t>
            </a:r>
            <a:r>
              <a:rPr b="1" i="1" spc="-195" dirty="0">
                <a:latin typeface="Verdana"/>
                <a:cs typeface="Verdana"/>
              </a:rPr>
              <a:t>center</a:t>
            </a:r>
            <a:r>
              <a:rPr b="1" i="1" spc="-130" dirty="0">
                <a:latin typeface="Verdana"/>
                <a:cs typeface="Verdana"/>
              </a:rPr>
              <a:t> </a:t>
            </a:r>
            <a:r>
              <a:rPr b="1" i="1" spc="-195" dirty="0">
                <a:latin typeface="Verdana"/>
                <a:cs typeface="Verdana"/>
              </a:rPr>
              <a:t>center</a:t>
            </a:r>
            <a:r>
              <a:rPr b="1" i="1" spc="-145" dirty="0">
                <a:latin typeface="Verdana"/>
                <a:cs typeface="Verdana"/>
              </a:rPr>
              <a:t> </a:t>
            </a:r>
            <a:r>
              <a:rPr spc="-545" dirty="0"/>
              <a:t>»</a:t>
            </a:r>
            <a:r>
              <a:rPr spc="-155" dirty="0"/>
              <a:t> </a:t>
            </a:r>
            <a:r>
              <a:rPr spc="-1195" dirty="0"/>
              <a:t>ou</a:t>
            </a:r>
          </a:p>
          <a:p>
            <a:pPr marL="2974975">
              <a:lnSpc>
                <a:spcPct val="100000"/>
              </a:lnSpc>
            </a:pPr>
            <a:r>
              <a:rPr spc="-545" dirty="0"/>
              <a:t>«</a:t>
            </a:r>
            <a:r>
              <a:rPr spc="-155" dirty="0"/>
              <a:t> </a:t>
            </a:r>
            <a:r>
              <a:rPr b="1" i="1" spc="-235" dirty="0">
                <a:latin typeface="Verdana"/>
                <a:cs typeface="Verdana"/>
              </a:rPr>
              <a:t>bottom</a:t>
            </a:r>
            <a:r>
              <a:rPr b="1" i="1" spc="-114" dirty="0">
                <a:latin typeface="Verdana"/>
                <a:cs typeface="Verdana"/>
              </a:rPr>
              <a:t> </a:t>
            </a:r>
            <a:r>
              <a:rPr b="1" i="1" spc="-290" dirty="0">
                <a:latin typeface="Verdana"/>
                <a:cs typeface="Verdana"/>
              </a:rPr>
              <a:t>right</a:t>
            </a:r>
            <a:r>
              <a:rPr b="1" i="1" spc="-145" dirty="0">
                <a:latin typeface="Verdana"/>
                <a:cs typeface="Verdana"/>
              </a:rPr>
              <a:t> </a:t>
            </a:r>
            <a:r>
              <a:rPr spc="-545" dirty="0"/>
              <a:t>»</a:t>
            </a:r>
            <a:r>
              <a:rPr spc="-150" dirty="0"/>
              <a:t> </a:t>
            </a:r>
            <a:r>
              <a:rPr spc="-110" dirty="0"/>
              <a:t>sont</a:t>
            </a:r>
            <a:r>
              <a:rPr spc="-155" dirty="0"/>
              <a:t> </a:t>
            </a:r>
            <a:r>
              <a:rPr spc="80" dirty="0"/>
              <a:t>acceptées</a:t>
            </a:r>
          </a:p>
          <a:p>
            <a:pPr marL="2632075">
              <a:lnSpc>
                <a:spcPct val="100000"/>
              </a:lnSpc>
              <a:spcBef>
                <a:spcPts val="1010"/>
              </a:spcBef>
            </a:pPr>
            <a:r>
              <a:rPr spc="-55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pc="-160" dirty="0"/>
              <a:t>Les</a:t>
            </a:r>
            <a:r>
              <a:rPr spc="-140" dirty="0"/>
              <a:t> </a:t>
            </a:r>
            <a:r>
              <a:rPr spc="-40" dirty="0"/>
              <a:t>propriété</a:t>
            </a:r>
            <a:r>
              <a:rPr spc="-145" dirty="0"/>
              <a:t> </a:t>
            </a:r>
            <a:r>
              <a:rPr spc="-545" dirty="0"/>
              <a:t>«</a:t>
            </a:r>
            <a:r>
              <a:rPr spc="-130" dirty="0"/>
              <a:t> </a:t>
            </a:r>
            <a:r>
              <a:rPr b="1" i="1" spc="-170" dirty="0">
                <a:latin typeface="Verdana"/>
                <a:cs typeface="Verdana"/>
              </a:rPr>
              <a:t>background-</a:t>
            </a:r>
            <a:r>
              <a:rPr b="1" i="1" spc="-229" dirty="0">
                <a:latin typeface="Verdana"/>
                <a:cs typeface="Verdana"/>
              </a:rPr>
              <a:t>position-</a:t>
            </a:r>
            <a:r>
              <a:rPr b="1" i="1" spc="-260" dirty="0">
                <a:latin typeface="Verdana"/>
                <a:cs typeface="Verdana"/>
              </a:rPr>
              <a:t>x</a:t>
            </a:r>
            <a:r>
              <a:rPr b="1" i="1" spc="-105" dirty="0">
                <a:latin typeface="Verdana"/>
                <a:cs typeface="Verdana"/>
              </a:rPr>
              <a:t> </a:t>
            </a:r>
            <a:r>
              <a:rPr spc="-545" dirty="0"/>
              <a:t>»</a:t>
            </a:r>
            <a:r>
              <a:rPr spc="-160" dirty="0"/>
              <a:t> </a:t>
            </a:r>
            <a:r>
              <a:rPr spc="-25" dirty="0"/>
              <a:t>et</a:t>
            </a:r>
          </a:p>
          <a:p>
            <a:pPr marL="2974975" marR="5080">
              <a:lnSpc>
                <a:spcPct val="99800"/>
              </a:lnSpc>
              <a:spcBef>
                <a:spcPts val="10"/>
              </a:spcBef>
            </a:pPr>
            <a:r>
              <a:rPr spc="-545" dirty="0"/>
              <a:t>«</a:t>
            </a:r>
            <a:r>
              <a:rPr spc="-135" dirty="0"/>
              <a:t> </a:t>
            </a:r>
            <a:r>
              <a:rPr b="1" i="1" spc="-170" dirty="0">
                <a:latin typeface="Verdana"/>
                <a:cs typeface="Verdana"/>
              </a:rPr>
              <a:t>background-</a:t>
            </a:r>
            <a:r>
              <a:rPr b="1" i="1" spc="-235" dirty="0">
                <a:latin typeface="Verdana"/>
                <a:cs typeface="Verdana"/>
              </a:rPr>
              <a:t>position-</a:t>
            </a:r>
            <a:r>
              <a:rPr b="1" i="1" spc="-180" dirty="0">
                <a:latin typeface="Verdana"/>
                <a:cs typeface="Verdana"/>
              </a:rPr>
              <a:t>y</a:t>
            </a:r>
            <a:r>
              <a:rPr b="1" i="1" spc="-120" dirty="0">
                <a:latin typeface="Verdana"/>
                <a:cs typeface="Verdana"/>
              </a:rPr>
              <a:t> </a:t>
            </a:r>
            <a:r>
              <a:rPr spc="-545" dirty="0"/>
              <a:t>»</a:t>
            </a:r>
            <a:r>
              <a:rPr spc="-135" dirty="0"/>
              <a:t> </a:t>
            </a:r>
            <a:r>
              <a:rPr spc="-95" dirty="0"/>
              <a:t>définissent</a:t>
            </a:r>
            <a:r>
              <a:rPr spc="-160" dirty="0"/>
              <a:t> </a:t>
            </a:r>
            <a:r>
              <a:rPr spc="-35" dirty="0"/>
              <a:t>le</a:t>
            </a:r>
            <a:r>
              <a:rPr spc="-140" dirty="0"/>
              <a:t> </a:t>
            </a:r>
            <a:r>
              <a:rPr spc="120" dirty="0"/>
              <a:t>décalage</a:t>
            </a:r>
            <a:r>
              <a:rPr spc="-150" dirty="0"/>
              <a:t> </a:t>
            </a:r>
            <a:r>
              <a:rPr spc="105" dirty="0"/>
              <a:t>de </a:t>
            </a:r>
            <a:r>
              <a:rPr spc="-80" dirty="0"/>
              <a:t>l’arrière</a:t>
            </a:r>
            <a:r>
              <a:rPr spc="-175" dirty="0"/>
              <a:t> </a:t>
            </a:r>
            <a:r>
              <a:rPr spc="-30" dirty="0"/>
              <a:t>plan.</a:t>
            </a:r>
            <a:r>
              <a:rPr spc="-160" dirty="0"/>
              <a:t> Les</a:t>
            </a:r>
            <a:r>
              <a:rPr spc="-135" dirty="0"/>
              <a:t> </a:t>
            </a:r>
            <a:r>
              <a:rPr spc="-100" dirty="0"/>
              <a:t>valeurs</a:t>
            </a:r>
            <a:r>
              <a:rPr spc="-170" dirty="0"/>
              <a:t> </a:t>
            </a:r>
            <a:r>
              <a:rPr spc="-10" dirty="0"/>
              <a:t>peuvent</a:t>
            </a:r>
            <a:r>
              <a:rPr spc="-165" dirty="0"/>
              <a:t> </a:t>
            </a:r>
            <a:r>
              <a:rPr spc="-50" dirty="0"/>
              <a:t>être</a:t>
            </a:r>
            <a:r>
              <a:rPr spc="-140" dirty="0"/>
              <a:t> </a:t>
            </a:r>
            <a:r>
              <a:rPr dirty="0"/>
              <a:t>en</a:t>
            </a:r>
            <a:r>
              <a:rPr spc="-140" dirty="0"/>
              <a:t> </a:t>
            </a:r>
            <a:r>
              <a:rPr spc="-90" dirty="0"/>
              <a:t>pixel</a:t>
            </a:r>
            <a:r>
              <a:rPr spc="-170" dirty="0"/>
              <a:t> </a:t>
            </a:r>
            <a:r>
              <a:rPr dirty="0"/>
              <a:t>ou</a:t>
            </a:r>
            <a:r>
              <a:rPr spc="-140" dirty="0"/>
              <a:t> </a:t>
            </a:r>
            <a:r>
              <a:rPr spc="-25" dirty="0"/>
              <a:t>en </a:t>
            </a:r>
            <a:r>
              <a:rPr spc="-10" dirty="0"/>
              <a:t>pourcentage.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66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10369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Alias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724265" cy="16183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19710" indent="-342900">
              <a:lnSpc>
                <a:spcPct val="100000"/>
              </a:lnSpc>
              <a:spcBef>
                <a:spcPts val="100"/>
              </a:spcBef>
            </a:pPr>
            <a:r>
              <a:rPr sz="2400" spc="-130" dirty="0" err="1">
                <a:solidFill>
                  <a:srgbClr val="404040"/>
                </a:solidFill>
                <a:latin typeface="Verdana"/>
                <a:cs typeface="Verdana"/>
              </a:rPr>
              <a:t>Toutes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valeurs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l’arrière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plan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peuvent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400" spc="6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10" dirty="0">
                <a:solidFill>
                  <a:srgbClr val="404040"/>
                </a:solidFill>
                <a:latin typeface="Verdana"/>
                <a:cs typeface="Verdana"/>
              </a:rPr>
              <a:t>utilisées</a:t>
            </a:r>
            <a:r>
              <a:rPr sz="24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avec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l’alias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background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9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400" spc="-60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Ordre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25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couleur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400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image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400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répétition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400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attachement </a:t>
            </a:r>
            <a:r>
              <a:rPr sz="2400" spc="-5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endParaRPr sz="2400" dirty="0">
              <a:latin typeface="Wingdings"/>
              <a:cs typeface="Wingdings"/>
            </a:endParaRPr>
          </a:p>
          <a:p>
            <a:pPr marL="355600">
              <a:lnSpc>
                <a:spcPct val="100000"/>
              </a:lnSpc>
              <a:spcBef>
                <a:spcPts val="10"/>
              </a:spcBef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position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67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9276" y="4358640"/>
            <a:ext cx="8551545" cy="9239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background</a:t>
            </a:r>
            <a:r>
              <a:rPr sz="1800" dirty="0">
                <a:latin typeface="Consolas"/>
                <a:cs typeface="Consolas"/>
              </a:rPr>
              <a:t>: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red</a:t>
            </a:r>
            <a:r>
              <a:rPr sz="18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url("Images/bois.jpg")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repeat-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y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scroll</a:t>
            </a:r>
            <a:r>
              <a:rPr sz="18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0</a:t>
            </a:r>
            <a:r>
              <a:rPr sz="180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0</a:t>
            </a:r>
            <a:r>
              <a:rPr sz="1800" spc="-2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Dégradés</a:t>
            </a:r>
            <a:r>
              <a:rPr spc="-270" dirty="0"/>
              <a:t> </a:t>
            </a:r>
            <a:r>
              <a:rPr spc="-345" dirty="0"/>
              <a:t>CSS3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105775" cy="198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31775" indent="-34290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CSS3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introduit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possibilité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définir</a:t>
            </a:r>
            <a:r>
              <a:rPr sz="2400" spc="-2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5" dirty="0">
                <a:solidFill>
                  <a:srgbClr val="404040"/>
                </a:solidFill>
                <a:latin typeface="Verdana"/>
                <a:cs typeface="Verdana"/>
              </a:rPr>
              <a:t>dégradés</a:t>
            </a:r>
            <a:r>
              <a:rPr sz="24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directement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utilisant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Verdana"/>
                <a:cs typeface="Verdana"/>
              </a:rPr>
              <a:t>background-</a:t>
            </a:r>
            <a:r>
              <a:rPr sz="2400" spc="-229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404040"/>
                </a:solidFill>
                <a:latin typeface="Verdana"/>
                <a:cs typeface="Verdana"/>
              </a:rPr>
              <a:t>image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sans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passer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images</a:t>
            </a:r>
            <a:r>
              <a:rPr lang="fr-FR" sz="2400" spc="-30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2400" dirty="0">
              <a:latin typeface="Verdana"/>
              <a:cs typeface="Verdana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285" dirty="0">
                <a:solidFill>
                  <a:srgbClr val="404040"/>
                </a:solidFill>
                <a:latin typeface="Verdana"/>
                <a:cs typeface="Verdana"/>
              </a:rPr>
              <a:t>CSS3</a:t>
            </a:r>
            <a:r>
              <a:rPr sz="2400" spc="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supporte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dégradés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linéaires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35" dirty="0" err="1">
                <a:solidFill>
                  <a:srgbClr val="404040"/>
                </a:solidFill>
                <a:latin typeface="Verdana"/>
                <a:cs typeface="Verdana"/>
              </a:rPr>
              <a:t>dégradés</a:t>
            </a:r>
            <a:r>
              <a:rPr sz="2400" spc="-6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 err="1">
                <a:solidFill>
                  <a:srgbClr val="404040"/>
                </a:solidFill>
                <a:latin typeface="Verdana"/>
                <a:cs typeface="Verdana"/>
              </a:rPr>
              <a:t>radiaux</a:t>
            </a:r>
            <a:r>
              <a:rPr lang="fr-FR" sz="2400" spc="-10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68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Dégradés</a:t>
            </a:r>
            <a:r>
              <a:rPr spc="-270" dirty="0"/>
              <a:t> </a:t>
            </a:r>
            <a:r>
              <a:rPr spc="-120" dirty="0"/>
              <a:t>linéaires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710295" cy="137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5945" indent="-342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background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25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linear-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gradient(x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y,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couleur1,</a:t>
            </a:r>
            <a:r>
              <a:rPr lang="fr-FR" sz="2400" spc="-110" dirty="0">
                <a:solidFill>
                  <a:srgbClr val="404040"/>
                </a:solidFill>
                <a:latin typeface="Verdana"/>
                <a:cs typeface="Verdana"/>
              </a:rPr>
              <a:t>..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 couleurN)</a:t>
            </a:r>
            <a:endParaRPr sz="2400" dirty="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</a:pPr>
            <a:r>
              <a:rPr sz="2400" spc="-254" dirty="0">
                <a:solidFill>
                  <a:srgbClr val="404040"/>
                </a:solidFill>
                <a:latin typeface="Verdana"/>
                <a:cs typeface="Verdana"/>
              </a:rPr>
              <a:t>x,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y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25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direction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(to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left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/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right,</a:t>
            </a:r>
            <a:r>
              <a:rPr sz="2400" spc="-2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top,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bottom,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)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Couleurs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25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couleurs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constituant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404040"/>
                </a:solidFill>
                <a:latin typeface="Verdana"/>
                <a:cs typeface="Verdana"/>
              </a:rPr>
              <a:t>dégradé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69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Dégradés</a:t>
            </a:r>
            <a:r>
              <a:rPr spc="-270" dirty="0"/>
              <a:t> </a:t>
            </a:r>
            <a:r>
              <a:rPr spc="-45" dirty="0"/>
              <a:t>radiaux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8515" y="1558289"/>
            <a:ext cx="11205845" cy="2601610"/>
          </a:xfrm>
          <a:prstGeom prst="rect">
            <a:avLst/>
          </a:prstGeom>
        </p:spPr>
        <p:txBody>
          <a:bodyPr vert="horz" wrap="square" lIns="0" tIns="615569" rIns="0" bIns="0" rtlCol="0">
            <a:spAutoFit/>
          </a:bodyPr>
          <a:lstStyle/>
          <a:p>
            <a:pPr marL="2632075" marR="508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dirty="0"/>
              <a:t>background</a:t>
            </a:r>
            <a:r>
              <a:rPr spc="-95" dirty="0"/>
              <a:t> </a:t>
            </a:r>
            <a:r>
              <a:rPr spc="-425" dirty="0"/>
              <a:t>:</a:t>
            </a:r>
            <a:r>
              <a:rPr spc="-100" dirty="0"/>
              <a:t> </a:t>
            </a:r>
            <a:r>
              <a:rPr spc="-75" dirty="0"/>
              <a:t>radial-</a:t>
            </a:r>
            <a:r>
              <a:rPr spc="-60" dirty="0"/>
              <a:t>gradient(ellipse</a:t>
            </a:r>
            <a:r>
              <a:rPr spc="-130" dirty="0"/>
              <a:t> </a:t>
            </a:r>
            <a:r>
              <a:rPr dirty="0"/>
              <a:t>at</a:t>
            </a:r>
            <a:r>
              <a:rPr spc="-120" dirty="0"/>
              <a:t> </a:t>
            </a:r>
            <a:r>
              <a:rPr spc="-254" dirty="0"/>
              <a:t>x,</a:t>
            </a:r>
            <a:r>
              <a:rPr spc="-120" dirty="0"/>
              <a:t> </a:t>
            </a:r>
            <a:r>
              <a:rPr spc="-190" dirty="0"/>
              <a:t>y,</a:t>
            </a:r>
            <a:r>
              <a:rPr spc="-65" dirty="0"/>
              <a:t> couleur2,</a:t>
            </a:r>
            <a:r>
              <a:rPr spc="-165" dirty="0"/>
              <a:t> </a:t>
            </a:r>
            <a:r>
              <a:rPr spc="-10" dirty="0"/>
              <a:t>couleurN)</a:t>
            </a:r>
          </a:p>
          <a:p>
            <a:pPr marL="2632075">
              <a:lnSpc>
                <a:spcPct val="100000"/>
              </a:lnSpc>
              <a:spcBef>
                <a:spcPts val="994"/>
              </a:spcBef>
            </a:pPr>
            <a:r>
              <a:rPr lang="fr-FR" spc="-254" dirty="0"/>
              <a:t>-  </a:t>
            </a:r>
            <a:r>
              <a:rPr spc="-254" dirty="0"/>
              <a:t>x,</a:t>
            </a:r>
            <a:r>
              <a:rPr spc="-180" dirty="0"/>
              <a:t> </a:t>
            </a:r>
            <a:r>
              <a:rPr spc="-150" dirty="0"/>
              <a:t>y</a:t>
            </a:r>
            <a:r>
              <a:rPr spc="-165" dirty="0"/>
              <a:t> </a:t>
            </a:r>
            <a:r>
              <a:rPr spc="-425" dirty="0"/>
              <a:t>:</a:t>
            </a:r>
            <a:r>
              <a:rPr spc="-180" dirty="0"/>
              <a:t> </a:t>
            </a:r>
            <a:r>
              <a:rPr spc="-30" dirty="0"/>
              <a:t>direction</a:t>
            </a:r>
            <a:r>
              <a:rPr spc="-195" dirty="0"/>
              <a:t> </a:t>
            </a:r>
            <a:r>
              <a:rPr spc="-75" dirty="0"/>
              <a:t>(top,</a:t>
            </a:r>
            <a:r>
              <a:rPr spc="-180" dirty="0"/>
              <a:t> </a:t>
            </a:r>
            <a:r>
              <a:rPr spc="-10" dirty="0"/>
              <a:t>center,…)</a:t>
            </a:r>
          </a:p>
          <a:p>
            <a:pPr marL="2632075">
              <a:lnSpc>
                <a:spcPct val="100000"/>
              </a:lnSpc>
              <a:spcBef>
                <a:spcPts val="994"/>
              </a:spcBef>
            </a:pPr>
            <a:r>
              <a:rPr lang="fr-FR" spc="-65" dirty="0"/>
              <a:t>- </a:t>
            </a:r>
            <a:r>
              <a:rPr spc="-65" dirty="0"/>
              <a:t>Couleurs</a:t>
            </a:r>
            <a:r>
              <a:rPr spc="-145" dirty="0"/>
              <a:t> </a:t>
            </a:r>
            <a:r>
              <a:rPr spc="-425" dirty="0"/>
              <a:t>:</a:t>
            </a:r>
            <a:r>
              <a:rPr spc="-180" dirty="0"/>
              <a:t> </a:t>
            </a:r>
            <a:r>
              <a:rPr spc="-60" dirty="0"/>
              <a:t>couleurs</a:t>
            </a:r>
            <a:r>
              <a:rPr spc="-145" dirty="0"/>
              <a:t> </a:t>
            </a:r>
            <a:r>
              <a:rPr spc="-55" dirty="0"/>
              <a:t>constituant</a:t>
            </a:r>
            <a:r>
              <a:rPr spc="-185" dirty="0"/>
              <a:t> </a:t>
            </a:r>
            <a:r>
              <a:rPr spc="-35" dirty="0"/>
              <a:t>le</a:t>
            </a:r>
            <a:r>
              <a:rPr spc="-155" dirty="0"/>
              <a:t> </a:t>
            </a:r>
            <a:r>
              <a:rPr spc="60" dirty="0"/>
              <a:t>dégradé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70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EFA1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239467"/>
            <a:ext cx="7404734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75" dirty="0"/>
              <a:t> </a:t>
            </a:r>
            <a:r>
              <a:rPr sz="4000" spc="-330" dirty="0"/>
              <a:t>8</a:t>
            </a:r>
            <a:r>
              <a:rPr sz="4000" spc="-285" dirty="0"/>
              <a:t> </a:t>
            </a:r>
            <a:r>
              <a:rPr sz="4000" spc="-710" dirty="0"/>
              <a:t>:</a:t>
            </a:r>
            <a:r>
              <a:rPr sz="4000" spc="-290" dirty="0"/>
              <a:t> </a:t>
            </a:r>
            <a:r>
              <a:rPr sz="4000" spc="-254" dirty="0"/>
              <a:t>Les</a:t>
            </a:r>
            <a:r>
              <a:rPr sz="4000" spc="-275" dirty="0"/>
              <a:t> </a:t>
            </a:r>
            <a:r>
              <a:rPr sz="4000" spc="-225" dirty="0"/>
              <a:t>transitions</a:t>
            </a:r>
            <a:r>
              <a:rPr sz="4000" spc="-290" dirty="0"/>
              <a:t> </a:t>
            </a:r>
            <a:r>
              <a:rPr sz="4000" dirty="0"/>
              <a:t>et</a:t>
            </a:r>
            <a:r>
              <a:rPr sz="4000" spc="-285" dirty="0"/>
              <a:t> </a:t>
            </a:r>
            <a:r>
              <a:rPr sz="4000" spc="-145" dirty="0"/>
              <a:t>les </a:t>
            </a:r>
            <a:r>
              <a:rPr sz="4000" spc="-170" dirty="0"/>
              <a:t>transformations</a:t>
            </a:r>
            <a:r>
              <a:rPr sz="4000" spc="-275" dirty="0"/>
              <a:t> </a:t>
            </a:r>
            <a:r>
              <a:rPr sz="4000" spc="-365" dirty="0"/>
              <a:t>(CSS3)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72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188325" cy="28546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63855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transitions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CSS3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permettent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aux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40" dirty="0">
                <a:solidFill>
                  <a:srgbClr val="404040"/>
                </a:solidFill>
                <a:latin typeface="Verdana"/>
                <a:cs typeface="Verdana"/>
              </a:rPr>
              <a:t>développeurs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d’effectuer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animations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simples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sans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passer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par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JavaScript</a:t>
            </a:r>
            <a:endParaRPr sz="2400" dirty="0">
              <a:latin typeface="Verdana"/>
              <a:cs typeface="Verdana"/>
            </a:endParaRPr>
          </a:p>
          <a:p>
            <a:pPr marL="355600" marR="354965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principe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transitions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changer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lang="fr-FR" sz="2400" spc="-25" dirty="0">
                <a:solidFill>
                  <a:srgbClr val="404040"/>
                </a:solidFill>
                <a:latin typeface="Verdana"/>
                <a:cs typeface="Verdana"/>
              </a:rPr>
              <a:t> valeur </a:t>
            </a:r>
            <a:r>
              <a:rPr sz="2400" spc="65" dirty="0" err="1">
                <a:solidFill>
                  <a:srgbClr val="404040"/>
                </a:solidFill>
                <a:latin typeface="Verdana"/>
                <a:cs typeface="Verdana"/>
              </a:rPr>
              <a:t>d’une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29" dirty="0">
                <a:solidFill>
                  <a:srgbClr val="404040"/>
                </a:solidFill>
                <a:latin typeface="Verdana"/>
                <a:cs typeface="Verdana"/>
              </a:rPr>
              <a:t>CSS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Verdana"/>
                <a:cs typeface="Verdana"/>
              </a:rPr>
              <a:t>d’une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manière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Verdana"/>
                <a:cs typeface="Verdana"/>
              </a:rPr>
              <a:t>douce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et 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progressive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404040"/>
                </a:solidFill>
                <a:latin typeface="Verdana"/>
                <a:cs typeface="Verdana"/>
              </a:rPr>
              <a:t>ce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qui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donne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l’effet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Verdana"/>
                <a:cs typeface="Verdana"/>
              </a:rPr>
              <a:t>d’une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animation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400" spc="-95" dirty="0" err="1">
                <a:solidFill>
                  <a:srgbClr val="404040"/>
                </a:solidFill>
                <a:latin typeface="Verdana"/>
                <a:cs typeface="Verdana"/>
              </a:rPr>
              <a:t>Exemples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25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changer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couleur,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dimension,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Propriétés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0" y="5867400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F0000"/>
                </a:solidFill>
                <a:latin typeface="Verdana"/>
                <a:cs typeface="Verdana"/>
              </a:rPr>
              <a:t>74</a:t>
            </a:r>
            <a:endParaRPr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4167" y="1765045"/>
          <a:ext cx="10737215" cy="363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4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4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Propriété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FA12D"/>
                      </a:solidFill>
                      <a:prstDash val="solid"/>
                    </a:lnL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12700">
                      <a:solidFill>
                        <a:srgbClr val="EFA12D"/>
                      </a:solidFill>
                      <a:prstDash val="solid"/>
                    </a:lnR>
                    <a:solidFill>
                      <a:srgbClr val="EFA1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0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5" dirty="0">
                          <a:latin typeface="Verdana"/>
                          <a:cs typeface="Verdana"/>
                        </a:rPr>
                        <a:t>transition-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property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FA12D"/>
                      </a:solidFill>
                      <a:prstDash val="solid"/>
                    </a:lnL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379095" marR="3790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70" dirty="0">
                          <a:latin typeface="Verdana"/>
                          <a:cs typeface="Verdana"/>
                        </a:rPr>
                        <a:t>Propriétés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animer.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Peut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être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b="1" i="1" spc="-135" dirty="0">
                          <a:latin typeface="Verdana"/>
                          <a:cs typeface="Verdana"/>
                        </a:rPr>
                        <a:t>all</a:t>
                      </a:r>
                      <a:r>
                        <a:rPr sz="1800" b="1" i="1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»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pour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toutes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propriétés animables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ou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b="1" i="1" spc="-150" dirty="0">
                          <a:latin typeface="Verdana"/>
                          <a:cs typeface="Verdana"/>
                        </a:rPr>
                        <a:t>none</a:t>
                      </a:r>
                      <a:r>
                        <a:rPr sz="1800" b="1" i="1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»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pour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aucune.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Peut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aussi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contenir 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plusieurs 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noms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0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propriétés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condition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que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ces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propriétés 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soient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animables.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EFA12D"/>
                      </a:solidFill>
                      <a:prstDash val="solid"/>
                    </a:lnR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5" dirty="0">
                          <a:latin typeface="Verdana"/>
                          <a:cs typeface="Verdana"/>
                        </a:rPr>
                        <a:t>transition-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duration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79095" marR="14560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5" dirty="0">
                          <a:latin typeface="Verdana"/>
                          <a:cs typeface="Verdana"/>
                        </a:rPr>
                        <a:t>Durée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transition.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Spécifiée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en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secondes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70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800" b="1" spc="-17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800" spc="-170" dirty="0">
                          <a:latin typeface="Verdana"/>
                          <a:cs typeface="Verdana"/>
                        </a:rPr>
                        <a:t>)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ou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millisecondes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800" b="1" spc="-20" dirty="0">
                          <a:latin typeface="Tahoma"/>
                          <a:cs typeface="Tahoma"/>
                        </a:rPr>
                        <a:t>ms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).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5" dirty="0">
                          <a:latin typeface="Verdana"/>
                          <a:cs typeface="Verdana"/>
                        </a:rPr>
                        <a:t>transition-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timing-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function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Verdana"/>
                          <a:cs typeface="Verdana"/>
                        </a:rPr>
                        <a:t>Fonction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d’interpolation,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gère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vitesse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l’animation.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5" dirty="0">
                          <a:latin typeface="Verdana"/>
                          <a:cs typeface="Verdana"/>
                        </a:rPr>
                        <a:t>transition-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delay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Retard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ou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80" dirty="0">
                          <a:latin typeface="Verdana"/>
                          <a:cs typeface="Verdana"/>
                        </a:rPr>
                        <a:t>avance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transition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(en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secondes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ou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millisecondes)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transition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114" dirty="0">
                          <a:latin typeface="Verdana"/>
                          <a:cs typeface="Verdana"/>
                        </a:rPr>
                        <a:t>Un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alias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pour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paramètres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transition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4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transition-</a:t>
            </a:r>
            <a:r>
              <a:rPr spc="-185" dirty="0"/>
              <a:t>timing-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74803" y="5638800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F0000"/>
                </a:solidFill>
                <a:latin typeface="Verdana"/>
                <a:cs typeface="Verdana"/>
              </a:rPr>
              <a:t>75</a:t>
            </a:r>
            <a:endParaRPr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4167" y="1765045"/>
          <a:ext cx="10737849" cy="2498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7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Propriété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FA12D"/>
                      </a:solidFill>
                      <a:prstDash val="solid"/>
                    </a:lnL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112331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12700">
                      <a:solidFill>
                        <a:srgbClr val="EFA12D"/>
                      </a:solidFill>
                      <a:prstDash val="solid"/>
                    </a:lnR>
                    <a:solidFill>
                      <a:srgbClr val="EFA1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Verdana"/>
                          <a:cs typeface="Verdana"/>
                        </a:rPr>
                        <a:t>ease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FA12D"/>
                      </a:solidFill>
                      <a:prstDash val="solid"/>
                    </a:lnL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1233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Rapide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au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début,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lent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fin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EFA12D"/>
                      </a:solidFill>
                      <a:prstDash val="solid"/>
                    </a:lnR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linear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233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85" dirty="0">
                          <a:latin typeface="Verdana"/>
                          <a:cs typeface="Verdana"/>
                        </a:rPr>
                        <a:t>Vitesse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constante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ease-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in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1233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70" dirty="0">
                          <a:latin typeface="Verdana"/>
                          <a:cs typeface="Verdana"/>
                        </a:rPr>
                        <a:t>Lent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au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début,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rapide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fin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ease-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in-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out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233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70" dirty="0">
                          <a:latin typeface="Verdana"/>
                          <a:cs typeface="Verdana"/>
                        </a:rPr>
                        <a:t>Lent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au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début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et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fin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steps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123315" marR="2019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Exécute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l’animation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en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plusieurs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étapes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discrètes.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Par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exemple 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steps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45" dirty="0">
                          <a:latin typeface="Verdana"/>
                          <a:cs typeface="Verdana"/>
                        </a:rPr>
                        <a:t>(5,start)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ou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steps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(3,end)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début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ou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fin.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Propriétés</a:t>
            </a:r>
            <a:r>
              <a:rPr spc="-165" dirty="0"/>
              <a:t> </a:t>
            </a:r>
            <a:r>
              <a:rPr spc="-20" dirty="0"/>
              <a:t>animables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601710" cy="24852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liste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propriétés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animables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disponibles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sur </a:t>
            </a:r>
            <a:r>
              <a:rPr sz="2400" u="sng" spc="-130" dirty="0">
                <a:solidFill>
                  <a:srgbClr val="AC1F1F"/>
                </a:solidFill>
                <a:uFill>
                  <a:solidFill>
                    <a:srgbClr val="AC1F1F"/>
                  </a:solidFill>
                </a:uFill>
                <a:latin typeface="Verdana"/>
                <a:cs typeface="Verdana"/>
              </a:rPr>
              <a:t>http://www.w3.org/TR/css3-</a:t>
            </a:r>
            <a:r>
              <a:rPr sz="2400" u="sng" spc="-120" dirty="0">
                <a:solidFill>
                  <a:srgbClr val="AC1F1F"/>
                </a:solidFill>
                <a:uFill>
                  <a:solidFill>
                    <a:srgbClr val="AC1F1F"/>
                  </a:solidFill>
                </a:uFill>
                <a:latin typeface="Verdana"/>
                <a:cs typeface="Verdana"/>
              </a:rPr>
              <a:t>transitions/</a:t>
            </a:r>
            <a:endParaRPr sz="2400" dirty="0">
              <a:latin typeface="Verdana"/>
              <a:cs typeface="Verdana"/>
            </a:endParaRPr>
          </a:p>
          <a:p>
            <a:pPr marL="355600" marR="12827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Pour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qu’une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soit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animable,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 err="1">
                <a:solidFill>
                  <a:srgbClr val="404040"/>
                </a:solidFill>
                <a:latin typeface="Verdana"/>
                <a:cs typeface="Verdana"/>
              </a:rPr>
              <a:t>navigateur</a:t>
            </a:r>
            <a:r>
              <a:rPr lang="fr-FR" sz="2400" spc="-10" dirty="0">
                <a:solidFill>
                  <a:srgbClr val="404040"/>
                </a:solidFill>
                <a:latin typeface="Verdana"/>
                <a:cs typeface="Verdana"/>
              </a:rPr>
              <a:t> doit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capable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faire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interpolations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dessus.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Par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exemple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couleurs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dimensions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animables.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59323" y="5562600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F0000"/>
                </a:solidFill>
                <a:latin typeface="Verdana"/>
                <a:cs typeface="Verdana"/>
              </a:rPr>
              <a:t>76</a:t>
            </a:r>
            <a:endParaRPr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774890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Déclenchement</a:t>
            </a:r>
            <a:r>
              <a:rPr spc="-235" dirty="0"/>
              <a:t> </a:t>
            </a:r>
            <a:r>
              <a:rPr spc="-25" dirty="0"/>
              <a:t>des</a:t>
            </a:r>
            <a:r>
              <a:rPr spc="-235" dirty="0"/>
              <a:t> </a:t>
            </a:r>
            <a:r>
              <a:rPr spc="-204" dirty="0"/>
              <a:t>transitions</a:t>
            </a:r>
            <a:r>
              <a:rPr spc="-185" dirty="0"/>
              <a:t> </a:t>
            </a:r>
            <a:r>
              <a:rPr spc="-25" dirty="0"/>
              <a:t>par </a:t>
            </a:r>
            <a:r>
              <a:rPr spc="-10" dirty="0"/>
              <a:t>JavaScript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491220" cy="198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21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transitions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peuvent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être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85" dirty="0" err="1">
                <a:solidFill>
                  <a:srgbClr val="404040"/>
                </a:solidFill>
                <a:latin typeface="Verdana"/>
                <a:cs typeface="Verdana"/>
              </a:rPr>
              <a:t>déclenchée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lang="fr-FR" sz="2400" spc="-100" dirty="0">
                <a:solidFill>
                  <a:srgbClr val="404040"/>
                </a:solidFill>
                <a:latin typeface="Verdana"/>
                <a:cs typeface="Verdana"/>
              </a:rPr>
              <a:t> JS </a:t>
            </a:r>
            <a:r>
              <a:rPr sz="2400" spc="-90" dirty="0" err="1">
                <a:solidFill>
                  <a:srgbClr val="404040"/>
                </a:solidFill>
                <a:latin typeface="Verdana"/>
                <a:cs typeface="Verdana"/>
              </a:rPr>
              <a:t>simplement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400" spc="-2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404040"/>
                </a:solidFill>
                <a:latin typeface="Verdana"/>
                <a:cs typeface="Verdana"/>
              </a:rPr>
              <a:t>changeant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4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35" dirty="0">
                <a:solidFill>
                  <a:srgbClr val="404040"/>
                </a:solidFill>
                <a:latin typeface="Verdana"/>
                <a:cs typeface="Verdana"/>
              </a:rPr>
              <a:t>sur</a:t>
            </a:r>
            <a:r>
              <a:rPr sz="2400" spc="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laquelle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été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paramétrée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transition</a:t>
            </a:r>
            <a:endParaRPr sz="2400" dirty="0">
              <a:latin typeface="Verdana"/>
              <a:cs typeface="Verdana"/>
            </a:endParaRPr>
          </a:p>
          <a:p>
            <a:pPr marL="355600" marR="875665" indent="-342900" algn="just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8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changement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Verdana"/>
                <a:cs typeface="Verdana"/>
              </a:rPr>
              <a:t>d’une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 propriété </a:t>
            </a:r>
            <a:r>
              <a:rPr sz="2400" spc="-320" dirty="0">
                <a:solidFill>
                  <a:srgbClr val="404040"/>
                </a:solidFill>
                <a:latin typeface="Verdana"/>
                <a:cs typeface="Verdana"/>
              </a:rPr>
              <a:t>CSS</a:t>
            </a:r>
            <a:r>
              <a:rPr sz="2400" spc="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se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fait</a:t>
            </a:r>
            <a:r>
              <a:rPr lang="fr-FR" sz="2400" spc="-20" dirty="0">
                <a:solidFill>
                  <a:srgbClr val="404040"/>
                </a:solidFill>
                <a:latin typeface="Verdana"/>
                <a:cs typeface="Verdana"/>
              </a:rPr>
              <a:t> via</a:t>
            </a:r>
            <a:r>
              <a:rPr lang="fr-FR" sz="2400" spc="6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style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45" dirty="0">
                <a:solidFill>
                  <a:srgbClr val="404040"/>
                </a:solidFill>
                <a:latin typeface="Verdana"/>
                <a:cs typeface="Verdana"/>
              </a:rPr>
              <a:t>»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d’un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élément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77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Introduction</a:t>
            </a:r>
            <a:r>
              <a:rPr spc="-229" dirty="0"/>
              <a:t> </a:t>
            </a:r>
            <a:r>
              <a:rPr spc="-75" dirty="0"/>
              <a:t>aux</a:t>
            </a:r>
            <a:r>
              <a:rPr spc="-250" dirty="0"/>
              <a:t> </a:t>
            </a:r>
            <a:r>
              <a:rPr spc="-125" dirty="0"/>
              <a:t>transformations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1952" y="2133600"/>
            <a:ext cx="8439150" cy="16183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transformations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actions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 err="1">
                <a:solidFill>
                  <a:srgbClr val="404040"/>
                </a:solidFill>
                <a:latin typeface="Verdana"/>
                <a:cs typeface="Verdana"/>
              </a:rPr>
              <a:t>géométriques</a:t>
            </a:r>
            <a:r>
              <a:rPr lang="fr-FR" sz="24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qui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effectués </a:t>
            </a:r>
            <a:r>
              <a:rPr sz="2400" spc="-245" dirty="0">
                <a:solidFill>
                  <a:srgbClr val="404040"/>
                </a:solidFill>
                <a:latin typeface="Verdana"/>
                <a:cs typeface="Verdana"/>
              </a:rPr>
              <a:t>sur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éléments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HTML</a:t>
            </a:r>
            <a:endParaRPr sz="2400" dirty="0">
              <a:latin typeface="Verdana"/>
              <a:cs typeface="Verdana"/>
            </a:endParaRPr>
          </a:p>
          <a:p>
            <a:pPr marL="355600" marR="1048385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340" dirty="0">
                <a:solidFill>
                  <a:srgbClr val="404040"/>
                </a:solidFill>
                <a:latin typeface="Verdana"/>
                <a:cs typeface="Verdana"/>
              </a:rPr>
              <a:t>Il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existe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deux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types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transformations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25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lang="fr-FR" sz="2400" spc="-1350" dirty="0">
                <a:solidFill>
                  <a:srgbClr val="404040"/>
                </a:solidFill>
                <a:latin typeface="Verdana"/>
                <a:cs typeface="Verdana"/>
              </a:rPr>
              <a:t>2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 dimensions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3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dimensions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78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Transformations</a:t>
            </a:r>
            <a:r>
              <a:rPr spc="-80" dirty="0"/>
              <a:t> </a:t>
            </a:r>
            <a:r>
              <a:rPr spc="-160" dirty="0"/>
              <a:t>(transformations.html)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79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4167" y="1765045"/>
          <a:ext cx="10736579" cy="3778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Propriété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FA12D"/>
                      </a:solidFill>
                      <a:prstDash val="solid"/>
                    </a:lnL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12700">
                      <a:solidFill>
                        <a:srgbClr val="EFA12D"/>
                      </a:solidFill>
                      <a:prstDash val="solid"/>
                    </a:lnR>
                    <a:solidFill>
                      <a:srgbClr val="EFA1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Verdana"/>
                          <a:cs typeface="Verdana"/>
                        </a:rPr>
                        <a:t>none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FA12D"/>
                      </a:solidFill>
                      <a:prstDash val="solid"/>
                    </a:lnL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Pas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transformation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EFA12D"/>
                      </a:solidFill>
                      <a:prstDash val="solid"/>
                    </a:lnR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translate(x,y)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95" dirty="0">
                          <a:latin typeface="Verdana"/>
                          <a:cs typeface="Verdana"/>
                        </a:rPr>
                        <a:t>Translation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deux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dimensions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translate3d(x,y,z)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95" dirty="0">
                          <a:latin typeface="Verdana"/>
                          <a:cs typeface="Verdana"/>
                        </a:rPr>
                        <a:t>Translation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3d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0" dirty="0">
                          <a:latin typeface="Verdana"/>
                          <a:cs typeface="Verdana"/>
                        </a:rPr>
                        <a:t>translateX(x),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translateY(y)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et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/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ou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translateZ(z)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95" dirty="0">
                          <a:latin typeface="Verdana"/>
                          <a:cs typeface="Verdana"/>
                        </a:rPr>
                        <a:t>Translation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80" dirty="0">
                          <a:latin typeface="Verdana"/>
                          <a:cs typeface="Verdana"/>
                        </a:rPr>
                        <a:t>sur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l’un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des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trois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axes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scale(x,y)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Mise</a:t>
                      </a:r>
                      <a:r>
                        <a:rPr sz="18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l’échelle.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Une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valeur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70" dirty="0">
                          <a:latin typeface="Verdana"/>
                          <a:cs typeface="Verdana"/>
                        </a:rPr>
                        <a:t>1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correspond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même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taille,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0.5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158115">
                        <a:lnSpc>
                          <a:spcPct val="100000"/>
                        </a:lnSpc>
                      </a:pP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moitié</a:t>
                      </a:r>
                      <a:r>
                        <a:rPr sz="1800" spc="-1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et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70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double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Verdana"/>
                          <a:cs typeface="Verdana"/>
                        </a:rPr>
                        <a:t>scale3d(x,y,z)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Mise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l’échelle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70" dirty="0">
                          <a:latin typeface="Verdana"/>
                          <a:cs typeface="Verdana"/>
                        </a:rPr>
                        <a:t>3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dimensions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 marR="8280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90" dirty="0">
                          <a:latin typeface="Verdana"/>
                          <a:cs typeface="Verdana"/>
                        </a:rPr>
                        <a:t>scaleX(x),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scaleY(y)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ou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scaleZ(z)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Mise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l’échelle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80" dirty="0">
                          <a:latin typeface="Verdana"/>
                          <a:cs typeface="Verdana"/>
                        </a:rPr>
                        <a:t>sur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l’un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des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trois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axes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863261"/>
            <a:ext cx="867346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Transformations</a:t>
            </a:r>
            <a:r>
              <a:rPr spc="-45" dirty="0"/>
              <a:t> 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80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704200"/>
              </p:ext>
            </p:extLst>
          </p:nvPr>
        </p:nvGraphicFramePr>
        <p:xfrm>
          <a:off x="304800" y="1765045"/>
          <a:ext cx="10755946" cy="3879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Propriété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FA12D"/>
                      </a:solidFill>
                      <a:prstDash val="solid"/>
                    </a:lnL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12700">
                      <a:solidFill>
                        <a:srgbClr val="EFA12D"/>
                      </a:solidFill>
                      <a:prstDash val="solid"/>
                    </a:lnR>
                    <a:solidFill>
                      <a:srgbClr val="EFA1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rotate(a)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FA12D"/>
                      </a:solidFill>
                      <a:prstDash val="solid"/>
                    </a:lnL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Où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est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un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angle,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rotation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d’un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élément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EFA12D"/>
                      </a:solidFill>
                      <a:prstDash val="solid"/>
                    </a:lnR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rotate3d(x,y,z,a)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Rotation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70" dirty="0">
                          <a:latin typeface="Verdana"/>
                          <a:cs typeface="Verdana"/>
                        </a:rPr>
                        <a:t>3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dimensions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 marR="3987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95" dirty="0">
                          <a:latin typeface="Verdana"/>
                          <a:cs typeface="Verdana"/>
                        </a:rPr>
                        <a:t>rotateX(x),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rotateY(y)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ou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rotateZ(z)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Rotation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80" dirty="0">
                          <a:latin typeface="Verdana"/>
                          <a:cs typeface="Verdana"/>
                        </a:rPr>
                        <a:t>sur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l’un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des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trois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angles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skew(a,b)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Où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5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et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100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sont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des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angles.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Inclinaison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bidimensionnelle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70" dirty="0">
                          <a:latin typeface="Verdana"/>
                          <a:cs typeface="Verdana"/>
                        </a:rPr>
                        <a:t>de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40640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l’élément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35" dirty="0">
                          <a:latin typeface="Verdana"/>
                          <a:cs typeface="Verdana"/>
                        </a:rPr>
                        <a:t>skewX(x)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ou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skewY(y)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70" dirty="0">
                          <a:latin typeface="Verdana"/>
                          <a:cs typeface="Verdana"/>
                        </a:rPr>
                        <a:t>Inclinaison</a:t>
                      </a:r>
                      <a:r>
                        <a:rPr sz="18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75" dirty="0">
                          <a:latin typeface="Verdana"/>
                          <a:cs typeface="Verdana"/>
                        </a:rPr>
                        <a:t>sur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l’un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des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deux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axes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5" dirty="0">
                          <a:latin typeface="Verdana"/>
                          <a:cs typeface="Verdana"/>
                        </a:rPr>
                        <a:t>matrix(n1..n6)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85" dirty="0">
                          <a:latin typeface="Verdana"/>
                          <a:cs typeface="Verdana"/>
                        </a:rPr>
                        <a:t>Transformation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80" dirty="0">
                          <a:latin typeface="Verdana"/>
                          <a:cs typeface="Verdana"/>
                        </a:rPr>
                        <a:t>sur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matrice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2d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60" dirty="0">
                          <a:latin typeface="Verdana"/>
                          <a:cs typeface="Verdana"/>
                        </a:rPr>
                        <a:t>matrix3d(n1..n16)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85" dirty="0">
                          <a:latin typeface="Verdana"/>
                          <a:cs typeface="Verdana"/>
                        </a:rPr>
                        <a:t>Transformation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matrice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3d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perspective(n)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Perspective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3d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Origine</a:t>
            </a:r>
            <a:r>
              <a:rPr spc="-270" dirty="0"/>
              <a:t> </a:t>
            </a:r>
            <a:r>
              <a:rPr spc="-20" dirty="0"/>
              <a:t>des</a:t>
            </a:r>
            <a:r>
              <a:rPr spc="-280" dirty="0"/>
              <a:t> </a:t>
            </a:r>
            <a:r>
              <a:rPr spc="-130" dirty="0"/>
              <a:t>transformations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7627620" cy="17466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transform-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origin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définit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l’origine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8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 la</a:t>
            </a:r>
            <a:r>
              <a:rPr sz="24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transformation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114" dirty="0" err="1">
                <a:solidFill>
                  <a:srgbClr val="404040"/>
                </a:solidFill>
                <a:latin typeface="Verdana"/>
                <a:cs typeface="Verdana"/>
              </a:rPr>
              <a:t>Syntaxe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25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tansform-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origin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25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axe-</a:t>
            </a:r>
            <a:r>
              <a:rPr sz="2400" spc="-285" dirty="0">
                <a:solidFill>
                  <a:srgbClr val="404040"/>
                </a:solidFill>
                <a:latin typeface="Verdana"/>
                <a:cs typeface="Verdana"/>
              </a:rPr>
              <a:t>x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axe-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y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axe-</a:t>
            </a:r>
            <a:r>
              <a:rPr sz="2400" spc="-305" dirty="0">
                <a:solidFill>
                  <a:srgbClr val="404040"/>
                </a:solidFill>
                <a:latin typeface="Verdana"/>
                <a:cs typeface="Verdana"/>
              </a:rPr>
              <a:t>z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Par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défaut,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valeurs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80" dirty="0">
                <a:solidFill>
                  <a:srgbClr val="404040"/>
                </a:solidFill>
                <a:latin typeface="Verdana"/>
                <a:cs typeface="Verdana"/>
              </a:rPr>
              <a:t>50%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80" dirty="0">
                <a:solidFill>
                  <a:srgbClr val="404040"/>
                </a:solidFill>
                <a:latin typeface="Verdana"/>
                <a:cs typeface="Verdana"/>
              </a:rPr>
              <a:t>50%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81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EFA1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7137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70" dirty="0"/>
              <a:t> </a:t>
            </a:r>
            <a:r>
              <a:rPr sz="4000" spc="-330" dirty="0"/>
              <a:t>9</a:t>
            </a:r>
            <a:r>
              <a:rPr sz="4000" spc="-285" dirty="0"/>
              <a:t> </a:t>
            </a:r>
            <a:r>
              <a:rPr sz="4000" spc="-710" dirty="0"/>
              <a:t>:</a:t>
            </a:r>
            <a:r>
              <a:rPr sz="4000" spc="-275" dirty="0"/>
              <a:t> </a:t>
            </a:r>
            <a:r>
              <a:rPr sz="4000" spc="-125" dirty="0"/>
              <a:t>Animations</a:t>
            </a:r>
            <a:r>
              <a:rPr sz="4000" spc="-254" dirty="0"/>
              <a:t> </a:t>
            </a:r>
            <a:r>
              <a:rPr sz="4000" spc="-365" dirty="0"/>
              <a:t>(CSS3)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82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9"/>
            <a:ext cx="8615680" cy="24852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40" dirty="0" err="1">
                <a:solidFill>
                  <a:srgbClr val="404040"/>
                </a:solidFill>
                <a:latin typeface="Verdana"/>
                <a:cs typeface="Verdana"/>
              </a:rPr>
              <a:t>Contrairement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aux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transitions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qui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animent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seule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propriété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40" dirty="0">
                <a:solidFill>
                  <a:srgbClr val="404040"/>
                </a:solidFill>
                <a:latin typeface="Verdana"/>
                <a:cs typeface="Verdana"/>
              </a:rPr>
              <a:t>sur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période,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animations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sont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constituées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plusieurs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cadres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Verdana"/>
                <a:cs typeface="Verdana"/>
              </a:rPr>
              <a:t>chaque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90" dirty="0">
                <a:solidFill>
                  <a:srgbClr val="404040"/>
                </a:solidFill>
                <a:latin typeface="Verdana"/>
                <a:cs typeface="Verdana"/>
              </a:rPr>
              <a:t>cadre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anime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ou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plusieurs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propriétés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400" spc="-60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animation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contient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Verdana"/>
                <a:cs typeface="Verdana"/>
              </a:rPr>
              <a:t>au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moins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deux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cadres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400" spc="-60" dirty="0">
                <a:solidFill>
                  <a:srgbClr val="EFA12D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Verdana"/>
                <a:cs typeface="Verdana"/>
              </a:rPr>
              <a:t>navigateurs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utilisent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GPU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pour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animations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81600" y="5867400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F0000"/>
                </a:solidFill>
                <a:latin typeface="Verdana"/>
                <a:cs typeface="Verdana"/>
              </a:rPr>
              <a:t>83</a:t>
            </a:r>
            <a:endParaRPr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Déclaration</a:t>
            </a:r>
            <a:r>
              <a:rPr spc="-254" dirty="0"/>
              <a:t> </a:t>
            </a:r>
            <a:r>
              <a:rPr spc="-20" dirty="0"/>
              <a:t>des</a:t>
            </a:r>
            <a:r>
              <a:rPr spc="-270" dirty="0"/>
              <a:t> </a:t>
            </a:r>
            <a:r>
              <a:rPr spc="-10" dirty="0"/>
              <a:t>cadres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9276" y="2133600"/>
            <a:ext cx="8915400" cy="377825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"/>
              </a:spcBef>
            </a:pPr>
            <a:r>
              <a:rPr sz="2400" spc="-114" dirty="0">
                <a:solidFill>
                  <a:srgbClr val="0000FF"/>
                </a:solidFill>
                <a:latin typeface="Verdana"/>
                <a:cs typeface="Verdana"/>
              </a:rPr>
              <a:t>@keyframes</a:t>
            </a:r>
            <a:r>
              <a:rPr sz="2400" spc="-12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nom_de_l_animation</a:t>
            </a:r>
            <a:endParaRPr sz="2400">
              <a:latin typeface="Verdana"/>
              <a:cs typeface="Verdana"/>
            </a:endParaRPr>
          </a:p>
          <a:p>
            <a:pPr marL="91440">
              <a:lnSpc>
                <a:spcPct val="100000"/>
              </a:lnSpc>
              <a:spcBef>
                <a:spcPts val="705"/>
              </a:spcBef>
              <a:tabLst>
                <a:tab pos="548640" algn="l"/>
              </a:tabLst>
            </a:pPr>
            <a:r>
              <a:rPr sz="2400" spc="-740" dirty="0">
                <a:solidFill>
                  <a:srgbClr val="404040"/>
                </a:solidFill>
                <a:latin typeface="Verdana"/>
                <a:cs typeface="Verdana"/>
              </a:rPr>
              <a:t>{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2400" spc="-20" dirty="0">
                <a:solidFill>
                  <a:srgbClr val="FF0000"/>
                </a:solidFill>
                <a:latin typeface="Verdana"/>
                <a:cs typeface="Verdana"/>
              </a:rPr>
              <a:t>from</a:t>
            </a:r>
            <a:endParaRPr sz="2400">
              <a:latin typeface="Verdana"/>
              <a:cs typeface="Verdana"/>
            </a:endParaRPr>
          </a:p>
          <a:p>
            <a:pPr marL="548640" marR="2359660" indent="457200">
              <a:lnSpc>
                <a:spcPts val="2590"/>
              </a:lnSpc>
              <a:spcBef>
                <a:spcPts val="1040"/>
              </a:spcBef>
            </a:pPr>
            <a:r>
              <a:rPr sz="2400" spc="-690" dirty="0">
                <a:solidFill>
                  <a:srgbClr val="0000FF"/>
                </a:solidFill>
                <a:latin typeface="Verdana"/>
                <a:cs typeface="Verdana"/>
              </a:rPr>
              <a:t>{</a:t>
            </a:r>
            <a:r>
              <a:rPr sz="2400" spc="-1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0000FF"/>
                </a:solidFill>
                <a:latin typeface="Verdana"/>
                <a:cs typeface="Verdana"/>
              </a:rPr>
              <a:t>propriété_à_animer:</a:t>
            </a:r>
            <a:r>
              <a:rPr sz="2400" spc="-13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0000FF"/>
                </a:solidFill>
                <a:latin typeface="Verdana"/>
                <a:cs typeface="Verdana"/>
              </a:rPr>
              <a:t>valeur_initiale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;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40" dirty="0">
                <a:solidFill>
                  <a:srgbClr val="404040"/>
                </a:solidFill>
                <a:latin typeface="Verdana"/>
                <a:cs typeface="Verdana"/>
              </a:rPr>
              <a:t>}</a:t>
            </a:r>
            <a:r>
              <a:rPr sz="2400" spc="-409" dirty="0">
                <a:solidFill>
                  <a:srgbClr val="404040"/>
                </a:solidFill>
                <a:latin typeface="Verdana"/>
                <a:cs typeface="Verdana"/>
              </a:rPr>
              <a:t> 50%</a:t>
            </a:r>
            <a:endParaRPr sz="2400">
              <a:latin typeface="Verdana"/>
              <a:cs typeface="Verdana"/>
            </a:endParaRPr>
          </a:p>
          <a:p>
            <a:pPr marL="1005840">
              <a:lnSpc>
                <a:spcPct val="100000"/>
              </a:lnSpc>
              <a:spcBef>
                <a:spcPts val="685"/>
              </a:spcBef>
            </a:pPr>
            <a:r>
              <a:rPr sz="2400" spc="-690" dirty="0">
                <a:solidFill>
                  <a:srgbClr val="404040"/>
                </a:solidFill>
                <a:latin typeface="Verdana"/>
                <a:cs typeface="Verdana"/>
              </a:rPr>
              <a:t>{</a:t>
            </a:r>
            <a:r>
              <a:rPr sz="2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Verdana"/>
                <a:cs typeface="Verdana"/>
              </a:rPr>
              <a:t>propriété</a:t>
            </a:r>
            <a:r>
              <a:rPr sz="2400" spc="-90" dirty="0">
                <a:solidFill>
                  <a:srgbClr val="0000FF"/>
                </a:solidFill>
                <a:latin typeface="Verdana"/>
                <a:cs typeface="Verdana"/>
              </a:rPr>
              <a:t>_à_animer:</a:t>
            </a:r>
            <a:r>
              <a:rPr sz="2400" spc="-12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0000FF"/>
                </a:solidFill>
                <a:latin typeface="Verdana"/>
                <a:cs typeface="Verdana"/>
              </a:rPr>
              <a:t>valeur_intermédiaire</a:t>
            </a:r>
            <a:r>
              <a:rPr sz="2400" spc="-100" dirty="0">
                <a:solidFill>
                  <a:srgbClr val="404040"/>
                </a:solidFill>
                <a:latin typeface="Verdana"/>
                <a:cs typeface="Verdana"/>
              </a:rPr>
              <a:t>;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50" dirty="0">
                <a:solidFill>
                  <a:srgbClr val="404040"/>
                </a:solidFill>
                <a:latin typeface="Verdana"/>
                <a:cs typeface="Verdana"/>
              </a:rPr>
              <a:t>}</a:t>
            </a:r>
            <a:endParaRPr sz="2400">
              <a:latin typeface="Verdana"/>
              <a:cs typeface="Verdana"/>
            </a:endParaRPr>
          </a:p>
          <a:p>
            <a:pPr marL="548640">
              <a:lnSpc>
                <a:spcPct val="100000"/>
              </a:lnSpc>
              <a:spcBef>
                <a:spcPts val="710"/>
              </a:spcBef>
            </a:pPr>
            <a:r>
              <a:rPr sz="2400" spc="-25" dirty="0">
                <a:solidFill>
                  <a:srgbClr val="800000"/>
                </a:solidFill>
                <a:latin typeface="Verdana"/>
                <a:cs typeface="Verdana"/>
              </a:rPr>
              <a:t>to</a:t>
            </a:r>
            <a:endParaRPr sz="2400">
              <a:latin typeface="Verdana"/>
              <a:cs typeface="Verdana"/>
            </a:endParaRPr>
          </a:p>
          <a:p>
            <a:pPr marL="1005840">
              <a:lnSpc>
                <a:spcPct val="100000"/>
              </a:lnSpc>
              <a:spcBef>
                <a:spcPts val="705"/>
              </a:spcBef>
            </a:pPr>
            <a:r>
              <a:rPr sz="2400" spc="-690" dirty="0">
                <a:solidFill>
                  <a:srgbClr val="404040"/>
                </a:solidFill>
                <a:latin typeface="Verdana"/>
                <a:cs typeface="Verdana"/>
              </a:rPr>
              <a:t>{</a:t>
            </a:r>
            <a:r>
              <a:rPr sz="2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Verdana"/>
                <a:cs typeface="Verdana"/>
              </a:rPr>
              <a:t>propriété</a:t>
            </a:r>
            <a:r>
              <a:rPr sz="2400" spc="-90" dirty="0">
                <a:solidFill>
                  <a:srgbClr val="0000FF"/>
                </a:solidFill>
                <a:latin typeface="Verdana"/>
                <a:cs typeface="Verdana"/>
              </a:rPr>
              <a:t>_à_animer:</a:t>
            </a:r>
            <a:r>
              <a:rPr sz="2400" spc="-14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0000FF"/>
                </a:solidFill>
                <a:latin typeface="Verdana"/>
                <a:cs typeface="Verdana"/>
              </a:rPr>
              <a:t>valeur_finale</a:t>
            </a:r>
            <a:r>
              <a:rPr sz="2400" spc="-105" dirty="0">
                <a:solidFill>
                  <a:srgbClr val="404040"/>
                </a:solidFill>
                <a:latin typeface="Verdana"/>
                <a:cs typeface="Verdana"/>
              </a:rPr>
              <a:t>;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740" dirty="0">
                <a:solidFill>
                  <a:srgbClr val="404040"/>
                </a:solidFill>
                <a:latin typeface="Verdana"/>
                <a:cs typeface="Verdana"/>
              </a:rPr>
              <a:t>}</a:t>
            </a:r>
            <a:endParaRPr sz="2400">
              <a:latin typeface="Verdana"/>
              <a:cs typeface="Verdana"/>
            </a:endParaRPr>
          </a:p>
          <a:p>
            <a:pPr marL="91440">
              <a:lnSpc>
                <a:spcPct val="100000"/>
              </a:lnSpc>
              <a:spcBef>
                <a:spcPts val="720"/>
              </a:spcBef>
            </a:pPr>
            <a:r>
              <a:rPr sz="2400" spc="-740" dirty="0">
                <a:solidFill>
                  <a:srgbClr val="404040"/>
                </a:solidFill>
                <a:latin typeface="Verdana"/>
                <a:cs typeface="Verdana"/>
              </a:rPr>
              <a:t>}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84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620077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Propriétés</a:t>
            </a:r>
            <a:r>
              <a:rPr spc="-145" dirty="0"/>
              <a:t> </a:t>
            </a:r>
            <a:r>
              <a:rPr dirty="0"/>
              <a:t>d’animation</a:t>
            </a:r>
            <a:r>
              <a:rPr spc="-120" dirty="0"/>
              <a:t> </a:t>
            </a:r>
            <a:r>
              <a:rPr spc="-145" dirty="0"/>
              <a:t>(Voir </a:t>
            </a:r>
            <a:r>
              <a:rPr spc="-75" dirty="0"/>
              <a:t>animations.html)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85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4167" y="1765045"/>
          <a:ext cx="10737213" cy="3879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2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5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Propriété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FA12D"/>
                      </a:solidFill>
                      <a:prstDash val="solid"/>
                    </a:lnL>
                    <a:solidFill>
                      <a:srgbClr val="EFA12D"/>
                    </a:solidFill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12700">
                      <a:solidFill>
                        <a:srgbClr val="EFA12D"/>
                      </a:solidFill>
                      <a:prstDash val="solid"/>
                    </a:lnR>
                    <a:solidFill>
                      <a:srgbClr val="EFA1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animation-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name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FA12D"/>
                      </a:solidFill>
                      <a:prstDash val="solid"/>
                    </a:lnL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Nom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l’animation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EFA12D"/>
                      </a:solidFill>
                      <a:prstDash val="solid"/>
                    </a:lnR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animation-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duration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5" dirty="0">
                          <a:latin typeface="Verdana"/>
                          <a:cs typeface="Verdana"/>
                        </a:rPr>
                        <a:t>Durée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l’animation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animation-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iteration-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count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Verdana"/>
                          <a:cs typeface="Verdana"/>
                        </a:rPr>
                        <a:t>Nombre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d’itérations.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infinite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»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signifie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une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animation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infinie.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animation-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timing-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function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11150" marR="43560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Verdana"/>
                          <a:cs typeface="Verdana"/>
                        </a:rPr>
                        <a:t>Fonction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d’interpolation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utilisée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pour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l’animation.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mêmes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que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celles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des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transitions.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animation-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direction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Direction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l’animation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20" dirty="0">
                          <a:latin typeface="Verdana"/>
                          <a:cs typeface="Verdana"/>
                        </a:rPr>
                        <a:t>: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normal,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alternate,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reverse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ou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31115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Verdana"/>
                          <a:cs typeface="Verdana"/>
                        </a:rPr>
                        <a:t>alternate-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reverse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animation-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play-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state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5" dirty="0">
                          <a:latin typeface="Verdana"/>
                          <a:cs typeface="Verdana"/>
                        </a:rPr>
                        <a:t>Statut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l’animation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(running,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paused)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animation-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delay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FA12D"/>
                      </a:solidFill>
                      <a:prstDash val="solid"/>
                    </a:lnL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Délai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lecture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FA12D"/>
                      </a:solidFill>
                      <a:prstDash val="solid"/>
                    </a:lnL>
                    <a:lnR w="12700">
                      <a:solidFill>
                        <a:srgbClr val="EFA12D"/>
                      </a:solidFill>
                      <a:prstDash val="solid"/>
                    </a:lnR>
                    <a:lnT w="12700">
                      <a:solidFill>
                        <a:srgbClr val="EFA12D"/>
                      </a:solidFill>
                      <a:prstDash val="solid"/>
                    </a:lnT>
                    <a:lnB w="12700">
                      <a:solidFill>
                        <a:srgbClr val="EFA1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-332722"/>
            <a:ext cx="10515600" cy="2721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fr-FR" spc="-60" dirty="0"/>
            </a:br>
            <a:br>
              <a:rPr lang="fr-FR" spc="-60" dirty="0"/>
            </a:br>
            <a:r>
              <a:rPr spc="-60" dirty="0" err="1"/>
              <a:t>Bibliographie</a:t>
            </a:r>
            <a:br>
              <a:rPr lang="fr-FR" spc="-60" dirty="0"/>
            </a:br>
            <a:endParaRPr spc="-60" dirty="0"/>
          </a:p>
        </p:txBody>
      </p:sp>
      <p:sp>
        <p:nvSpPr>
          <p:cNvPr id="4" name="object 4"/>
          <p:cNvSpPr txBox="1"/>
          <p:nvPr/>
        </p:nvSpPr>
        <p:spPr>
          <a:xfrm>
            <a:off x="5791200" y="5715000"/>
            <a:ext cx="30480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F0000"/>
                </a:solidFill>
                <a:latin typeface="Verdana"/>
                <a:cs typeface="Verdana"/>
              </a:rPr>
              <a:t>87</a:t>
            </a:r>
            <a:endParaRPr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38DFA71-6729-D039-53B5-5E89CE269199}"/>
              </a:ext>
            </a:extLst>
          </p:cNvPr>
          <p:cNvSpPr txBox="1"/>
          <p:nvPr/>
        </p:nvSpPr>
        <p:spPr>
          <a:xfrm>
            <a:off x="832104" y="2286000"/>
            <a:ext cx="329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pc="-6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https://www.w3schools.com/css/</a:t>
            </a:r>
            <a:endParaRPr lang="fr-F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705</TotalTime>
  <Words>3780</Words>
  <Application>Microsoft Office PowerPoint</Application>
  <PresentationFormat>Grand écran</PresentationFormat>
  <Paragraphs>539</Paragraphs>
  <Slides>74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74</vt:i4>
      </vt:variant>
    </vt:vector>
  </HeadingPairs>
  <TitlesOfParts>
    <vt:vector size="87" baseType="lpstr">
      <vt:lpstr>Aptos</vt:lpstr>
      <vt:lpstr>Aptos Display</vt:lpstr>
      <vt:lpstr>Arial</vt:lpstr>
      <vt:lpstr>Arial MT</vt:lpstr>
      <vt:lpstr>Calibri</vt:lpstr>
      <vt:lpstr>Consolas</vt:lpstr>
      <vt:lpstr>Georgia</vt:lpstr>
      <vt:lpstr>Microsoft Sans Serif</vt:lpstr>
      <vt:lpstr>Tahoma</vt:lpstr>
      <vt:lpstr>Times New Roman</vt:lpstr>
      <vt:lpstr>Verdana</vt:lpstr>
      <vt:lpstr>Wingdings</vt:lpstr>
      <vt:lpstr>Thème Office</vt:lpstr>
      <vt:lpstr>Introduction aux feuilles de style avec le langage CSS</vt:lpstr>
      <vt:lpstr>Objectifs du cours</vt:lpstr>
      <vt:lpstr>Plan du module</vt:lpstr>
      <vt:lpstr>Section 1 : Introduction</vt:lpstr>
      <vt:lpstr>Qu’est-ce que le CSS ?</vt:lpstr>
      <vt:lpstr>Comment ça fonctionne ?</vt:lpstr>
      <vt:lpstr>Syntaxe</vt:lpstr>
      <vt:lpstr>Syntaxe - Suite</vt:lpstr>
      <vt:lpstr>Syntaxe, suite</vt:lpstr>
      <vt:lpstr>Syntaxe - Suite</vt:lpstr>
      <vt:lpstr>CSS intégré dans le fichier HTML</vt:lpstr>
      <vt:lpstr>CSS externe</vt:lpstr>
      <vt:lpstr>La balise link</vt:lpstr>
      <vt:lpstr>CSS externe</vt:lpstr>
      <vt:lpstr>Section 2 : Sélecteurs CSS</vt:lpstr>
      <vt:lpstr>Introduction</vt:lpstr>
      <vt:lpstr>Sélecteurs CSS</vt:lpstr>
      <vt:lpstr>Sélecteurs CSS - Suite</vt:lpstr>
      <vt:lpstr>Sélecteurs avancés</vt:lpstr>
      <vt:lpstr>Sélecteurs avancés</vt:lpstr>
      <vt:lpstr>Cascade</vt:lpstr>
      <vt:lpstr>Exercice</vt:lpstr>
      <vt:lpstr>Exercice</vt:lpstr>
      <vt:lpstr>Section 3 : Les Couleurs</vt:lpstr>
      <vt:lpstr>Qu’est-ce qu’une couleur ?</vt:lpstr>
      <vt:lpstr>Couleurs standard - Exemples</vt:lpstr>
      <vt:lpstr>Couleurs CSS3 - HSL</vt:lpstr>
      <vt:lpstr>Couleurs HSL - Exemples</vt:lpstr>
      <vt:lpstr>Section 4 : Le Texte</vt:lpstr>
      <vt:lpstr>Polices de caractère - Typologie</vt:lpstr>
      <vt:lpstr>Polices de caractère - Typologie</vt:lpstr>
      <vt:lpstr>Présentation PowerPoint</vt:lpstr>
      <vt:lpstr>Utilisation des polices de caractères dans les pages web</vt:lpstr>
      <vt:lpstr>Application d’une police dans une page</vt:lpstr>
      <vt:lpstr>Font-Family</vt:lpstr>
      <vt:lpstr>Font-family Syntaxe</vt:lpstr>
      <vt:lpstr>Font-size Syntaxe</vt:lpstr>
      <vt:lpstr>La règle @font-face (CSS3)</vt:lpstr>
      <vt:lpstr>Formats de polices de caractères</vt:lpstr>
      <vt:lpstr>@font-face syntaxe</vt:lpstr>
      <vt:lpstr>@font-face</vt:lpstr>
      <vt:lpstr>Section 5 : Boîtes, Listes et Tableaux</vt:lpstr>
      <vt:lpstr>Bordures et Marges</vt:lpstr>
      <vt:lpstr>Bordure raccourci</vt:lpstr>
      <vt:lpstr>Marges</vt:lpstr>
      <vt:lpstr>Affichage des éléments</vt:lpstr>
      <vt:lpstr>Styler les tableaux</vt:lpstr>
      <vt:lpstr>Section 6 : Disposition</vt:lpstr>
      <vt:lpstr>Disposition simple</vt:lpstr>
      <vt:lpstr>Positionnement relatif</vt:lpstr>
      <vt:lpstr>Positionnement absolu</vt:lpstr>
      <vt:lpstr>Positionnement fixe</vt:lpstr>
      <vt:lpstr>Section 7 : Les images</vt:lpstr>
      <vt:lpstr>Arrière plan de type image</vt:lpstr>
      <vt:lpstr>Position de l’arrière plan</vt:lpstr>
      <vt:lpstr>Alias</vt:lpstr>
      <vt:lpstr>Dégradés CSS3</vt:lpstr>
      <vt:lpstr>Dégradés linéaires</vt:lpstr>
      <vt:lpstr>Dégradés radiaux</vt:lpstr>
      <vt:lpstr>Section 8 : Les transitions et les transformations (CSS3)</vt:lpstr>
      <vt:lpstr>Introduction</vt:lpstr>
      <vt:lpstr>Propriétés</vt:lpstr>
      <vt:lpstr>transition-timing-function</vt:lpstr>
      <vt:lpstr>Propriétés animables</vt:lpstr>
      <vt:lpstr>Déclenchement des transitions par JavaScript</vt:lpstr>
      <vt:lpstr>Introduction aux transformations</vt:lpstr>
      <vt:lpstr>Transformations (transformations.html)</vt:lpstr>
      <vt:lpstr>Transformations </vt:lpstr>
      <vt:lpstr>Origine des transformations</vt:lpstr>
      <vt:lpstr>Section 9 : Animations (CSS3)</vt:lpstr>
      <vt:lpstr>Introduction</vt:lpstr>
      <vt:lpstr>Déclaration des cadres</vt:lpstr>
      <vt:lpstr>Propriétés d’animation (Voir animations.html)</vt:lpstr>
      <vt:lpstr>  Bibliographie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aux feuilles de style avec le langage CSS</dc:title>
  <dc:creator>Hachemi Nabil Dellys</dc:creator>
  <cp:lastModifiedBy>REZKI Ramzi</cp:lastModifiedBy>
  <cp:revision>85</cp:revision>
  <dcterms:created xsi:type="dcterms:W3CDTF">2025-10-03T16:36:19Z</dcterms:created>
  <dcterms:modified xsi:type="dcterms:W3CDTF">2025-10-18T00:13:17Z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2015-10-28T00:00:00Z</vt:filetime>
  </property>
  <property fmtid="{D5CDD505-2E9C-101B-9397-08002B2CF9AE}" pid="3" name="Creator">
    <vt:lpwstr>Microsoft® PowerPoint® 2013</vt:lpwstr>
  </property>
  <property fmtid="{D5CDD505-2E9C-101B-9397-08002B2CF9AE}" pid="4" name="LastSaved">
    <vt:filetime>2025-10-03T00:00:00Z</vt:filetime>
  </property>
  <property fmtid="{D5CDD505-2E9C-101B-9397-08002B2CF9AE}" pid="5" name="Producer">
    <vt:lpwstr>Microsoft® PowerPoint® 2013</vt:lpwstr>
  </property>
</Properties>
</file>