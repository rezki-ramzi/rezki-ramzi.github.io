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8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4" r:id="rId33"/>
    <p:sldId id="295" r:id="rId34"/>
    <p:sldId id="296" r:id="rId35"/>
    <p:sldId id="299" r:id="rId36"/>
    <p:sldId id="300" r:id="rId37"/>
    <p:sldId id="301" r:id="rId38"/>
    <p:sldId id="302" r:id="rId39"/>
    <p:sldId id="303" r:id="rId40"/>
    <p:sldId id="304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8" r:id="rId82"/>
    <p:sldId id="349" r:id="rId83"/>
    <p:sldId id="350" r:id="rId84"/>
    <p:sldId id="351" r:id="rId85"/>
    <p:sldId id="352" r:id="rId86"/>
    <p:sldId id="353" r:id="rId87"/>
    <p:sldId id="354" r:id="rId88"/>
    <p:sldId id="355" r:id="rId89"/>
    <p:sldId id="356" r:id="rId90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1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15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69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68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778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50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83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468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933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02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716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753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3056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86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60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81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8DB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679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90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1999/xhtml" TargetMode="External"/><Relationship Id="rId2" Type="http://schemas.openxmlformats.org/officeDocument/2006/relationships/hyperlink" Target="http://www.w3.org/TR/xhtml11/DTD/xhtml11.dt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validator.w3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esi.dz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mailto:mostefaiamine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://127.0.0.1:8020/Formation/url?login=Amine&amp;mdp=mot%2Bde%2Bpas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si.dz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323588"/>
            <a:ext cx="1743075" cy="779145"/>
          </a:xfrm>
          <a:custGeom>
            <a:avLst/>
            <a:gdLst/>
            <a:ahLst/>
            <a:cxnLst/>
            <a:rect l="l" t="t" r="r" b="b"/>
            <a:pathLst>
              <a:path w="1743075" h="779145">
                <a:moveTo>
                  <a:pt x="1346200" y="0"/>
                </a:moveTo>
                <a:lnTo>
                  <a:pt x="0" y="0"/>
                </a:lnTo>
                <a:lnTo>
                  <a:pt x="0" y="778763"/>
                </a:lnTo>
                <a:lnTo>
                  <a:pt x="1346200" y="778763"/>
                </a:lnTo>
                <a:lnTo>
                  <a:pt x="1355891" y="777956"/>
                </a:lnTo>
                <a:lnTo>
                  <a:pt x="1363821" y="775827"/>
                </a:lnTo>
                <a:lnTo>
                  <a:pt x="1369988" y="772816"/>
                </a:lnTo>
                <a:lnTo>
                  <a:pt x="1374394" y="769366"/>
                </a:lnTo>
                <a:lnTo>
                  <a:pt x="1374394" y="764667"/>
                </a:lnTo>
                <a:lnTo>
                  <a:pt x="1379093" y="764667"/>
                </a:lnTo>
                <a:lnTo>
                  <a:pt x="1735582" y="408178"/>
                </a:lnTo>
                <a:lnTo>
                  <a:pt x="1740868" y="399587"/>
                </a:lnTo>
                <a:lnTo>
                  <a:pt x="1742630" y="388794"/>
                </a:lnTo>
                <a:lnTo>
                  <a:pt x="1740868" y="377120"/>
                </a:lnTo>
                <a:lnTo>
                  <a:pt x="1735582" y="365887"/>
                </a:lnTo>
                <a:lnTo>
                  <a:pt x="1379093" y="14097"/>
                </a:lnTo>
                <a:lnTo>
                  <a:pt x="1379093" y="9398"/>
                </a:lnTo>
                <a:lnTo>
                  <a:pt x="1374394" y="9398"/>
                </a:lnTo>
                <a:lnTo>
                  <a:pt x="1369988" y="5947"/>
                </a:lnTo>
                <a:lnTo>
                  <a:pt x="1363821" y="2936"/>
                </a:lnTo>
                <a:lnTo>
                  <a:pt x="1355891" y="807"/>
                </a:lnTo>
                <a:lnTo>
                  <a:pt x="134620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3881450"/>
            <a:ext cx="49657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35" dirty="0"/>
              <a:t>Langage</a:t>
            </a:r>
            <a:r>
              <a:rPr sz="5400" spc="-365" dirty="0"/>
              <a:t> </a:t>
            </a:r>
            <a:r>
              <a:rPr sz="5400" spc="-395" dirty="0"/>
              <a:t>HTML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018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Objectifs</a:t>
            </a:r>
            <a:r>
              <a:rPr spc="-260" dirty="0"/>
              <a:t> </a:t>
            </a:r>
            <a:r>
              <a:rPr spc="65" dirty="0"/>
              <a:t>du</a:t>
            </a:r>
            <a:r>
              <a:rPr spc="-265" dirty="0"/>
              <a:t> </a:t>
            </a:r>
            <a:r>
              <a:rPr spc="-55" dirty="0"/>
              <a:t>cours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798" y="1740865"/>
            <a:ext cx="7440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53535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Création</a:t>
            </a:r>
            <a:r>
              <a:rPr sz="2800" spc="-4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de</a:t>
            </a:r>
            <a:r>
              <a:rPr sz="2800" spc="-6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pages</a:t>
            </a:r>
            <a:r>
              <a:rPr sz="2800" spc="-4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web</a:t>
            </a:r>
            <a:r>
              <a:rPr sz="2800" spc="-7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avec</a:t>
            </a:r>
            <a:r>
              <a:rPr sz="2800" spc="-4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le</a:t>
            </a:r>
            <a:r>
              <a:rPr sz="2800" spc="-5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404040"/>
                </a:solidFill>
                <a:latin typeface="Georgia"/>
                <a:cs typeface="Georgia"/>
              </a:rPr>
              <a:t>langage</a:t>
            </a:r>
            <a:r>
              <a:rPr sz="2800" spc="-5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Georgia"/>
                <a:cs typeface="Georgia"/>
              </a:rPr>
              <a:t>HTML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5597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1</a:t>
            </a:r>
            <a:r>
              <a:rPr sz="4000" spc="-305" dirty="0"/>
              <a:t> </a:t>
            </a:r>
            <a:r>
              <a:rPr sz="4000" spc="-710" dirty="0"/>
              <a:t>:</a:t>
            </a:r>
            <a:r>
              <a:rPr sz="4000" spc="-300" dirty="0"/>
              <a:t> </a:t>
            </a:r>
            <a:r>
              <a:rPr sz="4000" spc="-30" dirty="0"/>
              <a:t>La</a:t>
            </a:r>
            <a:r>
              <a:rPr sz="4000" spc="-315" dirty="0"/>
              <a:t> </a:t>
            </a:r>
            <a:r>
              <a:rPr sz="4000" spc="-175" dirty="0"/>
              <a:t>Structure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064767" y="3256279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508" y="1688592"/>
            <a:ext cx="8281670" cy="3741409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latin typeface="Consolas"/>
                <a:cs typeface="Consolas"/>
              </a:rPr>
              <a:t>?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xml</a:t>
            </a:r>
            <a:r>
              <a:rPr sz="1600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version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"1.0"</a:t>
            </a:r>
            <a:r>
              <a:rPr sz="16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encoding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"UTF-</a:t>
            </a:r>
            <a:r>
              <a:rPr sz="1600" b="1" spc="-20" dirty="0">
                <a:solidFill>
                  <a:srgbClr val="0000FF"/>
                </a:solidFill>
                <a:latin typeface="Consolas"/>
                <a:cs typeface="Consolas"/>
              </a:rPr>
              <a:t>8"</a:t>
            </a:r>
            <a:r>
              <a:rPr sz="1600" b="1" spc="-20" dirty="0">
                <a:latin typeface="Consolas"/>
                <a:cs typeface="Consolas"/>
              </a:rPr>
              <a:t>?</a:t>
            </a:r>
            <a:r>
              <a:rPr sz="1600" b="1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&lt;!</a:t>
            </a:r>
            <a:r>
              <a:rPr sz="1600" u="sng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DOCTYPE</a:t>
            </a:r>
            <a:r>
              <a:rPr sz="1600" u="sng" spc="-35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html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"-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//W3C//DTD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XHTML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1.1//EN"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"http://www.w3.org/TR/xhtml11/DTD/xhtml11.dtd"&gt;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600" u="heavy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html</a:t>
            </a:r>
            <a:r>
              <a:rPr sz="1600" u="heavy" spc="-85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 </a:t>
            </a:r>
            <a:r>
              <a:rPr sz="16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xmlns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6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  <a:hlinkClick r:id="rId3"/>
              </a:rPr>
              <a:t>"http://www.w3.org/1999/xhtml</a:t>
            </a:r>
            <a:r>
              <a:rPr sz="16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1600" b="1" u="sng" spc="-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 </a:t>
            </a: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xml:lang</a:t>
            </a: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fr"&gt;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Ma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page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 marR="17843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Bonjour,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je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 err="1">
                <a:latin typeface="Consolas"/>
                <a:cs typeface="Consolas"/>
              </a:rPr>
              <a:t>m'appelle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lang="fr-FR" sz="1600" spc="-25" dirty="0">
                <a:latin typeface="Consolas"/>
                <a:cs typeface="Consolas"/>
              </a:rPr>
              <a:t>Ramzi </a:t>
            </a:r>
            <a:r>
              <a:rPr sz="1600" dirty="0">
                <a:latin typeface="Consolas"/>
                <a:cs typeface="Consolas"/>
              </a:rPr>
              <a:t>et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je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suis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heureux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d'etre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parmi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vous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pour </a:t>
            </a:r>
            <a:r>
              <a:rPr sz="1600" dirty="0">
                <a:latin typeface="Consolas"/>
                <a:cs typeface="Consolas"/>
              </a:rPr>
              <a:t>le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 err="1">
                <a:latin typeface="Consolas"/>
                <a:cs typeface="Consolas"/>
              </a:rPr>
              <a:t>cours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lang="fr-FR" sz="1600" spc="-45" dirty="0">
                <a:latin typeface="Consolas"/>
                <a:cs typeface="Consolas"/>
              </a:rPr>
              <a:t>html/</a:t>
            </a:r>
            <a:r>
              <a:rPr lang="fr-FR" sz="1600" spc="-45" dirty="0" err="1">
                <a:latin typeface="Consolas"/>
                <a:cs typeface="Consolas"/>
              </a:rPr>
              <a:t>css</a:t>
            </a:r>
            <a:r>
              <a:rPr lang="fr-FR"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html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Exemple</a:t>
            </a:r>
            <a:r>
              <a:rPr spc="-275" dirty="0"/>
              <a:t> </a:t>
            </a:r>
            <a:r>
              <a:rPr spc="95" dirty="0"/>
              <a:t>d’une</a:t>
            </a:r>
            <a:r>
              <a:rPr spc="-265" dirty="0"/>
              <a:t> </a:t>
            </a:r>
            <a:r>
              <a:rPr spc="215" dirty="0"/>
              <a:t>page</a:t>
            </a:r>
            <a:r>
              <a:rPr spc="-250" dirty="0"/>
              <a:t> </a:t>
            </a:r>
            <a:r>
              <a:rPr spc="114" dirty="0"/>
              <a:t>web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1195" y="2924555"/>
            <a:ext cx="6120765" cy="954405"/>
            <a:chOff x="2711195" y="2924555"/>
            <a:chExt cx="6120765" cy="954405"/>
          </a:xfrm>
        </p:grpSpPr>
        <p:sp>
          <p:nvSpPr>
            <p:cNvPr id="3" name="object 3"/>
            <p:cNvSpPr/>
            <p:nvPr/>
          </p:nvSpPr>
          <p:spPr>
            <a:xfrm>
              <a:off x="2711195" y="2924555"/>
              <a:ext cx="6120765" cy="954405"/>
            </a:xfrm>
            <a:custGeom>
              <a:avLst/>
              <a:gdLst/>
              <a:ahLst/>
              <a:cxnLst/>
              <a:rect l="l" t="t" r="r" b="b"/>
              <a:pathLst>
                <a:path w="6120765" h="954404">
                  <a:moveTo>
                    <a:pt x="6120383" y="0"/>
                  </a:moveTo>
                  <a:lnTo>
                    <a:pt x="0" y="0"/>
                  </a:lnTo>
                  <a:lnTo>
                    <a:pt x="0" y="954024"/>
                  </a:lnTo>
                  <a:lnTo>
                    <a:pt x="6120383" y="954024"/>
                  </a:lnTo>
                  <a:lnTo>
                    <a:pt x="61203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3017" y="2979800"/>
              <a:ext cx="5663565" cy="841375"/>
            </a:xfrm>
            <a:custGeom>
              <a:avLst/>
              <a:gdLst/>
              <a:ahLst/>
              <a:cxnLst/>
              <a:rect l="l" t="t" r="r" b="b"/>
              <a:pathLst>
                <a:path w="5663565" h="841375">
                  <a:moveTo>
                    <a:pt x="585203" y="0"/>
                  </a:moveTo>
                  <a:lnTo>
                    <a:pt x="195072" y="0"/>
                  </a:lnTo>
                  <a:lnTo>
                    <a:pt x="0" y="0"/>
                  </a:lnTo>
                  <a:lnTo>
                    <a:pt x="0" y="414528"/>
                  </a:lnTo>
                  <a:lnTo>
                    <a:pt x="195072" y="414528"/>
                  </a:lnTo>
                  <a:lnTo>
                    <a:pt x="585203" y="414528"/>
                  </a:lnTo>
                  <a:lnTo>
                    <a:pt x="585203" y="0"/>
                  </a:lnTo>
                  <a:close/>
                </a:path>
                <a:path w="5663565" h="841375">
                  <a:moveTo>
                    <a:pt x="2147303" y="0"/>
                  </a:moveTo>
                  <a:lnTo>
                    <a:pt x="1757172" y="0"/>
                  </a:lnTo>
                  <a:lnTo>
                    <a:pt x="1562100" y="0"/>
                  </a:lnTo>
                  <a:lnTo>
                    <a:pt x="1367028" y="0"/>
                  </a:lnTo>
                  <a:lnTo>
                    <a:pt x="585216" y="0"/>
                  </a:lnTo>
                  <a:lnTo>
                    <a:pt x="585216" y="414528"/>
                  </a:lnTo>
                  <a:lnTo>
                    <a:pt x="1367028" y="414528"/>
                  </a:lnTo>
                  <a:lnTo>
                    <a:pt x="1562100" y="414528"/>
                  </a:lnTo>
                  <a:lnTo>
                    <a:pt x="1757172" y="414528"/>
                  </a:lnTo>
                  <a:lnTo>
                    <a:pt x="2147303" y="414528"/>
                  </a:lnTo>
                  <a:lnTo>
                    <a:pt x="2147303" y="0"/>
                  </a:lnTo>
                  <a:close/>
                </a:path>
                <a:path w="5663565" h="841375">
                  <a:moveTo>
                    <a:pt x="2734056" y="426720"/>
                  </a:moveTo>
                  <a:lnTo>
                    <a:pt x="2537460" y="426720"/>
                  </a:lnTo>
                  <a:lnTo>
                    <a:pt x="2342388" y="426720"/>
                  </a:lnTo>
                  <a:lnTo>
                    <a:pt x="1952244" y="426720"/>
                  </a:lnTo>
                  <a:lnTo>
                    <a:pt x="0" y="426720"/>
                  </a:lnTo>
                  <a:lnTo>
                    <a:pt x="0" y="841248"/>
                  </a:lnTo>
                  <a:lnTo>
                    <a:pt x="1952244" y="841248"/>
                  </a:lnTo>
                  <a:lnTo>
                    <a:pt x="2342388" y="841248"/>
                  </a:lnTo>
                  <a:lnTo>
                    <a:pt x="2537460" y="841248"/>
                  </a:lnTo>
                  <a:lnTo>
                    <a:pt x="2734056" y="841248"/>
                  </a:lnTo>
                  <a:lnTo>
                    <a:pt x="2734056" y="426720"/>
                  </a:lnTo>
                  <a:close/>
                </a:path>
                <a:path w="5663565" h="841375">
                  <a:moveTo>
                    <a:pt x="5663184" y="0"/>
                  </a:moveTo>
                  <a:lnTo>
                    <a:pt x="2537460" y="0"/>
                  </a:lnTo>
                  <a:lnTo>
                    <a:pt x="2147316" y="0"/>
                  </a:lnTo>
                  <a:lnTo>
                    <a:pt x="2147316" y="414528"/>
                  </a:lnTo>
                  <a:lnTo>
                    <a:pt x="2537460" y="414528"/>
                  </a:lnTo>
                  <a:lnTo>
                    <a:pt x="5663184" y="414528"/>
                  </a:lnTo>
                  <a:lnTo>
                    <a:pt x="5663184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90825" y="2939033"/>
            <a:ext cx="54927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8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800" spc="-1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FF0000"/>
                </a:solidFill>
                <a:latin typeface="Consolas"/>
                <a:cs typeface="Consolas"/>
              </a:rPr>
              <a:t>lang</a:t>
            </a:r>
            <a:r>
              <a:rPr sz="2800" b="1" dirty="0">
                <a:latin typeface="Consolas"/>
                <a:cs typeface="Consolas"/>
              </a:rPr>
              <a:t>=</a:t>
            </a:r>
            <a:r>
              <a:rPr sz="2800" b="1" dirty="0">
                <a:solidFill>
                  <a:srgbClr val="0000FF"/>
                </a:solidFill>
                <a:latin typeface="Consolas"/>
                <a:cs typeface="Consolas"/>
              </a:rPr>
              <a:t>"fr"&gt;</a:t>
            </a:r>
            <a:r>
              <a:rPr sz="2800" b="1" dirty="0">
                <a:latin typeface="Consolas"/>
                <a:cs typeface="Consolas"/>
              </a:rPr>
              <a:t>Du</a:t>
            </a:r>
            <a:r>
              <a:rPr sz="2800" b="1" spc="-125" dirty="0">
                <a:latin typeface="Consolas"/>
                <a:cs typeface="Consolas"/>
              </a:rPr>
              <a:t> </a:t>
            </a:r>
            <a:r>
              <a:rPr sz="2800" b="1" dirty="0">
                <a:latin typeface="Consolas"/>
                <a:cs typeface="Consolas"/>
              </a:rPr>
              <a:t>contenu</a:t>
            </a:r>
            <a:r>
              <a:rPr sz="2800" b="1" spc="-125" dirty="0">
                <a:latin typeface="Consolas"/>
                <a:cs typeface="Consolas"/>
              </a:rPr>
              <a:t> </a:t>
            </a:r>
            <a:r>
              <a:rPr sz="2800" b="1" spc="-20" dirty="0">
                <a:latin typeface="Consolas"/>
                <a:cs typeface="Consolas"/>
              </a:rPr>
              <a:t>d'un </a:t>
            </a:r>
            <a:r>
              <a:rPr sz="2800" b="1" spc="-10" dirty="0">
                <a:latin typeface="Consolas"/>
                <a:cs typeface="Consolas"/>
              </a:rPr>
              <a:t>paragraphe</a:t>
            </a:r>
            <a:r>
              <a:rPr sz="2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8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66912" y="188530"/>
            <a:ext cx="86093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54" dirty="0"/>
              <a:t> </a:t>
            </a:r>
            <a:r>
              <a:rPr spc="-105" dirty="0"/>
              <a:t>balises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46019" y="1621536"/>
            <a:ext cx="106680" cy="1447800"/>
          </a:xfrm>
          <a:custGeom>
            <a:avLst/>
            <a:gdLst/>
            <a:ahLst/>
            <a:cxnLst/>
            <a:rect l="l" t="t" r="r" b="b"/>
            <a:pathLst>
              <a:path w="106680" h="1447800">
                <a:moveTo>
                  <a:pt x="48587" y="1439872"/>
                </a:moveTo>
                <a:lnTo>
                  <a:pt x="53212" y="1447800"/>
                </a:lnTo>
                <a:lnTo>
                  <a:pt x="57584" y="1440306"/>
                </a:lnTo>
                <a:lnTo>
                  <a:pt x="49022" y="1440306"/>
                </a:lnTo>
                <a:lnTo>
                  <a:pt x="48587" y="1439872"/>
                </a:lnTo>
                <a:close/>
              </a:path>
              <a:path w="106680" h="1447800">
                <a:moveTo>
                  <a:pt x="45593" y="1404498"/>
                </a:moveTo>
                <a:lnTo>
                  <a:pt x="45593" y="1434739"/>
                </a:lnTo>
                <a:lnTo>
                  <a:pt x="48587" y="1439872"/>
                </a:lnTo>
                <a:lnTo>
                  <a:pt x="49022" y="1440306"/>
                </a:lnTo>
                <a:lnTo>
                  <a:pt x="57404" y="1440306"/>
                </a:lnTo>
                <a:lnTo>
                  <a:pt x="57838" y="1439872"/>
                </a:lnTo>
                <a:lnTo>
                  <a:pt x="60832" y="1434739"/>
                </a:lnTo>
                <a:lnTo>
                  <a:pt x="60832" y="1428877"/>
                </a:lnTo>
                <a:lnTo>
                  <a:pt x="46608" y="1428877"/>
                </a:lnTo>
                <a:lnTo>
                  <a:pt x="53212" y="1417558"/>
                </a:lnTo>
                <a:lnTo>
                  <a:pt x="45593" y="1404498"/>
                </a:lnTo>
                <a:close/>
              </a:path>
              <a:path w="106680" h="1447800">
                <a:moveTo>
                  <a:pt x="57838" y="1439872"/>
                </a:moveTo>
                <a:lnTo>
                  <a:pt x="57404" y="1440306"/>
                </a:lnTo>
                <a:lnTo>
                  <a:pt x="57584" y="1440306"/>
                </a:lnTo>
                <a:lnTo>
                  <a:pt x="57838" y="1439872"/>
                </a:lnTo>
                <a:close/>
              </a:path>
              <a:path w="106680" h="1447800">
                <a:moveTo>
                  <a:pt x="45593" y="1434739"/>
                </a:moveTo>
                <a:lnTo>
                  <a:pt x="45593" y="1436877"/>
                </a:lnTo>
                <a:lnTo>
                  <a:pt x="48587" y="1439872"/>
                </a:lnTo>
                <a:lnTo>
                  <a:pt x="45593" y="1434739"/>
                </a:lnTo>
                <a:close/>
              </a:path>
              <a:path w="106680" h="1447800">
                <a:moveTo>
                  <a:pt x="60832" y="1434739"/>
                </a:moveTo>
                <a:lnTo>
                  <a:pt x="57838" y="1439872"/>
                </a:lnTo>
                <a:lnTo>
                  <a:pt x="60832" y="1436877"/>
                </a:lnTo>
                <a:lnTo>
                  <a:pt x="60832" y="1434739"/>
                </a:lnTo>
                <a:close/>
              </a:path>
              <a:path w="106680" h="1447800">
                <a:moveTo>
                  <a:pt x="8508" y="1347851"/>
                </a:moveTo>
                <a:lnTo>
                  <a:pt x="4953" y="1349883"/>
                </a:lnTo>
                <a:lnTo>
                  <a:pt x="1269" y="1352041"/>
                </a:lnTo>
                <a:lnTo>
                  <a:pt x="0" y="1356740"/>
                </a:lnTo>
                <a:lnTo>
                  <a:pt x="2158" y="1360297"/>
                </a:lnTo>
                <a:lnTo>
                  <a:pt x="45593" y="1434739"/>
                </a:lnTo>
                <a:lnTo>
                  <a:pt x="45593" y="1404498"/>
                </a:lnTo>
                <a:lnTo>
                  <a:pt x="13207" y="1348993"/>
                </a:lnTo>
                <a:lnTo>
                  <a:pt x="8508" y="1347851"/>
                </a:lnTo>
                <a:close/>
              </a:path>
              <a:path w="106680" h="1447800">
                <a:moveTo>
                  <a:pt x="97917" y="1347851"/>
                </a:moveTo>
                <a:lnTo>
                  <a:pt x="93218" y="1348993"/>
                </a:lnTo>
                <a:lnTo>
                  <a:pt x="60832" y="1404498"/>
                </a:lnTo>
                <a:lnTo>
                  <a:pt x="60832" y="1434739"/>
                </a:lnTo>
                <a:lnTo>
                  <a:pt x="104267" y="1360297"/>
                </a:lnTo>
                <a:lnTo>
                  <a:pt x="106425" y="1356740"/>
                </a:lnTo>
                <a:lnTo>
                  <a:pt x="105156" y="1352041"/>
                </a:lnTo>
                <a:lnTo>
                  <a:pt x="101473" y="1349883"/>
                </a:lnTo>
                <a:lnTo>
                  <a:pt x="97917" y="1347851"/>
                </a:lnTo>
                <a:close/>
              </a:path>
              <a:path w="106680" h="1447800">
                <a:moveTo>
                  <a:pt x="53212" y="1417558"/>
                </a:moveTo>
                <a:lnTo>
                  <a:pt x="46608" y="1428877"/>
                </a:lnTo>
                <a:lnTo>
                  <a:pt x="59817" y="1428877"/>
                </a:lnTo>
                <a:lnTo>
                  <a:pt x="53212" y="1417558"/>
                </a:lnTo>
                <a:close/>
              </a:path>
              <a:path w="106680" h="1447800">
                <a:moveTo>
                  <a:pt x="60832" y="1404498"/>
                </a:moveTo>
                <a:lnTo>
                  <a:pt x="53212" y="1417558"/>
                </a:lnTo>
                <a:lnTo>
                  <a:pt x="59817" y="1428877"/>
                </a:lnTo>
                <a:lnTo>
                  <a:pt x="60832" y="1428877"/>
                </a:lnTo>
                <a:lnTo>
                  <a:pt x="60832" y="1404498"/>
                </a:lnTo>
                <a:close/>
              </a:path>
              <a:path w="106680" h="1447800">
                <a:moveTo>
                  <a:pt x="57404" y="0"/>
                </a:moveTo>
                <a:lnTo>
                  <a:pt x="49022" y="0"/>
                </a:lnTo>
                <a:lnTo>
                  <a:pt x="45593" y="3428"/>
                </a:lnTo>
                <a:lnTo>
                  <a:pt x="45593" y="1404498"/>
                </a:lnTo>
                <a:lnTo>
                  <a:pt x="53212" y="1417558"/>
                </a:lnTo>
                <a:lnTo>
                  <a:pt x="60832" y="1404498"/>
                </a:lnTo>
                <a:lnTo>
                  <a:pt x="60832" y="3428"/>
                </a:lnTo>
                <a:lnTo>
                  <a:pt x="57404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35123" y="1289303"/>
            <a:ext cx="1728470" cy="338455"/>
          </a:xfrm>
          <a:prstGeom prst="rect">
            <a:avLst/>
          </a:prstGeom>
          <a:solidFill>
            <a:srgbClr val="B827E9"/>
          </a:solidFill>
          <a:ln w="15240">
            <a:solidFill>
              <a:srgbClr val="861AAB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315"/>
              </a:spcBef>
            </a:pP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Balise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ouvrante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7292" y="5012435"/>
            <a:ext cx="1728470" cy="340360"/>
          </a:xfrm>
          <a:prstGeom prst="rect">
            <a:avLst/>
          </a:prstGeom>
          <a:solidFill>
            <a:srgbClr val="B827E9"/>
          </a:solidFill>
          <a:ln w="15240">
            <a:solidFill>
              <a:srgbClr val="861AAB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335"/>
              </a:spcBef>
            </a:pP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Balise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fermante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35552" y="1293875"/>
            <a:ext cx="3365500" cy="3728085"/>
            <a:chOff x="4035552" y="1293875"/>
            <a:chExt cx="3365500" cy="3728085"/>
          </a:xfrm>
        </p:grpSpPr>
        <p:sp>
          <p:nvSpPr>
            <p:cNvPr id="12" name="object 12"/>
            <p:cNvSpPr/>
            <p:nvPr/>
          </p:nvSpPr>
          <p:spPr>
            <a:xfrm>
              <a:off x="5519928" y="3877690"/>
              <a:ext cx="1880870" cy="1144270"/>
            </a:xfrm>
            <a:custGeom>
              <a:avLst/>
              <a:gdLst/>
              <a:ahLst/>
              <a:cxnLst/>
              <a:rect l="l" t="t" r="r" b="b"/>
              <a:pathLst>
                <a:path w="1880870" h="1144270">
                  <a:moveTo>
                    <a:pt x="25821" y="16588"/>
                  </a:moveTo>
                  <a:lnTo>
                    <a:pt x="33049" y="29868"/>
                  </a:lnTo>
                  <a:lnTo>
                    <a:pt x="1868297" y="1141475"/>
                  </a:lnTo>
                  <a:lnTo>
                    <a:pt x="1871852" y="1143761"/>
                  </a:lnTo>
                  <a:lnTo>
                    <a:pt x="1876552" y="1142618"/>
                  </a:lnTo>
                  <a:lnTo>
                    <a:pt x="1878711" y="1138935"/>
                  </a:lnTo>
                  <a:lnTo>
                    <a:pt x="1880870" y="1135379"/>
                  </a:lnTo>
                  <a:lnTo>
                    <a:pt x="1879727" y="1130680"/>
                  </a:lnTo>
                  <a:lnTo>
                    <a:pt x="40989" y="16829"/>
                  </a:lnTo>
                  <a:lnTo>
                    <a:pt x="25821" y="16588"/>
                  </a:lnTo>
                  <a:close/>
                </a:path>
                <a:path w="1880870" h="1144270">
                  <a:moveTo>
                    <a:pt x="7276" y="14257"/>
                  </a:moveTo>
                  <a:lnTo>
                    <a:pt x="48387" y="89788"/>
                  </a:lnTo>
                  <a:lnTo>
                    <a:pt x="50419" y="93598"/>
                  </a:lnTo>
                  <a:lnTo>
                    <a:pt x="54991" y="94868"/>
                  </a:lnTo>
                  <a:lnTo>
                    <a:pt x="58674" y="92836"/>
                  </a:lnTo>
                  <a:lnTo>
                    <a:pt x="62357" y="90931"/>
                  </a:lnTo>
                  <a:lnTo>
                    <a:pt x="63754" y="86232"/>
                  </a:lnTo>
                  <a:lnTo>
                    <a:pt x="61722" y="82549"/>
                  </a:lnTo>
                  <a:lnTo>
                    <a:pt x="33049" y="29868"/>
                  </a:lnTo>
                  <a:lnTo>
                    <a:pt x="7276" y="14257"/>
                  </a:lnTo>
                  <a:close/>
                </a:path>
                <a:path w="1880870" h="1144270">
                  <a:moveTo>
                    <a:pt x="13208" y="0"/>
                  </a:moveTo>
                  <a:lnTo>
                    <a:pt x="8222" y="1134"/>
                  </a:lnTo>
                  <a:lnTo>
                    <a:pt x="8513" y="1134"/>
                  </a:lnTo>
                  <a:lnTo>
                    <a:pt x="6350" y="4698"/>
                  </a:lnTo>
                  <a:lnTo>
                    <a:pt x="4132" y="8481"/>
                  </a:lnTo>
                  <a:lnTo>
                    <a:pt x="7276" y="14257"/>
                  </a:lnTo>
                  <a:lnTo>
                    <a:pt x="33049" y="29868"/>
                  </a:lnTo>
                  <a:lnTo>
                    <a:pt x="25821" y="16588"/>
                  </a:lnTo>
                  <a:lnTo>
                    <a:pt x="12826" y="16382"/>
                  </a:lnTo>
                  <a:lnTo>
                    <a:pt x="19558" y="5079"/>
                  </a:lnTo>
                  <a:lnTo>
                    <a:pt x="21594" y="5079"/>
                  </a:lnTo>
                  <a:lnTo>
                    <a:pt x="13208" y="0"/>
                  </a:lnTo>
                  <a:close/>
                </a:path>
                <a:path w="1880870" h="1144270">
                  <a:moveTo>
                    <a:pt x="15081" y="1134"/>
                  </a:moveTo>
                  <a:lnTo>
                    <a:pt x="40989" y="16829"/>
                  </a:lnTo>
                  <a:lnTo>
                    <a:pt x="100964" y="17779"/>
                  </a:lnTo>
                  <a:lnTo>
                    <a:pt x="105156" y="17906"/>
                  </a:lnTo>
                  <a:lnTo>
                    <a:pt x="108712" y="14477"/>
                  </a:lnTo>
                  <a:lnTo>
                    <a:pt x="108838" y="6095"/>
                  </a:lnTo>
                  <a:lnTo>
                    <a:pt x="105410" y="2666"/>
                  </a:lnTo>
                  <a:lnTo>
                    <a:pt x="109005" y="2666"/>
                  </a:lnTo>
                  <a:lnTo>
                    <a:pt x="15081" y="1134"/>
                  </a:lnTo>
                  <a:close/>
                </a:path>
                <a:path w="1880870" h="1144270">
                  <a:moveTo>
                    <a:pt x="21594" y="5079"/>
                  </a:moveTo>
                  <a:lnTo>
                    <a:pt x="19558" y="5079"/>
                  </a:lnTo>
                  <a:lnTo>
                    <a:pt x="25709" y="16382"/>
                  </a:lnTo>
                  <a:lnTo>
                    <a:pt x="25821" y="16588"/>
                  </a:lnTo>
                  <a:lnTo>
                    <a:pt x="40989" y="16829"/>
                  </a:lnTo>
                  <a:lnTo>
                    <a:pt x="21594" y="5079"/>
                  </a:lnTo>
                  <a:close/>
                </a:path>
                <a:path w="1880870" h="1144270">
                  <a:moveTo>
                    <a:pt x="19558" y="5079"/>
                  </a:moveTo>
                  <a:lnTo>
                    <a:pt x="12826" y="16382"/>
                  </a:lnTo>
                  <a:lnTo>
                    <a:pt x="25821" y="16588"/>
                  </a:lnTo>
                  <a:lnTo>
                    <a:pt x="19558" y="5079"/>
                  </a:lnTo>
                  <a:close/>
                </a:path>
                <a:path w="1880870" h="1144270">
                  <a:moveTo>
                    <a:pt x="4282" y="8756"/>
                  </a:moveTo>
                  <a:lnTo>
                    <a:pt x="5334" y="13080"/>
                  </a:lnTo>
                  <a:lnTo>
                    <a:pt x="7276" y="14257"/>
                  </a:lnTo>
                  <a:lnTo>
                    <a:pt x="4282" y="8756"/>
                  </a:lnTo>
                  <a:close/>
                </a:path>
                <a:path w="1880870" h="1144270">
                  <a:moveTo>
                    <a:pt x="0" y="888"/>
                  </a:moveTo>
                  <a:lnTo>
                    <a:pt x="4132" y="8481"/>
                  </a:lnTo>
                  <a:lnTo>
                    <a:pt x="6350" y="4698"/>
                  </a:lnTo>
                  <a:lnTo>
                    <a:pt x="8513" y="1134"/>
                  </a:lnTo>
                  <a:lnTo>
                    <a:pt x="15081" y="1134"/>
                  </a:lnTo>
                  <a:lnTo>
                    <a:pt x="0" y="888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43172" y="1301495"/>
              <a:ext cx="1836420" cy="584200"/>
            </a:xfrm>
            <a:custGeom>
              <a:avLst/>
              <a:gdLst/>
              <a:ahLst/>
              <a:cxnLst/>
              <a:rect l="l" t="t" r="r" b="b"/>
              <a:pathLst>
                <a:path w="1836420" h="584200">
                  <a:moveTo>
                    <a:pt x="1836420" y="0"/>
                  </a:moveTo>
                  <a:lnTo>
                    <a:pt x="0" y="0"/>
                  </a:lnTo>
                  <a:lnTo>
                    <a:pt x="0" y="583691"/>
                  </a:lnTo>
                  <a:lnTo>
                    <a:pt x="1836420" y="583691"/>
                  </a:lnTo>
                  <a:lnTo>
                    <a:pt x="1836420" y="0"/>
                  </a:lnTo>
                  <a:close/>
                </a:path>
              </a:pathLst>
            </a:custGeom>
            <a:solidFill>
              <a:srgbClr val="B82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43172" y="1301495"/>
              <a:ext cx="1836420" cy="584200"/>
            </a:xfrm>
            <a:custGeom>
              <a:avLst/>
              <a:gdLst/>
              <a:ahLst/>
              <a:cxnLst/>
              <a:rect l="l" t="t" r="r" b="b"/>
              <a:pathLst>
                <a:path w="1836420" h="584200">
                  <a:moveTo>
                    <a:pt x="0" y="583691"/>
                  </a:moveTo>
                  <a:lnTo>
                    <a:pt x="1836420" y="583691"/>
                  </a:lnTo>
                  <a:lnTo>
                    <a:pt x="1836420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</a:pathLst>
            </a:custGeom>
            <a:ln w="15240">
              <a:solidFill>
                <a:srgbClr val="861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39488" y="1329943"/>
            <a:ext cx="8451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Nom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l’attribut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48455" y="1631314"/>
            <a:ext cx="1233170" cy="1438275"/>
          </a:xfrm>
          <a:custGeom>
            <a:avLst/>
            <a:gdLst/>
            <a:ahLst/>
            <a:cxnLst/>
            <a:rect l="l" t="t" r="r" b="b"/>
            <a:pathLst>
              <a:path w="1233170" h="1438275">
                <a:moveTo>
                  <a:pt x="1532" y="1429363"/>
                </a:moveTo>
                <a:lnTo>
                  <a:pt x="0" y="1437767"/>
                </a:lnTo>
                <a:lnTo>
                  <a:pt x="8112" y="1434944"/>
                </a:lnTo>
                <a:lnTo>
                  <a:pt x="4826" y="1432052"/>
                </a:lnTo>
                <a:lnTo>
                  <a:pt x="1532" y="1429363"/>
                </a:lnTo>
                <a:close/>
              </a:path>
              <a:path w="1233170" h="1438275">
                <a:moveTo>
                  <a:pt x="22308" y="1400080"/>
                </a:moveTo>
                <a:lnTo>
                  <a:pt x="4064" y="1421384"/>
                </a:lnTo>
                <a:lnTo>
                  <a:pt x="2706" y="1422926"/>
                </a:lnTo>
                <a:lnTo>
                  <a:pt x="1614" y="1428917"/>
                </a:lnTo>
                <a:lnTo>
                  <a:pt x="1532" y="1429363"/>
                </a:lnTo>
                <a:lnTo>
                  <a:pt x="4826" y="1432052"/>
                </a:lnTo>
                <a:lnTo>
                  <a:pt x="8112" y="1434944"/>
                </a:lnTo>
                <a:lnTo>
                  <a:pt x="14299" y="1432791"/>
                </a:lnTo>
                <a:lnTo>
                  <a:pt x="15621" y="1431289"/>
                </a:lnTo>
                <a:lnTo>
                  <a:pt x="18775" y="1427607"/>
                </a:lnTo>
                <a:lnTo>
                  <a:pt x="17272" y="1427607"/>
                </a:lnTo>
                <a:lnTo>
                  <a:pt x="7366" y="1419098"/>
                </a:lnTo>
                <a:lnTo>
                  <a:pt x="19607" y="1414843"/>
                </a:lnTo>
                <a:lnTo>
                  <a:pt x="22308" y="1400080"/>
                </a:lnTo>
                <a:close/>
              </a:path>
              <a:path w="1233170" h="1438275">
                <a:moveTo>
                  <a:pt x="14299" y="1432791"/>
                </a:moveTo>
                <a:lnTo>
                  <a:pt x="8112" y="1434944"/>
                </a:lnTo>
                <a:lnTo>
                  <a:pt x="7838" y="1434944"/>
                </a:lnTo>
                <a:lnTo>
                  <a:pt x="12827" y="1434464"/>
                </a:lnTo>
                <a:lnTo>
                  <a:pt x="14299" y="1432791"/>
                </a:lnTo>
                <a:close/>
              </a:path>
              <a:path w="1233170" h="1438275">
                <a:moveTo>
                  <a:pt x="94615" y="1388745"/>
                </a:moveTo>
                <a:lnTo>
                  <a:pt x="33985" y="1409845"/>
                </a:lnTo>
                <a:lnTo>
                  <a:pt x="15621" y="1431289"/>
                </a:lnTo>
                <a:lnTo>
                  <a:pt x="14299" y="1432791"/>
                </a:lnTo>
                <a:lnTo>
                  <a:pt x="99568" y="1403096"/>
                </a:lnTo>
                <a:lnTo>
                  <a:pt x="101727" y="1398777"/>
                </a:lnTo>
                <a:lnTo>
                  <a:pt x="98933" y="1390904"/>
                </a:lnTo>
                <a:lnTo>
                  <a:pt x="94615" y="1388745"/>
                </a:lnTo>
                <a:close/>
              </a:path>
              <a:path w="1233170" h="1438275">
                <a:moveTo>
                  <a:pt x="2706" y="1422926"/>
                </a:moveTo>
                <a:lnTo>
                  <a:pt x="1270" y="1424559"/>
                </a:lnTo>
                <a:lnTo>
                  <a:pt x="1510" y="1427607"/>
                </a:lnTo>
                <a:lnTo>
                  <a:pt x="1614" y="1428917"/>
                </a:lnTo>
                <a:lnTo>
                  <a:pt x="2706" y="1422926"/>
                </a:lnTo>
                <a:close/>
              </a:path>
              <a:path w="1233170" h="1438275">
                <a:moveTo>
                  <a:pt x="19607" y="1414843"/>
                </a:moveTo>
                <a:lnTo>
                  <a:pt x="7366" y="1419098"/>
                </a:lnTo>
                <a:lnTo>
                  <a:pt x="17272" y="1427607"/>
                </a:lnTo>
                <a:lnTo>
                  <a:pt x="19607" y="1414843"/>
                </a:lnTo>
                <a:close/>
              </a:path>
              <a:path w="1233170" h="1438275">
                <a:moveTo>
                  <a:pt x="33985" y="1409845"/>
                </a:moveTo>
                <a:lnTo>
                  <a:pt x="19607" y="1414843"/>
                </a:lnTo>
                <a:lnTo>
                  <a:pt x="17272" y="1427607"/>
                </a:lnTo>
                <a:lnTo>
                  <a:pt x="18775" y="1427607"/>
                </a:lnTo>
                <a:lnTo>
                  <a:pt x="33985" y="1409845"/>
                </a:lnTo>
                <a:close/>
              </a:path>
              <a:path w="1233170" h="1438275">
                <a:moveTo>
                  <a:pt x="22860" y="1331214"/>
                </a:moveTo>
                <a:lnTo>
                  <a:pt x="18923" y="1334008"/>
                </a:lnTo>
                <a:lnTo>
                  <a:pt x="2706" y="1422926"/>
                </a:lnTo>
                <a:lnTo>
                  <a:pt x="4064" y="1421384"/>
                </a:lnTo>
                <a:lnTo>
                  <a:pt x="22308" y="1400080"/>
                </a:lnTo>
                <a:lnTo>
                  <a:pt x="33909" y="1336675"/>
                </a:lnTo>
                <a:lnTo>
                  <a:pt x="31115" y="1332738"/>
                </a:lnTo>
                <a:lnTo>
                  <a:pt x="22860" y="1331214"/>
                </a:lnTo>
                <a:close/>
              </a:path>
              <a:path w="1233170" h="1438275">
                <a:moveTo>
                  <a:pt x="1225931" y="0"/>
                </a:moveTo>
                <a:lnTo>
                  <a:pt x="1221105" y="381"/>
                </a:lnTo>
                <a:lnTo>
                  <a:pt x="1218311" y="3556"/>
                </a:lnTo>
                <a:lnTo>
                  <a:pt x="22308" y="1400080"/>
                </a:lnTo>
                <a:lnTo>
                  <a:pt x="19607" y="1414843"/>
                </a:lnTo>
                <a:lnTo>
                  <a:pt x="33985" y="1409845"/>
                </a:lnTo>
                <a:lnTo>
                  <a:pt x="1229868" y="13462"/>
                </a:lnTo>
                <a:lnTo>
                  <a:pt x="1232662" y="10287"/>
                </a:lnTo>
                <a:lnTo>
                  <a:pt x="1232281" y="5461"/>
                </a:lnTo>
                <a:lnTo>
                  <a:pt x="1229106" y="2667"/>
                </a:lnTo>
                <a:lnTo>
                  <a:pt x="1225931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96000" y="1301496"/>
            <a:ext cx="1945005" cy="584200"/>
          </a:xfrm>
          <a:prstGeom prst="rect">
            <a:avLst/>
          </a:prstGeom>
          <a:solidFill>
            <a:srgbClr val="B827E9"/>
          </a:solidFill>
          <a:ln w="15240">
            <a:solidFill>
              <a:srgbClr val="861AAB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63245" marR="480695" indent="-73660">
              <a:lnSpc>
                <a:spcPct val="100000"/>
              </a:lnSpc>
              <a:spcBef>
                <a:spcPts val="320"/>
              </a:spcBef>
            </a:pP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Valeur</a:t>
            </a:r>
            <a:r>
              <a:rPr sz="16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l’attribut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72228" y="1876425"/>
            <a:ext cx="2205355" cy="1183640"/>
          </a:xfrm>
          <a:custGeom>
            <a:avLst/>
            <a:gdLst/>
            <a:ahLst/>
            <a:cxnLst/>
            <a:rect l="l" t="t" r="r" b="b"/>
            <a:pathLst>
              <a:path w="2205354" h="1183639">
                <a:moveTo>
                  <a:pt x="41760" y="1165685"/>
                </a:moveTo>
                <a:lnTo>
                  <a:pt x="16891" y="1178940"/>
                </a:lnTo>
                <a:lnTo>
                  <a:pt x="15133" y="1179910"/>
                </a:lnTo>
                <a:lnTo>
                  <a:pt x="104484" y="1183386"/>
                </a:lnTo>
                <a:lnTo>
                  <a:pt x="105410" y="1183386"/>
                </a:lnTo>
                <a:lnTo>
                  <a:pt x="108966" y="1180084"/>
                </a:lnTo>
                <a:lnTo>
                  <a:pt x="109093" y="1175892"/>
                </a:lnTo>
                <a:lnTo>
                  <a:pt x="109217" y="1171768"/>
                </a:lnTo>
                <a:lnTo>
                  <a:pt x="105918" y="1168146"/>
                </a:lnTo>
                <a:lnTo>
                  <a:pt x="104991" y="1168146"/>
                </a:lnTo>
                <a:lnTo>
                  <a:pt x="41760" y="1165685"/>
                </a:lnTo>
                <a:close/>
              </a:path>
              <a:path w="2205354" h="1183639">
                <a:moveTo>
                  <a:pt x="8806" y="1179664"/>
                </a:moveTo>
                <a:lnTo>
                  <a:pt x="13208" y="1180973"/>
                </a:lnTo>
                <a:lnTo>
                  <a:pt x="15133" y="1179910"/>
                </a:lnTo>
                <a:lnTo>
                  <a:pt x="8806" y="1179664"/>
                </a:lnTo>
                <a:close/>
              </a:path>
              <a:path w="2205354" h="1183639">
                <a:moveTo>
                  <a:pt x="4572" y="1172083"/>
                </a:moveTo>
                <a:lnTo>
                  <a:pt x="2119" y="1175892"/>
                </a:lnTo>
                <a:lnTo>
                  <a:pt x="0" y="1179322"/>
                </a:lnTo>
                <a:lnTo>
                  <a:pt x="15133" y="1179910"/>
                </a:lnTo>
                <a:lnTo>
                  <a:pt x="15579" y="1179664"/>
                </a:lnTo>
                <a:lnTo>
                  <a:pt x="8554" y="1179664"/>
                </a:lnTo>
                <a:lnTo>
                  <a:pt x="6604" y="1175892"/>
                </a:lnTo>
                <a:lnTo>
                  <a:pt x="4572" y="1172083"/>
                </a:lnTo>
                <a:close/>
              </a:path>
              <a:path w="2205354" h="1183639">
                <a:moveTo>
                  <a:pt x="34619" y="1152297"/>
                </a:moveTo>
                <a:lnTo>
                  <a:pt x="9497" y="1165685"/>
                </a:lnTo>
                <a:lnTo>
                  <a:pt x="7924" y="1166499"/>
                </a:lnTo>
                <a:lnTo>
                  <a:pt x="4668" y="1171768"/>
                </a:lnTo>
                <a:lnTo>
                  <a:pt x="4572" y="1172083"/>
                </a:lnTo>
                <a:lnTo>
                  <a:pt x="6604" y="1175892"/>
                </a:lnTo>
                <a:lnTo>
                  <a:pt x="8554" y="1179664"/>
                </a:lnTo>
                <a:lnTo>
                  <a:pt x="15579" y="1179664"/>
                </a:lnTo>
                <a:lnTo>
                  <a:pt x="16891" y="1178940"/>
                </a:lnTo>
                <a:lnTo>
                  <a:pt x="21894" y="1176274"/>
                </a:lnTo>
                <a:lnTo>
                  <a:pt x="19812" y="1176274"/>
                </a:lnTo>
                <a:lnTo>
                  <a:pt x="13588" y="1164589"/>
                </a:lnTo>
                <a:lnTo>
                  <a:pt x="27028" y="1164589"/>
                </a:lnTo>
                <a:lnTo>
                  <a:pt x="34619" y="1152297"/>
                </a:lnTo>
                <a:close/>
              </a:path>
              <a:path w="2205354" h="1183639">
                <a:moveTo>
                  <a:pt x="13588" y="1164589"/>
                </a:moveTo>
                <a:lnTo>
                  <a:pt x="19812" y="1176274"/>
                </a:lnTo>
                <a:lnTo>
                  <a:pt x="26712" y="1165100"/>
                </a:lnTo>
                <a:lnTo>
                  <a:pt x="13588" y="1164589"/>
                </a:lnTo>
                <a:close/>
              </a:path>
              <a:path w="2205354" h="1183639">
                <a:moveTo>
                  <a:pt x="26712" y="1165100"/>
                </a:moveTo>
                <a:lnTo>
                  <a:pt x="19812" y="1176274"/>
                </a:lnTo>
                <a:lnTo>
                  <a:pt x="21894" y="1176274"/>
                </a:lnTo>
                <a:lnTo>
                  <a:pt x="41760" y="1165685"/>
                </a:lnTo>
                <a:lnTo>
                  <a:pt x="26712" y="1165100"/>
                </a:lnTo>
                <a:close/>
              </a:path>
              <a:path w="2205354" h="1183639">
                <a:moveTo>
                  <a:pt x="7924" y="1166499"/>
                </a:moveTo>
                <a:lnTo>
                  <a:pt x="5969" y="1167511"/>
                </a:lnTo>
                <a:lnTo>
                  <a:pt x="4668" y="1171768"/>
                </a:lnTo>
                <a:lnTo>
                  <a:pt x="7924" y="1166499"/>
                </a:lnTo>
                <a:close/>
              </a:path>
              <a:path w="2205354" h="1183639">
                <a:moveTo>
                  <a:pt x="60071" y="1088516"/>
                </a:moveTo>
                <a:lnTo>
                  <a:pt x="55372" y="1089660"/>
                </a:lnTo>
                <a:lnTo>
                  <a:pt x="53212" y="1093215"/>
                </a:lnTo>
                <a:lnTo>
                  <a:pt x="7924" y="1166499"/>
                </a:lnTo>
                <a:lnTo>
                  <a:pt x="9497" y="1165685"/>
                </a:lnTo>
                <a:lnTo>
                  <a:pt x="34619" y="1152297"/>
                </a:lnTo>
                <a:lnTo>
                  <a:pt x="66167" y="1101216"/>
                </a:lnTo>
                <a:lnTo>
                  <a:pt x="68325" y="1097661"/>
                </a:lnTo>
                <a:lnTo>
                  <a:pt x="67244" y="1093215"/>
                </a:lnTo>
                <a:lnTo>
                  <a:pt x="67183" y="1092962"/>
                </a:lnTo>
                <a:lnTo>
                  <a:pt x="63626" y="1090676"/>
                </a:lnTo>
                <a:lnTo>
                  <a:pt x="60071" y="1088516"/>
                </a:lnTo>
                <a:close/>
              </a:path>
              <a:path w="2205354" h="1183639">
                <a:moveTo>
                  <a:pt x="2196338" y="0"/>
                </a:moveTo>
                <a:lnTo>
                  <a:pt x="2192654" y="2032"/>
                </a:lnTo>
                <a:lnTo>
                  <a:pt x="34619" y="1152297"/>
                </a:lnTo>
                <a:lnTo>
                  <a:pt x="26712" y="1165100"/>
                </a:lnTo>
                <a:lnTo>
                  <a:pt x="41760" y="1165685"/>
                </a:lnTo>
                <a:lnTo>
                  <a:pt x="2203577" y="13462"/>
                </a:lnTo>
                <a:lnTo>
                  <a:pt x="2204974" y="8889"/>
                </a:lnTo>
                <a:lnTo>
                  <a:pt x="2202942" y="5207"/>
                </a:lnTo>
                <a:lnTo>
                  <a:pt x="2201037" y="1524"/>
                </a:lnTo>
                <a:lnTo>
                  <a:pt x="2196338" y="0"/>
                </a:lnTo>
                <a:close/>
              </a:path>
              <a:path w="2205354" h="1183639">
                <a:moveTo>
                  <a:pt x="27028" y="1164589"/>
                </a:moveTo>
                <a:lnTo>
                  <a:pt x="13588" y="1164589"/>
                </a:lnTo>
                <a:lnTo>
                  <a:pt x="26712" y="1165100"/>
                </a:lnTo>
                <a:lnTo>
                  <a:pt x="27028" y="1164589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23844" y="5012435"/>
            <a:ext cx="2196465" cy="585470"/>
          </a:xfrm>
          <a:prstGeom prst="rect">
            <a:avLst/>
          </a:prstGeom>
          <a:solidFill>
            <a:srgbClr val="B827E9"/>
          </a:solidFill>
          <a:ln w="15240">
            <a:solidFill>
              <a:srgbClr val="861AAB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812800" marR="372745" indent="-431800">
              <a:lnSpc>
                <a:spcPct val="100000"/>
              </a:lnSpc>
              <a:spcBef>
                <a:spcPts val="33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Contenu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balise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20084" y="3867911"/>
            <a:ext cx="882015" cy="1143000"/>
          </a:xfrm>
          <a:custGeom>
            <a:avLst/>
            <a:gdLst/>
            <a:ahLst/>
            <a:cxnLst/>
            <a:rect l="l" t="t" r="r" b="b"/>
            <a:pathLst>
              <a:path w="882014" h="1143000">
                <a:moveTo>
                  <a:pt x="18450" y="23980"/>
                </a:moveTo>
                <a:lnTo>
                  <a:pt x="20291" y="38226"/>
                </a:lnTo>
                <a:lnTo>
                  <a:pt x="20391" y="39005"/>
                </a:lnTo>
                <a:lnTo>
                  <a:pt x="869441" y="1142111"/>
                </a:lnTo>
                <a:lnTo>
                  <a:pt x="874267" y="1142745"/>
                </a:lnTo>
                <a:lnTo>
                  <a:pt x="880999" y="1137539"/>
                </a:lnTo>
                <a:lnTo>
                  <a:pt x="881633" y="1132839"/>
                </a:lnTo>
                <a:lnTo>
                  <a:pt x="878966" y="1129538"/>
                </a:lnTo>
                <a:lnTo>
                  <a:pt x="32545" y="29723"/>
                </a:lnTo>
                <a:lnTo>
                  <a:pt x="18450" y="23980"/>
                </a:lnTo>
                <a:close/>
              </a:path>
              <a:path w="882014" h="1143000">
                <a:moveTo>
                  <a:pt x="1928" y="14953"/>
                </a:moveTo>
                <a:lnTo>
                  <a:pt x="12953" y="100456"/>
                </a:lnTo>
                <a:lnTo>
                  <a:pt x="13462" y="104648"/>
                </a:lnTo>
                <a:lnTo>
                  <a:pt x="17271" y="107568"/>
                </a:lnTo>
                <a:lnTo>
                  <a:pt x="21462" y="107061"/>
                </a:lnTo>
                <a:lnTo>
                  <a:pt x="25653" y="106425"/>
                </a:lnTo>
                <a:lnTo>
                  <a:pt x="28575" y="102615"/>
                </a:lnTo>
                <a:lnTo>
                  <a:pt x="28066" y="98425"/>
                </a:lnTo>
                <a:lnTo>
                  <a:pt x="20487" y="39750"/>
                </a:lnTo>
                <a:lnTo>
                  <a:pt x="20391" y="39005"/>
                </a:lnTo>
                <a:lnTo>
                  <a:pt x="3175" y="16637"/>
                </a:lnTo>
                <a:lnTo>
                  <a:pt x="1928" y="14953"/>
                </a:lnTo>
                <a:close/>
              </a:path>
              <a:path w="882014" h="1143000">
                <a:moveTo>
                  <a:pt x="14094" y="5748"/>
                </a:moveTo>
                <a:lnTo>
                  <a:pt x="32545" y="29723"/>
                </a:lnTo>
                <a:lnTo>
                  <a:pt x="88011" y="52324"/>
                </a:lnTo>
                <a:lnTo>
                  <a:pt x="91948" y="53848"/>
                </a:lnTo>
                <a:lnTo>
                  <a:pt x="96392" y="51943"/>
                </a:lnTo>
                <a:lnTo>
                  <a:pt x="97916" y="48132"/>
                </a:lnTo>
                <a:lnTo>
                  <a:pt x="99567" y="44195"/>
                </a:lnTo>
                <a:lnTo>
                  <a:pt x="97662" y="39750"/>
                </a:lnTo>
                <a:lnTo>
                  <a:pt x="93725" y="38226"/>
                </a:lnTo>
                <a:lnTo>
                  <a:pt x="14094" y="5748"/>
                </a:lnTo>
                <a:close/>
              </a:path>
              <a:path w="882014" h="1143000">
                <a:moveTo>
                  <a:pt x="8201" y="3345"/>
                </a:moveTo>
                <a:lnTo>
                  <a:pt x="7820" y="3345"/>
                </a:lnTo>
                <a:lnTo>
                  <a:pt x="4571" y="5968"/>
                </a:lnTo>
                <a:lnTo>
                  <a:pt x="1269" y="8508"/>
                </a:lnTo>
                <a:lnTo>
                  <a:pt x="1181" y="9163"/>
                </a:lnTo>
                <a:lnTo>
                  <a:pt x="1928" y="14953"/>
                </a:lnTo>
                <a:lnTo>
                  <a:pt x="3175" y="16637"/>
                </a:lnTo>
                <a:lnTo>
                  <a:pt x="20391" y="39005"/>
                </a:lnTo>
                <a:lnTo>
                  <a:pt x="18450" y="23980"/>
                </a:lnTo>
                <a:lnTo>
                  <a:pt x="6350" y="19050"/>
                </a:lnTo>
                <a:lnTo>
                  <a:pt x="16763" y="10921"/>
                </a:lnTo>
                <a:lnTo>
                  <a:pt x="18075" y="10921"/>
                </a:lnTo>
                <a:lnTo>
                  <a:pt x="14094" y="5748"/>
                </a:lnTo>
                <a:lnTo>
                  <a:pt x="8201" y="3345"/>
                </a:lnTo>
                <a:close/>
              </a:path>
              <a:path w="882014" h="1143000">
                <a:moveTo>
                  <a:pt x="18075" y="10921"/>
                </a:moveTo>
                <a:lnTo>
                  <a:pt x="16763" y="10921"/>
                </a:lnTo>
                <a:lnTo>
                  <a:pt x="18450" y="23980"/>
                </a:lnTo>
                <a:lnTo>
                  <a:pt x="32545" y="29723"/>
                </a:lnTo>
                <a:lnTo>
                  <a:pt x="18075" y="10921"/>
                </a:lnTo>
                <a:close/>
              </a:path>
              <a:path w="882014" h="1143000">
                <a:moveTo>
                  <a:pt x="16763" y="10921"/>
                </a:moveTo>
                <a:lnTo>
                  <a:pt x="6350" y="19050"/>
                </a:lnTo>
                <a:lnTo>
                  <a:pt x="18450" y="23980"/>
                </a:lnTo>
                <a:lnTo>
                  <a:pt x="16763" y="10921"/>
                </a:lnTo>
                <a:close/>
              </a:path>
              <a:path w="882014" h="1143000">
                <a:moveTo>
                  <a:pt x="1181" y="9163"/>
                </a:moveTo>
                <a:lnTo>
                  <a:pt x="635" y="13207"/>
                </a:lnTo>
                <a:lnTo>
                  <a:pt x="1928" y="14953"/>
                </a:lnTo>
                <a:lnTo>
                  <a:pt x="1181" y="9163"/>
                </a:lnTo>
                <a:close/>
              </a:path>
              <a:path w="882014" h="1143000">
                <a:moveTo>
                  <a:pt x="0" y="0"/>
                </a:moveTo>
                <a:lnTo>
                  <a:pt x="1097" y="8508"/>
                </a:lnTo>
                <a:lnTo>
                  <a:pt x="1181" y="9163"/>
                </a:lnTo>
                <a:lnTo>
                  <a:pt x="1269" y="8508"/>
                </a:lnTo>
                <a:lnTo>
                  <a:pt x="4571" y="5968"/>
                </a:lnTo>
                <a:lnTo>
                  <a:pt x="7820" y="3345"/>
                </a:lnTo>
                <a:lnTo>
                  <a:pt x="8201" y="3345"/>
                </a:lnTo>
                <a:lnTo>
                  <a:pt x="0" y="0"/>
                </a:lnTo>
                <a:close/>
              </a:path>
              <a:path w="882014" h="1143000">
                <a:moveTo>
                  <a:pt x="8201" y="3345"/>
                </a:moveTo>
                <a:lnTo>
                  <a:pt x="14094" y="5748"/>
                </a:lnTo>
                <a:lnTo>
                  <a:pt x="12700" y="3937"/>
                </a:lnTo>
                <a:lnTo>
                  <a:pt x="8201" y="3345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913" y="2099894"/>
            <a:ext cx="78346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80" dirty="0">
                <a:latin typeface="Verdana"/>
                <a:cs typeface="Verdana"/>
              </a:rPr>
              <a:t>Le</a:t>
            </a:r>
            <a:r>
              <a:rPr sz="3200" spc="-225" dirty="0">
                <a:latin typeface="Verdana"/>
                <a:cs typeface="Verdana"/>
              </a:rPr>
              <a:t> </a:t>
            </a:r>
            <a:r>
              <a:rPr sz="3200" spc="-185" dirty="0">
                <a:latin typeface="Verdana"/>
                <a:cs typeface="Verdana"/>
              </a:rPr>
              <a:t>titre</a:t>
            </a:r>
            <a:r>
              <a:rPr sz="3200" spc="-204" dirty="0">
                <a:latin typeface="Verdana"/>
                <a:cs typeface="Verdana"/>
              </a:rPr>
              <a:t> </a:t>
            </a:r>
            <a:r>
              <a:rPr sz="3200" spc="-155" dirty="0">
                <a:latin typeface="Verdana"/>
                <a:cs typeface="Verdana"/>
              </a:rPr>
              <a:t>est</a:t>
            </a:r>
            <a:r>
              <a:rPr sz="3200" spc="-225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indiqué</a:t>
            </a:r>
            <a:r>
              <a:rPr sz="3200" spc="-229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par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la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55" dirty="0">
                <a:latin typeface="Verdana"/>
                <a:cs typeface="Verdana"/>
              </a:rPr>
              <a:t>balise</a:t>
            </a:r>
            <a:r>
              <a:rPr sz="3200" spc="-225" dirty="0">
                <a:latin typeface="Verdana"/>
                <a:cs typeface="Verdana"/>
              </a:rPr>
              <a:t> </a:t>
            </a:r>
            <a:r>
              <a:rPr sz="3200" spc="-705" dirty="0">
                <a:latin typeface="Verdana"/>
                <a:cs typeface="Verdana"/>
              </a:rPr>
              <a:t>«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155" dirty="0">
                <a:latin typeface="Verdana"/>
                <a:cs typeface="Verdana"/>
              </a:rPr>
              <a:t>title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spc="-755" dirty="0">
                <a:latin typeface="Verdana"/>
                <a:cs typeface="Verdana"/>
              </a:rPr>
              <a:t>»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537" y="2709798"/>
            <a:ext cx="5146675" cy="487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sz="32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320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32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3200" dirty="0">
                <a:latin typeface="Consolas"/>
                <a:cs typeface="Consolas"/>
              </a:rPr>
              <a:t>Ma</a:t>
            </a:r>
            <a:r>
              <a:rPr sz="3200" spc="-170" dirty="0">
                <a:latin typeface="Consolas"/>
                <a:cs typeface="Consolas"/>
              </a:rPr>
              <a:t> </a:t>
            </a:r>
            <a:r>
              <a:rPr sz="3200" spc="-10" dirty="0">
                <a:latin typeface="Consolas"/>
                <a:cs typeface="Consolas"/>
              </a:rPr>
              <a:t>page</a:t>
            </a:r>
            <a:r>
              <a:rPr sz="32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3200" spc="-1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32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3537" y="3197479"/>
            <a:ext cx="224154" cy="477520"/>
          </a:xfrm>
          <a:custGeom>
            <a:avLst/>
            <a:gdLst/>
            <a:ahLst/>
            <a:cxnLst/>
            <a:rect l="l" t="t" r="r" b="b"/>
            <a:pathLst>
              <a:path w="224154" h="477520">
                <a:moveTo>
                  <a:pt x="224028" y="0"/>
                </a:moveTo>
                <a:lnTo>
                  <a:pt x="0" y="0"/>
                </a:lnTo>
                <a:lnTo>
                  <a:pt x="0" y="477012"/>
                </a:lnTo>
                <a:lnTo>
                  <a:pt x="224028" y="477012"/>
                </a:lnTo>
                <a:lnTo>
                  <a:pt x="2240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0913" y="3656152"/>
            <a:ext cx="10114687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3200" spc="-80" dirty="0">
                <a:latin typeface="Verdana"/>
                <a:cs typeface="Verdana"/>
              </a:rPr>
              <a:t>Le</a:t>
            </a:r>
            <a:r>
              <a:rPr sz="3200" spc="-204" dirty="0">
                <a:latin typeface="Verdana"/>
                <a:cs typeface="Verdana"/>
              </a:rPr>
              <a:t> </a:t>
            </a:r>
            <a:r>
              <a:rPr sz="3200" spc="-175" dirty="0" err="1">
                <a:latin typeface="Verdana"/>
                <a:cs typeface="Verdana"/>
              </a:rPr>
              <a:t>ti</a:t>
            </a:r>
            <a:r>
              <a:rPr lang="fr-FR" sz="3200" spc="-175" dirty="0">
                <a:latin typeface="Verdana"/>
                <a:cs typeface="Verdana"/>
              </a:rPr>
              <a:t>t</a:t>
            </a:r>
            <a:r>
              <a:rPr sz="3200" spc="-175" dirty="0">
                <a:latin typeface="Verdana"/>
                <a:cs typeface="Verdana"/>
              </a:rPr>
              <a:t>re</a:t>
            </a:r>
            <a:r>
              <a:rPr sz="3200" spc="-18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apparaît</a:t>
            </a:r>
            <a:r>
              <a:rPr sz="3200" spc="-175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dans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la</a:t>
            </a:r>
            <a:r>
              <a:rPr sz="3200" spc="-195" dirty="0">
                <a:latin typeface="Verdana"/>
                <a:cs typeface="Verdana"/>
              </a:rPr>
              <a:t> </a:t>
            </a:r>
            <a:r>
              <a:rPr sz="3200" spc="-40" dirty="0">
                <a:latin typeface="Verdana"/>
                <a:cs typeface="Verdana"/>
              </a:rPr>
              <a:t>barre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spc="175" dirty="0">
                <a:latin typeface="Verdana"/>
                <a:cs typeface="Verdana"/>
              </a:rPr>
              <a:t>de</a:t>
            </a:r>
            <a:r>
              <a:rPr sz="3200" spc="-185" dirty="0">
                <a:latin typeface="Verdana"/>
                <a:cs typeface="Verdana"/>
              </a:rPr>
              <a:t> titre </a:t>
            </a:r>
            <a:r>
              <a:rPr sz="3200" spc="35" dirty="0">
                <a:latin typeface="Verdana"/>
                <a:cs typeface="Verdana"/>
              </a:rPr>
              <a:t>du 	</a:t>
            </a:r>
            <a:r>
              <a:rPr sz="3200" spc="-10" dirty="0">
                <a:latin typeface="Verdana"/>
                <a:cs typeface="Verdana"/>
              </a:rPr>
              <a:t>navigateur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Le</a:t>
            </a:r>
            <a:r>
              <a:rPr spc="-265" dirty="0"/>
              <a:t> </a:t>
            </a:r>
            <a:r>
              <a:rPr spc="-195" dirty="0"/>
              <a:t>titre</a:t>
            </a:r>
            <a:r>
              <a:rPr spc="-265" dirty="0"/>
              <a:t> </a:t>
            </a:r>
            <a:r>
              <a:rPr spc="100" dirty="0"/>
              <a:t>d’une</a:t>
            </a:r>
            <a:r>
              <a:rPr spc="-265" dirty="0"/>
              <a:t> </a:t>
            </a:r>
            <a:r>
              <a:rPr spc="195" dirty="0"/>
              <a:t>page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4767" y="799033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solidFill>
                  <a:srgbClr val="FDFFFF"/>
                </a:solidFill>
                <a:latin typeface="Verdana"/>
                <a:cs typeface="Verdana"/>
              </a:rPr>
              <a:t>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734" y="1627098"/>
            <a:ext cx="10788650" cy="324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72517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80" dirty="0">
                <a:latin typeface="Verdana"/>
                <a:cs typeface="Verdana"/>
              </a:rPr>
              <a:t>Chaque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navigateur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fonctions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permettant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consulter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30" dirty="0">
                <a:latin typeface="Verdana"/>
                <a:cs typeface="Verdana"/>
              </a:rPr>
              <a:t>code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source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et </a:t>
            </a:r>
            <a:r>
              <a:rPr sz="2000" dirty="0">
                <a:latin typeface="Verdana"/>
                <a:cs typeface="Verdana"/>
              </a:rPr>
              <a:t>d’inspecter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site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0" dirty="0">
                <a:latin typeface="Verdana"/>
                <a:cs typeface="Verdana"/>
              </a:rPr>
              <a:t>Internet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explorer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bouton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droit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430" dirty="0">
                <a:latin typeface="Verdana"/>
                <a:cs typeface="Verdana"/>
              </a:rPr>
              <a:t>+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440" dirty="0">
                <a:latin typeface="Verdana"/>
                <a:cs typeface="Verdana"/>
              </a:rPr>
              <a:t>«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afficher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source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»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0" dirty="0">
                <a:latin typeface="Verdana"/>
                <a:cs typeface="Verdana"/>
              </a:rPr>
              <a:t>Internet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explorer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outils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développeur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F12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0" dirty="0">
                <a:latin typeface="Verdana"/>
                <a:cs typeface="Verdana"/>
              </a:rPr>
              <a:t>Firefox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130" dirty="0">
                <a:latin typeface="Verdana"/>
                <a:cs typeface="Verdana"/>
              </a:rPr>
              <a:t>code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source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CTRL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430" dirty="0">
                <a:latin typeface="Verdana"/>
                <a:cs typeface="Verdana"/>
              </a:rPr>
              <a:t>+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U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Chrome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Bouton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droit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430" dirty="0">
                <a:latin typeface="Verdana"/>
                <a:cs typeface="Verdana"/>
              </a:rPr>
              <a:t>+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440" dirty="0">
                <a:latin typeface="Verdana"/>
                <a:cs typeface="Verdana"/>
              </a:rPr>
              <a:t>«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afficher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140" dirty="0">
                <a:latin typeface="Verdana"/>
                <a:cs typeface="Verdana"/>
              </a:rPr>
              <a:t>code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source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120" dirty="0">
                <a:latin typeface="Verdana"/>
                <a:cs typeface="Verdana"/>
              </a:rPr>
              <a:t>page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»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35" dirty="0">
                <a:latin typeface="Verdana"/>
                <a:cs typeface="Verdana"/>
              </a:rPr>
              <a:t>L’inspecteur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élément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puissant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permettant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d’analyser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éléments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d’une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100" dirty="0">
                <a:latin typeface="Verdana"/>
                <a:cs typeface="Verdana"/>
              </a:rPr>
              <a:t>page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7776"/>
            <a:ext cx="861885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130" dirty="0"/>
              <a:t>Voir</a:t>
            </a:r>
            <a:r>
              <a:rPr sz="3200" spc="-200" dirty="0"/>
              <a:t> </a:t>
            </a:r>
            <a:r>
              <a:rPr sz="3200" dirty="0"/>
              <a:t>comment</a:t>
            </a:r>
            <a:r>
              <a:rPr sz="3200" spc="-220" dirty="0"/>
              <a:t> </a:t>
            </a:r>
            <a:r>
              <a:rPr sz="3200" spc="-175" dirty="0"/>
              <a:t>les</a:t>
            </a:r>
            <a:r>
              <a:rPr sz="3200" spc="-225" dirty="0"/>
              <a:t> </a:t>
            </a:r>
            <a:r>
              <a:rPr sz="3200" spc="-120" dirty="0"/>
              <a:t>autres</a:t>
            </a:r>
            <a:r>
              <a:rPr sz="3200" spc="-195" dirty="0"/>
              <a:t> </a:t>
            </a:r>
            <a:r>
              <a:rPr sz="3200" spc="-40" dirty="0"/>
              <a:t>ont</a:t>
            </a:r>
            <a:r>
              <a:rPr sz="3200" spc="-200" dirty="0"/>
              <a:t> </a:t>
            </a:r>
            <a:r>
              <a:rPr sz="3200" spc="-85" dirty="0"/>
              <a:t>fait</a:t>
            </a:r>
            <a:r>
              <a:rPr sz="3200" spc="-200" dirty="0"/>
              <a:t> </a:t>
            </a:r>
            <a:r>
              <a:rPr sz="3200" spc="-210" dirty="0"/>
              <a:t>leurs</a:t>
            </a:r>
            <a:r>
              <a:rPr sz="3200" spc="-215" dirty="0"/>
              <a:t> </a:t>
            </a:r>
            <a:r>
              <a:rPr sz="3200" spc="40" dirty="0"/>
              <a:t>pages </a:t>
            </a:r>
            <a:r>
              <a:rPr sz="3200" spc="-20" dirty="0"/>
              <a:t>HTML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598422"/>
            <a:ext cx="109372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validation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inspecte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55" dirty="0">
                <a:latin typeface="Verdana"/>
                <a:cs typeface="Verdana"/>
              </a:rPr>
              <a:t> erreurs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vérifie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que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145" dirty="0">
                <a:latin typeface="Verdana"/>
                <a:cs typeface="Verdana"/>
              </a:rPr>
              <a:t>page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conforme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au </a:t>
            </a:r>
            <a:r>
              <a:rPr sz="2400" spc="-25" dirty="0">
                <a:latin typeface="Verdana"/>
                <a:cs typeface="Verdana"/>
              </a:rPr>
              <a:t>standard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(XHTML)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w3c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met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à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disposition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site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validation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425" dirty="0">
                <a:latin typeface="Verdana"/>
                <a:cs typeface="Verdana"/>
              </a:rPr>
              <a:t>: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u="sng" spc="-2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2"/>
              </a:rPr>
              <a:t>http://validator.w3.org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Validation</a:t>
            </a:r>
            <a:r>
              <a:rPr spc="-229" dirty="0"/>
              <a:t> </a:t>
            </a:r>
            <a:r>
              <a:rPr spc="95" dirty="0"/>
              <a:t>d’une</a:t>
            </a:r>
            <a:r>
              <a:rPr spc="-260" dirty="0"/>
              <a:t> </a:t>
            </a:r>
            <a:r>
              <a:rPr spc="195" dirty="0"/>
              <a:t>page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11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2940" y="3395471"/>
            <a:ext cx="4325112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4697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2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100" dirty="0"/>
              <a:t>Le</a:t>
            </a:r>
            <a:r>
              <a:rPr sz="4000" spc="-270" dirty="0"/>
              <a:t> </a:t>
            </a:r>
            <a:r>
              <a:rPr sz="4000" spc="-170" dirty="0"/>
              <a:t>Texte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459" y="1726416"/>
            <a:ext cx="10579100" cy="258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45465" indent="-3429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spc="-220" dirty="0">
                <a:latin typeface="Verdana"/>
                <a:cs typeface="Verdana"/>
              </a:rPr>
              <a:t>HTML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inclut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un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certain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nombre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de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balises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permettant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125" dirty="0">
                <a:latin typeface="Verdana"/>
                <a:cs typeface="Verdana"/>
              </a:rPr>
              <a:t>de </a:t>
            </a:r>
            <a:r>
              <a:rPr sz="2800" spc="-155" dirty="0">
                <a:latin typeface="Verdana"/>
                <a:cs typeface="Verdana"/>
              </a:rPr>
              <a:t>structurer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le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texte</a:t>
            </a:r>
            <a:endParaRPr sz="2800">
              <a:latin typeface="Verdana"/>
              <a:cs typeface="Verdana"/>
            </a:endParaRPr>
          </a:p>
          <a:p>
            <a:pPr marL="355600" marR="5080" indent="-342900">
              <a:lnSpc>
                <a:spcPts val="5040"/>
              </a:lnSpc>
              <a:spcBef>
                <a:spcPts val="25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spc="-220" dirty="0">
                <a:latin typeface="Verdana"/>
                <a:cs typeface="Verdana"/>
              </a:rPr>
              <a:t>HTML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5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215" dirty="0">
                <a:latin typeface="Verdana"/>
                <a:cs typeface="Verdana"/>
              </a:rPr>
              <a:t>a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introduit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des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balises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dites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sémantiques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permettant </a:t>
            </a:r>
            <a:r>
              <a:rPr sz="2800" spc="150" dirty="0">
                <a:latin typeface="Verdana"/>
                <a:cs typeface="Verdana"/>
              </a:rPr>
              <a:t>de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donner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plus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de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85" dirty="0">
                <a:latin typeface="Verdana"/>
                <a:cs typeface="Verdana"/>
              </a:rPr>
              <a:t>sens </a:t>
            </a:r>
            <a:r>
              <a:rPr sz="2800" spc="65" dirty="0">
                <a:latin typeface="Verdana"/>
                <a:cs typeface="Verdana"/>
              </a:rPr>
              <a:t>au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90" dirty="0">
                <a:latin typeface="Verdana"/>
                <a:cs typeface="Verdana"/>
              </a:rPr>
              <a:t>code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HTML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847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Balises</a:t>
            </a:r>
            <a:r>
              <a:rPr spc="-190" dirty="0"/>
              <a:t> </a:t>
            </a:r>
            <a:r>
              <a:rPr spc="-105" dirty="0"/>
              <a:t>orientées</a:t>
            </a:r>
            <a:r>
              <a:rPr spc="-175" dirty="0"/>
              <a:t> </a:t>
            </a:r>
            <a:r>
              <a:rPr spc="-20" dirty="0"/>
              <a:t>texte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634" y="1837689"/>
            <a:ext cx="10519410" cy="3336925"/>
            <a:chOff x="246634" y="1837689"/>
            <a:chExt cx="10519410" cy="3336925"/>
          </a:xfrm>
        </p:grpSpPr>
        <p:sp>
          <p:nvSpPr>
            <p:cNvPr id="3" name="object 3"/>
            <p:cNvSpPr/>
            <p:nvPr/>
          </p:nvSpPr>
          <p:spPr>
            <a:xfrm>
              <a:off x="252984" y="1844039"/>
              <a:ext cx="10506710" cy="3324225"/>
            </a:xfrm>
            <a:custGeom>
              <a:avLst/>
              <a:gdLst/>
              <a:ahLst/>
              <a:cxnLst/>
              <a:rect l="l" t="t" r="r" b="b"/>
              <a:pathLst>
                <a:path w="10506710" h="3324225">
                  <a:moveTo>
                    <a:pt x="10506456" y="0"/>
                  </a:moveTo>
                  <a:lnTo>
                    <a:pt x="0" y="0"/>
                  </a:lnTo>
                  <a:lnTo>
                    <a:pt x="0" y="3323844"/>
                  </a:lnTo>
                  <a:lnTo>
                    <a:pt x="10506456" y="3323844"/>
                  </a:lnTo>
                  <a:lnTo>
                    <a:pt x="10506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2984" y="1844039"/>
              <a:ext cx="10506710" cy="3324225"/>
            </a:xfrm>
            <a:custGeom>
              <a:avLst/>
              <a:gdLst/>
              <a:ahLst/>
              <a:cxnLst/>
              <a:rect l="l" t="t" r="r" b="b"/>
              <a:pathLst>
                <a:path w="10506710" h="3324225">
                  <a:moveTo>
                    <a:pt x="0" y="3323844"/>
                  </a:moveTo>
                  <a:lnTo>
                    <a:pt x="10506456" y="3323844"/>
                  </a:lnTo>
                  <a:lnTo>
                    <a:pt x="10506456" y="0"/>
                  </a:lnTo>
                  <a:lnTo>
                    <a:pt x="0" y="0"/>
                  </a:lnTo>
                  <a:lnTo>
                    <a:pt x="0" y="332384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2028" y="1788947"/>
            <a:ext cx="10159365" cy="309245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70" dirty="0">
                <a:latin typeface="Verdana"/>
                <a:cs typeface="Verdana"/>
              </a:rPr>
              <a:t>Le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paragraphe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spc="-150" dirty="0">
                <a:latin typeface="Verdana"/>
                <a:cs typeface="Verdana"/>
              </a:rPr>
              <a:t>est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défini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par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la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balise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385" dirty="0">
                <a:latin typeface="Verdana"/>
                <a:cs typeface="Verdana"/>
              </a:rPr>
              <a:t>&lt;p&gt;</a:t>
            </a:r>
            <a:endParaRPr sz="28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70" dirty="0">
                <a:latin typeface="Verdana"/>
                <a:cs typeface="Verdana"/>
              </a:rPr>
              <a:t>Par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défaut,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le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paragraphe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provoque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un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saut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de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ligne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 marR="596265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Je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comprenais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pas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pourquoi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cent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mille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personnes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téléchargeaient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programme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j'ai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décidé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5" dirty="0">
                <a:latin typeface="Consolas"/>
                <a:cs typeface="Consolas"/>
              </a:rPr>
              <a:t>de </a:t>
            </a:r>
            <a:r>
              <a:rPr sz="1400" dirty="0">
                <a:latin typeface="Consolas"/>
                <a:cs typeface="Consolas"/>
              </a:rPr>
              <a:t>déchiffrer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ce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mystère.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Ça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m'a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pris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trois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ans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pour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en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faire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une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théorie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unifiée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l'expérience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utilisateur".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Sans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qu'il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soit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possible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déterminer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l'importance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cette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recherche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dans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sa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fortune,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il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réussit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plus </a:t>
            </a:r>
            <a:r>
              <a:rPr sz="1400" dirty="0">
                <a:latin typeface="Consolas"/>
                <a:cs typeface="Consolas"/>
              </a:rPr>
              <a:t>que</a:t>
            </a:r>
            <a:r>
              <a:rPr sz="1400" spc="-20" dirty="0">
                <a:latin typeface="Consolas"/>
                <a:cs typeface="Consolas"/>
              </a:rPr>
              <a:t> bien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525" y="4881626"/>
            <a:ext cx="393700" cy="20891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Paragraphes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0020" y="5196840"/>
            <a:ext cx="11442700" cy="1100455"/>
            <a:chOff x="160020" y="5196840"/>
            <a:chExt cx="11442700" cy="11004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20" y="5196840"/>
              <a:ext cx="11442192" cy="11003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2" y="5391912"/>
              <a:ext cx="10853928" cy="5120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979" y="1641348"/>
            <a:ext cx="11271885" cy="313944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43434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34340" algn="l"/>
              </a:tabLst>
            </a:pPr>
            <a:r>
              <a:rPr sz="2400" spc="-150" dirty="0">
                <a:latin typeface="Verdana"/>
                <a:cs typeface="Verdana"/>
              </a:rPr>
              <a:t>Un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texte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gras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(ou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qui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mérite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le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focus)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inséré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330" dirty="0">
                <a:latin typeface="Verdana"/>
                <a:cs typeface="Verdana"/>
              </a:rPr>
              <a:t>&lt;b&gt;</a:t>
            </a:r>
            <a:endParaRPr sz="2400" dirty="0">
              <a:latin typeface="Verdana"/>
              <a:cs typeface="Verdana"/>
            </a:endParaRPr>
          </a:p>
          <a:p>
            <a:pPr marL="434340" indent="-3429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34340" algn="l"/>
              </a:tabLst>
            </a:pP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balise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405" dirty="0">
                <a:latin typeface="Verdana"/>
                <a:cs typeface="Verdana"/>
              </a:rPr>
              <a:t>&lt;i&gt;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décrit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texte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italique</a:t>
            </a:r>
            <a:endParaRPr sz="2400" dirty="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  <a:spcBef>
                <a:spcPts val="520"/>
              </a:spcBef>
            </a:pP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Je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comprenais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pas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pourquoi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cent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mille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personnes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téléchargeaient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programme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j'ai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décidé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5" dirty="0">
                <a:latin typeface="Consolas"/>
                <a:cs typeface="Consolas"/>
              </a:rPr>
              <a:t>de</a:t>
            </a:r>
            <a:endParaRPr sz="14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dirty="0">
                <a:latin typeface="Consolas"/>
                <a:cs typeface="Consolas"/>
              </a:rPr>
              <a:t>déchiffrer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spc="-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ce</a:t>
            </a:r>
            <a:r>
              <a:rPr sz="1400" spc="-8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mystère.</a:t>
            </a:r>
            <a:endParaRPr sz="14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onsolas"/>
                <a:cs typeface="Consolas"/>
              </a:rPr>
              <a:t>Ça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m'a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pris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trois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ans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pour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en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faire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une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théorie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unifiée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l'expérience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utilisateur".</a:t>
            </a:r>
            <a:endParaRPr sz="14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91440" marR="34417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Sans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qu'il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soit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possible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déterminer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l'importance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cette 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i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dirty="0">
                <a:latin typeface="Consolas"/>
                <a:cs typeface="Consolas"/>
              </a:rPr>
              <a:t>recherche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i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dans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sa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fortune,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il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réussit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plus </a:t>
            </a:r>
            <a:r>
              <a:rPr sz="1400" dirty="0">
                <a:latin typeface="Consolas"/>
                <a:cs typeface="Consolas"/>
              </a:rPr>
              <a:t>que</a:t>
            </a:r>
            <a:r>
              <a:rPr sz="1400" spc="-20" dirty="0">
                <a:latin typeface="Consolas"/>
                <a:cs typeface="Consolas"/>
              </a:rPr>
              <a:t> bien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2991" y="4495419"/>
            <a:ext cx="393700" cy="20891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Gras</a:t>
            </a:r>
            <a:r>
              <a:rPr spc="-270" dirty="0"/>
              <a:t> </a:t>
            </a:r>
            <a:r>
              <a:rPr dirty="0"/>
              <a:t>et</a:t>
            </a:r>
            <a:r>
              <a:rPr spc="-270" dirty="0"/>
              <a:t> </a:t>
            </a:r>
            <a:r>
              <a:rPr spc="-30" dirty="0"/>
              <a:t>italique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907" y="4820411"/>
            <a:ext cx="11859895" cy="1163320"/>
            <a:chOff x="25907" y="4820411"/>
            <a:chExt cx="11859895" cy="11633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" y="4820411"/>
              <a:ext cx="11859768" cy="11628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79" y="5015483"/>
              <a:ext cx="11271504" cy="5745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495" y="1688592"/>
            <a:ext cx="11318875" cy="1567865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170180" rIns="0" bIns="0" rtlCol="0">
            <a:spAutoFit/>
          </a:bodyPr>
          <a:lstStyle/>
          <a:p>
            <a:pPr marL="433705" indent="-342900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433705" algn="l"/>
              </a:tabLst>
            </a:pPr>
            <a:r>
              <a:rPr sz="2800" spc="-105" dirty="0">
                <a:latin typeface="Verdana"/>
                <a:cs typeface="Verdana"/>
              </a:rPr>
              <a:t>Exposant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509" dirty="0">
                <a:latin typeface="Verdana"/>
                <a:cs typeface="Verdana"/>
              </a:rPr>
              <a:t>: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320" dirty="0">
                <a:latin typeface="Verdana"/>
                <a:cs typeface="Verdana"/>
              </a:rPr>
              <a:t>&lt;sup&gt;</a:t>
            </a:r>
            <a:endParaRPr sz="2800" dirty="0">
              <a:latin typeface="Verdana"/>
              <a:cs typeface="Verdana"/>
            </a:endParaRPr>
          </a:p>
          <a:p>
            <a:pPr marL="433705" indent="-34290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433705" algn="l"/>
              </a:tabLst>
            </a:pPr>
            <a:r>
              <a:rPr sz="2800" spc="-25" dirty="0">
                <a:latin typeface="Verdana"/>
                <a:cs typeface="Verdana"/>
              </a:rPr>
              <a:t>Indice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509" dirty="0">
                <a:latin typeface="Verdana"/>
                <a:cs typeface="Verdana"/>
              </a:rPr>
              <a:t>: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320" dirty="0">
                <a:latin typeface="Verdana"/>
                <a:cs typeface="Verdana"/>
              </a:rPr>
              <a:t>&lt;sub&gt;</a:t>
            </a:r>
            <a:endParaRPr sz="2800" dirty="0">
              <a:latin typeface="Verdana"/>
              <a:cs typeface="Verdana"/>
            </a:endParaRPr>
          </a:p>
          <a:p>
            <a:pPr marL="90805" marR="434975">
              <a:lnSpc>
                <a:spcPct val="100600"/>
              </a:lnSpc>
              <a:spcBef>
                <a:spcPts val="600"/>
              </a:spcBef>
            </a:pPr>
            <a:r>
              <a:rPr lang="fr-FR" sz="1600" dirty="0">
                <a:latin typeface="Consolas"/>
                <a:cs typeface="Consolas"/>
              </a:rPr>
              <a:t>Jean M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lang="fr-FR" sz="1600" dirty="0">
                <a:solidFill>
                  <a:srgbClr val="A21515"/>
                </a:solidFill>
                <a:latin typeface="Consolas"/>
                <a:cs typeface="Consolas"/>
              </a:rPr>
              <a:t>sup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600" dirty="0" err="1">
                <a:latin typeface="Consolas"/>
                <a:cs typeface="Consolas"/>
              </a:rPr>
              <a:t>ed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lang="fr-FR" sz="1600" dirty="0">
                <a:solidFill>
                  <a:srgbClr val="A21515"/>
                </a:solidFill>
                <a:latin typeface="Consolas"/>
                <a:cs typeface="Consolas"/>
              </a:rPr>
              <a:t>sup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6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trouve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que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les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matchs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de</a:t>
            </a:r>
            <a:r>
              <a:rPr lang="fr-FR" sz="1600" spc="-25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C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lang="fr-FR" sz="1600" dirty="0" err="1">
                <a:solidFill>
                  <a:srgbClr val="A21515"/>
                </a:solidFill>
                <a:latin typeface="Consolas"/>
                <a:cs typeface="Consolas"/>
              </a:rPr>
              <a:t>sub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600" dirty="0">
                <a:latin typeface="Consolas"/>
                <a:cs typeface="Consolas"/>
              </a:rPr>
              <a:t>1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lang="fr-FR" sz="1600" dirty="0" err="1">
                <a:solidFill>
                  <a:srgbClr val="A21515"/>
                </a:solidFill>
                <a:latin typeface="Consolas"/>
                <a:cs typeface="Consolas"/>
              </a:rPr>
              <a:t>sub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6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sont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de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plus</a:t>
            </a:r>
            <a:r>
              <a:rPr lang="fr-FR" sz="1600" spc="-25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haut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dirty="0">
                <a:latin typeface="Consolas"/>
                <a:cs typeface="Consolas"/>
              </a:rPr>
              <a:t>niveau</a:t>
            </a:r>
            <a:r>
              <a:rPr lang="fr-FR" sz="1600" spc="-30" dirty="0">
                <a:latin typeface="Consolas"/>
                <a:cs typeface="Consolas"/>
              </a:rPr>
              <a:t> </a:t>
            </a:r>
            <a:r>
              <a:rPr lang="fr-FR" sz="1600" spc="-25" dirty="0">
                <a:latin typeface="Consolas"/>
                <a:cs typeface="Consolas"/>
              </a:rPr>
              <a:t>que </a:t>
            </a:r>
            <a:r>
              <a:rPr lang="fr-FR" sz="1600" spc="-20" dirty="0">
                <a:latin typeface="Consolas"/>
                <a:cs typeface="Consolas"/>
              </a:rPr>
              <a:t>ceux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6195" y="3265423"/>
            <a:ext cx="2123440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9"/>
              </a:lnSpc>
            </a:pPr>
            <a:r>
              <a:rPr sz="1600" dirty="0">
                <a:latin typeface="Consolas"/>
                <a:cs typeface="Consolas"/>
              </a:rPr>
              <a:t>de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la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C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sub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spc="-10" dirty="0">
                <a:latin typeface="Consolas"/>
                <a:cs typeface="Consolas"/>
              </a:rPr>
              <a:t>3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sub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163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Indice</a:t>
            </a:r>
            <a:r>
              <a:rPr spc="-265" dirty="0"/>
              <a:t> </a:t>
            </a:r>
            <a:r>
              <a:rPr dirty="0"/>
              <a:t>et</a:t>
            </a:r>
            <a:r>
              <a:rPr spc="-265" dirty="0"/>
              <a:t> </a:t>
            </a:r>
            <a:r>
              <a:rPr spc="-20" dirty="0"/>
              <a:t>exposant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659" y="1641348"/>
            <a:ext cx="11192510" cy="165173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170180" rIns="0" bIns="0" rtlCol="0">
            <a:spAutoFit/>
          </a:bodyPr>
          <a:lstStyle/>
          <a:p>
            <a:pPr marL="433070" indent="-34226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433070" algn="l"/>
              </a:tabLst>
            </a:pPr>
            <a:r>
              <a:rPr sz="2800" spc="-185" dirty="0">
                <a:latin typeface="Verdana"/>
                <a:cs typeface="Verdana"/>
              </a:rPr>
              <a:t>Les </a:t>
            </a:r>
            <a:r>
              <a:rPr sz="2800" spc="-65" dirty="0">
                <a:latin typeface="Verdana"/>
                <a:cs typeface="Verdana"/>
              </a:rPr>
              <a:t>abréviations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sont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définies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par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la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balise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&lt;abbr&gt;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800" dirty="0">
              <a:latin typeface="Verdana"/>
              <a:cs typeface="Verdana"/>
            </a:endParaRPr>
          </a:p>
          <a:p>
            <a:pPr marL="90805" marR="29470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olas"/>
                <a:cs typeface="Consolas"/>
              </a:rPr>
              <a:t>Le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abbr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title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"Centre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de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Recheche</a:t>
            </a:r>
            <a:r>
              <a:rPr sz="18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en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Information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Scientifique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et 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Technique"&gt;</a:t>
            </a:r>
            <a:r>
              <a:rPr sz="1800" b="1" dirty="0">
                <a:latin typeface="Consolas"/>
                <a:cs typeface="Consolas"/>
              </a:rPr>
              <a:t>CERIST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dirty="0" err="1">
                <a:solidFill>
                  <a:srgbClr val="A21515"/>
                </a:solidFill>
                <a:latin typeface="Consolas"/>
                <a:cs typeface="Consolas"/>
              </a:rPr>
              <a:t>abbr</a:t>
            </a:r>
            <a:r>
              <a:rPr lang="fr-FR" sz="1800" b="1" dirty="0">
                <a:solidFill>
                  <a:srgbClr val="A21515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Abréviations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17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536" y="1511680"/>
            <a:ext cx="11153140" cy="2838450"/>
            <a:chOff x="359536" y="1511680"/>
            <a:chExt cx="11153140" cy="2838450"/>
          </a:xfrm>
        </p:grpSpPr>
        <p:sp>
          <p:nvSpPr>
            <p:cNvPr id="3" name="object 3"/>
            <p:cNvSpPr/>
            <p:nvPr/>
          </p:nvSpPr>
          <p:spPr>
            <a:xfrm>
              <a:off x="362711" y="1514855"/>
              <a:ext cx="11146790" cy="2832100"/>
            </a:xfrm>
            <a:custGeom>
              <a:avLst/>
              <a:gdLst/>
              <a:ahLst/>
              <a:cxnLst/>
              <a:rect l="l" t="t" r="r" b="b"/>
              <a:pathLst>
                <a:path w="11146790" h="2832100">
                  <a:moveTo>
                    <a:pt x="11146536" y="0"/>
                  </a:moveTo>
                  <a:lnTo>
                    <a:pt x="0" y="0"/>
                  </a:lnTo>
                  <a:lnTo>
                    <a:pt x="0" y="2831592"/>
                  </a:lnTo>
                  <a:lnTo>
                    <a:pt x="11146536" y="2831592"/>
                  </a:lnTo>
                  <a:lnTo>
                    <a:pt x="111465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2711" y="1514855"/>
              <a:ext cx="11146790" cy="2832100"/>
            </a:xfrm>
            <a:custGeom>
              <a:avLst/>
              <a:gdLst/>
              <a:ahLst/>
              <a:cxnLst/>
              <a:rect l="l" t="t" r="r" b="b"/>
              <a:pathLst>
                <a:path w="11146790" h="2832100">
                  <a:moveTo>
                    <a:pt x="0" y="2831592"/>
                  </a:moveTo>
                  <a:lnTo>
                    <a:pt x="11146536" y="2831592"/>
                  </a:lnTo>
                  <a:lnTo>
                    <a:pt x="11146536" y="0"/>
                  </a:lnTo>
                  <a:lnTo>
                    <a:pt x="0" y="0"/>
                  </a:lnTo>
                  <a:lnTo>
                    <a:pt x="0" y="2831592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2366" y="1484731"/>
            <a:ext cx="6217285" cy="25787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14" dirty="0">
                <a:latin typeface="Verdana"/>
                <a:cs typeface="Verdana"/>
              </a:rPr>
              <a:t>Les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40" dirty="0">
                <a:latin typeface="Verdana"/>
                <a:cs typeface="Verdana"/>
              </a:rPr>
              <a:t>titres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sont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définis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&lt;hn&gt;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60" dirty="0">
                <a:latin typeface="Verdana"/>
                <a:cs typeface="Verdana"/>
              </a:rPr>
              <a:t>Dans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60" dirty="0">
                <a:latin typeface="Verdana"/>
                <a:cs typeface="Verdana"/>
              </a:rPr>
              <a:t>HTML,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65" dirty="0">
                <a:latin typeface="Verdana"/>
                <a:cs typeface="Verdana"/>
              </a:rPr>
              <a:t>il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y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15" dirty="0">
                <a:latin typeface="Verdana"/>
                <a:cs typeface="Verdana"/>
              </a:rPr>
              <a:t>six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niveaux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titre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h1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h6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dirty="0">
                <a:latin typeface="Consolas"/>
                <a:cs typeface="Consolas"/>
              </a:rPr>
              <a:t>Que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faire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pendant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longues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 err="1">
                <a:latin typeface="Consolas"/>
                <a:cs typeface="Consolas"/>
              </a:rPr>
              <a:t>journées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</a:t>
            </a:r>
            <a:r>
              <a:rPr lang="fr-FR" sz="1400" dirty="0">
                <a:latin typeface="Consolas"/>
                <a:cs typeface="Consolas"/>
              </a:rPr>
              <a:t>e </a:t>
            </a:r>
            <a:r>
              <a:rPr lang="fr-FR" sz="1400" dirty="0" err="1">
                <a:latin typeface="Consolas"/>
                <a:cs typeface="Consolas"/>
              </a:rPr>
              <a:t>vacacnces</a:t>
            </a:r>
            <a:r>
              <a:rPr sz="1400" spc="-10" dirty="0">
                <a:latin typeface="Consolas"/>
                <a:cs typeface="Consolas"/>
              </a:rPr>
              <a:t>?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h2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spc="-10" dirty="0">
                <a:latin typeface="Consolas"/>
                <a:cs typeface="Consolas"/>
              </a:rPr>
              <a:t>Travailler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h2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Pour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ceux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qui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la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chance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pas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avoir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pris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</a:t>
            </a:r>
            <a:r>
              <a:rPr sz="1400" spc="-10" dirty="0">
                <a:latin typeface="Consolas"/>
                <a:cs typeface="Consolas"/>
              </a:rPr>
              <a:t> congé.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h2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spc="-10" dirty="0">
                <a:latin typeface="Consolas"/>
                <a:cs typeface="Consolas"/>
              </a:rPr>
              <a:t>Dormir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h2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875" y="4062729"/>
            <a:ext cx="2658110" cy="20891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dirty="0">
                <a:latin typeface="Consolas"/>
                <a:cs typeface="Consolas"/>
              </a:rPr>
              <a:t>Un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lang="fr-FR" sz="1400" spc="-35" dirty="0">
                <a:latin typeface="Consolas"/>
                <a:cs typeface="Consolas"/>
              </a:rPr>
              <a:t>autre </a:t>
            </a:r>
            <a:r>
              <a:rPr sz="1400" dirty="0">
                <a:latin typeface="Consolas"/>
                <a:cs typeface="Consolas"/>
              </a:rPr>
              <a:t>choix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Titres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18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7472" y="1751076"/>
            <a:ext cx="11145520" cy="2801620"/>
            <a:chOff x="347472" y="1751076"/>
            <a:chExt cx="11145520" cy="2801620"/>
          </a:xfrm>
        </p:grpSpPr>
        <p:sp>
          <p:nvSpPr>
            <p:cNvPr id="3" name="object 3"/>
            <p:cNvSpPr/>
            <p:nvPr/>
          </p:nvSpPr>
          <p:spPr>
            <a:xfrm>
              <a:off x="347472" y="1751076"/>
              <a:ext cx="11145520" cy="2801620"/>
            </a:xfrm>
            <a:custGeom>
              <a:avLst/>
              <a:gdLst/>
              <a:ahLst/>
              <a:cxnLst/>
              <a:rect l="l" t="t" r="r" b="b"/>
              <a:pathLst>
                <a:path w="11145520" h="2801620">
                  <a:moveTo>
                    <a:pt x="11145012" y="0"/>
                  </a:moveTo>
                  <a:lnTo>
                    <a:pt x="0" y="0"/>
                  </a:lnTo>
                  <a:lnTo>
                    <a:pt x="0" y="2801112"/>
                  </a:lnTo>
                  <a:lnTo>
                    <a:pt x="11145012" y="2801112"/>
                  </a:lnTo>
                  <a:lnTo>
                    <a:pt x="11145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54210" y="3785615"/>
              <a:ext cx="1109980" cy="236220"/>
            </a:xfrm>
            <a:custGeom>
              <a:avLst/>
              <a:gdLst/>
              <a:ahLst/>
              <a:cxnLst/>
              <a:rect l="l" t="t" r="r" b="b"/>
              <a:pathLst>
                <a:path w="1109979" h="236220">
                  <a:moveTo>
                    <a:pt x="22096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220967" y="236220"/>
                  </a:lnTo>
                  <a:lnTo>
                    <a:pt x="220967" y="0"/>
                  </a:lnTo>
                  <a:close/>
                </a:path>
                <a:path w="1109979" h="236220">
                  <a:moveTo>
                    <a:pt x="1109472" y="0"/>
                  </a:moveTo>
                  <a:lnTo>
                    <a:pt x="999744" y="0"/>
                  </a:lnTo>
                  <a:lnTo>
                    <a:pt x="220980" y="0"/>
                  </a:lnTo>
                  <a:lnTo>
                    <a:pt x="220980" y="236220"/>
                  </a:lnTo>
                  <a:lnTo>
                    <a:pt x="999744" y="236220"/>
                  </a:lnTo>
                  <a:lnTo>
                    <a:pt x="1109472" y="236220"/>
                  </a:lnTo>
                  <a:lnTo>
                    <a:pt x="1109472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7472" y="1751076"/>
            <a:ext cx="11145520" cy="2283317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434340" marR="1419860" indent="-342900">
              <a:lnSpc>
                <a:spcPts val="3600"/>
              </a:lnSpc>
              <a:spcBef>
                <a:spcPts val="185"/>
              </a:spcBef>
              <a:buFont typeface="Arial MT"/>
              <a:buChar char="•"/>
              <a:tabLst>
                <a:tab pos="434340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b="1" i="1" spc="-180" dirty="0">
                <a:solidFill>
                  <a:srgbClr val="FF0000"/>
                </a:solidFill>
                <a:latin typeface="Verdana"/>
                <a:cs typeface="Verdana"/>
              </a:rPr>
              <a:t>details</a:t>
            </a:r>
            <a:r>
              <a:rPr sz="20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consiste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définir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contenu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qui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145" dirty="0">
                <a:latin typeface="Verdana"/>
                <a:cs typeface="Verdana"/>
              </a:rPr>
              <a:t>caché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défaut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25" dirty="0">
                <a:latin typeface="Verdana"/>
                <a:cs typeface="Verdana"/>
              </a:rPr>
              <a:t>que </a:t>
            </a:r>
            <a:r>
              <a:rPr sz="2000" spc="-90" dirty="0">
                <a:latin typeface="Verdana"/>
                <a:cs typeface="Verdana"/>
              </a:rPr>
              <a:t>l’utilisateur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peut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montrer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quand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65" dirty="0">
                <a:latin typeface="Verdana"/>
                <a:cs typeface="Verdana"/>
              </a:rPr>
              <a:t>il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souhaite</a:t>
            </a:r>
            <a:endParaRPr sz="2000" dirty="0">
              <a:latin typeface="Verdana"/>
              <a:cs typeface="Verdana"/>
            </a:endParaRPr>
          </a:p>
          <a:p>
            <a:pPr marL="434340" indent="-342900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434340" algn="l"/>
              </a:tabLst>
            </a:pPr>
            <a:r>
              <a:rPr sz="2000" spc="-120" dirty="0">
                <a:latin typeface="Verdana"/>
                <a:cs typeface="Verdana"/>
              </a:rPr>
              <a:t>Seul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229" dirty="0">
                <a:solidFill>
                  <a:srgbClr val="FF0000"/>
                </a:solidFill>
                <a:latin typeface="Verdana"/>
                <a:cs typeface="Verdana"/>
              </a:rPr>
              <a:t>summary</a:t>
            </a:r>
            <a:r>
              <a:rPr sz="20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visible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défaut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000" dirty="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latin typeface="Consolas"/>
                <a:cs typeface="Consolas"/>
              </a:rPr>
              <a:t>details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600" dirty="0">
                <a:latin typeface="Consolas"/>
                <a:cs typeface="Consolas"/>
              </a:rPr>
              <a:t>summary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Formation</a:t>
            </a:r>
            <a:r>
              <a:rPr sz="1600" spc="-7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web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par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lang="fr-FR" sz="1600" spc="-50" dirty="0">
                <a:latin typeface="Consolas"/>
                <a:cs typeface="Consolas"/>
              </a:rPr>
              <a:t>Ramzi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latin typeface="Consolas"/>
                <a:cs typeface="Consolas"/>
              </a:rPr>
              <a:t>summary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40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La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formation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est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composée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rubriques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suivantes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HTML,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CSS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latin typeface="Consolas"/>
                <a:cs typeface="Consolas"/>
              </a:rPr>
              <a:t>details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Détails</a:t>
            </a:r>
            <a:r>
              <a:rPr spc="-250" dirty="0"/>
              <a:t> </a:t>
            </a:r>
            <a:r>
              <a:rPr spc="-305" dirty="0"/>
              <a:t>(HTML5)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227" y="1818132"/>
            <a:ext cx="11245850" cy="2798445"/>
            <a:chOff x="300227" y="1818132"/>
            <a:chExt cx="11245850" cy="2798445"/>
          </a:xfrm>
        </p:grpSpPr>
        <p:sp>
          <p:nvSpPr>
            <p:cNvPr id="3" name="object 3"/>
            <p:cNvSpPr/>
            <p:nvPr/>
          </p:nvSpPr>
          <p:spPr>
            <a:xfrm>
              <a:off x="303275" y="1821180"/>
              <a:ext cx="11239500" cy="2792095"/>
            </a:xfrm>
            <a:custGeom>
              <a:avLst/>
              <a:gdLst/>
              <a:ahLst/>
              <a:cxnLst/>
              <a:rect l="l" t="t" r="r" b="b"/>
              <a:pathLst>
                <a:path w="11239500" h="2792095">
                  <a:moveTo>
                    <a:pt x="11239500" y="0"/>
                  </a:moveTo>
                  <a:lnTo>
                    <a:pt x="0" y="0"/>
                  </a:lnTo>
                  <a:lnTo>
                    <a:pt x="0" y="2791968"/>
                  </a:lnTo>
                  <a:lnTo>
                    <a:pt x="11239500" y="2791968"/>
                  </a:lnTo>
                  <a:lnTo>
                    <a:pt x="11239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3275" y="1821180"/>
              <a:ext cx="11239500" cy="2792095"/>
            </a:xfrm>
            <a:custGeom>
              <a:avLst/>
              <a:gdLst/>
              <a:ahLst/>
              <a:cxnLst/>
              <a:rect l="l" t="t" r="r" b="b"/>
              <a:pathLst>
                <a:path w="11239500" h="2792095">
                  <a:moveTo>
                    <a:pt x="0" y="2791968"/>
                  </a:moveTo>
                  <a:lnTo>
                    <a:pt x="11239500" y="2791968"/>
                  </a:lnTo>
                  <a:lnTo>
                    <a:pt x="11239500" y="0"/>
                  </a:lnTo>
                  <a:lnTo>
                    <a:pt x="0" y="0"/>
                  </a:lnTo>
                  <a:lnTo>
                    <a:pt x="0" y="2791968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82320" y="1777446"/>
            <a:ext cx="10514965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925" indent="-3429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65" dirty="0">
                <a:latin typeface="Verdana"/>
                <a:cs typeface="Verdana"/>
              </a:rPr>
              <a:t>Le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standard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HTML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demande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respecter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le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160" dirty="0">
                <a:latin typeface="Verdana"/>
                <a:cs typeface="Verdana"/>
              </a:rPr>
              <a:t>codage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caractères </a:t>
            </a:r>
            <a:r>
              <a:rPr sz="2400" spc="-204" dirty="0">
                <a:latin typeface="Verdana"/>
                <a:cs typeface="Verdana"/>
              </a:rPr>
              <a:t>ASCII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7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bits,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c'est-</a:t>
            </a:r>
            <a:r>
              <a:rPr sz="2400" spc="-55" dirty="0">
                <a:latin typeface="Verdana"/>
                <a:cs typeface="Verdana"/>
              </a:rPr>
              <a:t>à-</a:t>
            </a:r>
            <a:r>
              <a:rPr sz="2400" spc="-50" dirty="0">
                <a:latin typeface="Verdana"/>
                <a:cs typeface="Verdana"/>
              </a:rPr>
              <a:t>dire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que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caractères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accentués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sont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pas </a:t>
            </a:r>
            <a:r>
              <a:rPr sz="2400" spc="-120" dirty="0">
                <a:latin typeface="Verdana"/>
                <a:cs typeface="Verdana"/>
              </a:rPr>
              <a:t>autorisés.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340" dirty="0">
                <a:latin typeface="Verdana"/>
                <a:cs typeface="Verdana"/>
              </a:rPr>
              <a:t>Il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faut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pour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100" dirty="0">
                <a:latin typeface="Verdana"/>
                <a:cs typeface="Verdana"/>
              </a:rPr>
              <a:t>cela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65" dirty="0">
                <a:latin typeface="Verdana"/>
                <a:cs typeface="Verdana"/>
              </a:rPr>
              <a:t>utiliser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155" dirty="0">
                <a:latin typeface="Verdana"/>
                <a:cs typeface="Verdana"/>
              </a:rPr>
              <a:t>codage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particulier</a:t>
            </a:r>
            <a:endParaRPr sz="2400">
              <a:latin typeface="Verdana"/>
              <a:cs typeface="Verdana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90" dirty="0">
                <a:latin typeface="Verdana"/>
                <a:cs typeface="Verdana"/>
              </a:rPr>
              <a:t>Pour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coder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caractère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accentué,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il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suffit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95" dirty="0">
                <a:latin typeface="Verdana"/>
                <a:cs typeface="Verdana"/>
              </a:rPr>
              <a:t>saisir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combinaison </a:t>
            </a:r>
            <a:r>
              <a:rPr sz="2400" spc="95" dirty="0">
                <a:latin typeface="Verdana"/>
                <a:cs typeface="Verdana"/>
              </a:rPr>
              <a:t>précédée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du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caractère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&amp;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terminée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point-</a:t>
            </a:r>
            <a:r>
              <a:rPr sz="2400" spc="-100" dirty="0">
                <a:latin typeface="Verdana"/>
                <a:cs typeface="Verdana"/>
              </a:rPr>
              <a:t>virgule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300" dirty="0">
                <a:latin typeface="Verdana"/>
                <a:cs typeface="Verdana"/>
              </a:rPr>
              <a:t>(;).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Caractères</a:t>
            </a:r>
            <a:r>
              <a:rPr spc="-140" dirty="0"/>
              <a:t> </a:t>
            </a:r>
            <a:r>
              <a:rPr spc="-10" dirty="0"/>
              <a:t>spéciaux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21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7776"/>
            <a:ext cx="79597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Caractères</a:t>
            </a:r>
            <a:r>
              <a:rPr sz="3200" spc="-220" dirty="0"/>
              <a:t> </a:t>
            </a:r>
            <a:r>
              <a:rPr sz="3200" spc="-20" dirty="0"/>
              <a:t>spéciaux</a:t>
            </a:r>
            <a:r>
              <a:rPr sz="3200" spc="-204" dirty="0"/>
              <a:t> </a:t>
            </a:r>
            <a:r>
              <a:rPr sz="3200" spc="-450" dirty="0"/>
              <a:t>–</a:t>
            </a:r>
            <a:r>
              <a:rPr sz="3200" spc="-185" dirty="0"/>
              <a:t> </a:t>
            </a:r>
            <a:r>
              <a:rPr sz="3200" spc="-204" dirty="0"/>
              <a:t>Liste</a:t>
            </a:r>
            <a:r>
              <a:rPr sz="3200" spc="-215" dirty="0"/>
              <a:t> </a:t>
            </a:r>
            <a:r>
              <a:rPr sz="3200" spc="175" dirty="0"/>
              <a:t>de</a:t>
            </a:r>
            <a:r>
              <a:rPr sz="3200" spc="-195" dirty="0"/>
              <a:t> </a:t>
            </a:r>
            <a:r>
              <a:rPr sz="3200" spc="-10" dirty="0"/>
              <a:t>quelques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10667" y="1136141"/>
            <a:ext cx="9754870" cy="1427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73935">
              <a:lnSpc>
                <a:spcPts val="3835"/>
              </a:lnSpc>
              <a:spcBef>
                <a:spcPts val="105"/>
              </a:spcBef>
            </a:pPr>
            <a:r>
              <a:rPr sz="3200" spc="-10" dirty="0">
                <a:solidFill>
                  <a:srgbClr val="178DBA"/>
                </a:solidFill>
                <a:latin typeface="Verdana"/>
                <a:cs typeface="Verdana"/>
              </a:rPr>
              <a:t>caractères</a:t>
            </a:r>
            <a:endParaRPr sz="3200">
              <a:latin typeface="Verdana"/>
              <a:cs typeface="Verdana"/>
            </a:endParaRPr>
          </a:p>
          <a:p>
            <a:pPr marL="354965" indent="-342265">
              <a:lnSpc>
                <a:spcPts val="2875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-65" dirty="0">
                <a:latin typeface="Verdana"/>
                <a:cs typeface="Verdana"/>
              </a:rPr>
              <a:t>Le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tableau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ci-</a:t>
            </a:r>
            <a:r>
              <a:rPr sz="2400" spc="-105" dirty="0">
                <a:latin typeface="Verdana"/>
                <a:cs typeface="Verdana"/>
              </a:rPr>
              <a:t>dessous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donne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quelques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exemples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caractères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Verdana"/>
                <a:cs typeface="Verdana"/>
              </a:rPr>
              <a:t>spéciaux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22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942592" y="2579877"/>
          <a:ext cx="7920989" cy="3710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5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0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4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Caractère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889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Caractère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889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8895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&amp;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&amp;amp;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¶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&amp;para;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€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&amp;euro;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25" dirty="0">
                          <a:latin typeface="Verdana"/>
                          <a:cs typeface="Verdana"/>
                        </a:rPr>
                        <a:t>À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&amp;Agrave;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405" dirty="0">
                          <a:latin typeface="Verdana"/>
                          <a:cs typeface="Verdana"/>
                        </a:rPr>
                        <a:t>&lt;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Verdana"/>
                          <a:cs typeface="Verdana"/>
                        </a:rPr>
                        <a:t>&amp;lt;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125" dirty="0">
                          <a:latin typeface="Verdana"/>
                          <a:cs typeface="Verdana"/>
                        </a:rPr>
                        <a:t>Ç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&amp;Ccedil;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405" dirty="0">
                          <a:latin typeface="Verdana"/>
                          <a:cs typeface="Verdana"/>
                        </a:rPr>
                        <a:t>&gt;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Verdana"/>
                          <a:cs typeface="Verdana"/>
                        </a:rPr>
                        <a:t>&amp;gt;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È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&amp;Egrave;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Espace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&amp;nbsp;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&amp;Eacute;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§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&amp;sect;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Ê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&amp;Ecirc;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470" dirty="0">
                          <a:latin typeface="Verdana"/>
                          <a:cs typeface="Verdana"/>
                        </a:rPr>
                        <a:t>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&amp;copy;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25" dirty="0">
                          <a:latin typeface="Verdana"/>
                          <a:cs typeface="Verdana"/>
                        </a:rPr>
                        <a:t>À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&amp;agrave;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470" dirty="0">
                          <a:latin typeface="Verdana"/>
                          <a:cs typeface="Verdana"/>
                        </a:rPr>
                        <a:t>®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&amp;reg;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35" dirty="0">
                          <a:latin typeface="Verdana"/>
                          <a:cs typeface="Verdana"/>
                        </a:rPr>
                        <a:t>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&amp;eacute;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00" dirty="0">
                          <a:latin typeface="Verdana"/>
                          <a:cs typeface="Verdana"/>
                        </a:rPr>
                        <a:t>±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&amp;plusmn;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35" dirty="0">
                          <a:latin typeface="Verdana"/>
                          <a:cs typeface="Verdana"/>
                        </a:rPr>
                        <a:t>è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&amp;egrave;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031" y="1656588"/>
            <a:ext cx="7705725" cy="101536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20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Il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&amp;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eacute;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tait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un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excellent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&amp;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eacute;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l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&amp;egrave;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ve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852" y="2317876"/>
            <a:ext cx="572135" cy="29908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55"/>
              </a:lnSpc>
            </a:pP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Caractères</a:t>
            </a:r>
            <a:r>
              <a:rPr spc="-215" dirty="0"/>
              <a:t> </a:t>
            </a:r>
            <a:r>
              <a:rPr spc="-20" dirty="0"/>
              <a:t>spéciaux</a:t>
            </a:r>
            <a:r>
              <a:rPr spc="-225" dirty="0"/>
              <a:t> </a:t>
            </a:r>
            <a:r>
              <a:rPr spc="-505" dirty="0"/>
              <a:t>–</a:t>
            </a:r>
            <a:r>
              <a:rPr spc="-215" dirty="0"/>
              <a:t> </a:t>
            </a:r>
            <a:r>
              <a:rPr spc="-40" dirty="0"/>
              <a:t>Exemple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63340" y="2767583"/>
            <a:ext cx="7343140" cy="2135505"/>
            <a:chOff x="3863340" y="2767583"/>
            <a:chExt cx="7343140" cy="21355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3340" y="2767583"/>
              <a:ext cx="7342631" cy="21351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8412" y="2962655"/>
              <a:ext cx="6754368" cy="1546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4832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85" dirty="0"/>
              <a:t> </a:t>
            </a:r>
            <a:r>
              <a:rPr sz="4000" spc="-330" dirty="0"/>
              <a:t>3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254" dirty="0"/>
              <a:t>Les</a:t>
            </a:r>
            <a:r>
              <a:rPr sz="4000" spc="-280" dirty="0"/>
              <a:t> </a:t>
            </a:r>
            <a:r>
              <a:rPr sz="4000" spc="-325" dirty="0"/>
              <a:t>Listes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035" y="1439752"/>
            <a:ext cx="10898505" cy="4801956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85" dirty="0">
                <a:latin typeface="Verdana"/>
                <a:cs typeface="Verdana"/>
              </a:rPr>
              <a:t>HTML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inclut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plusieurs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types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listes </a:t>
            </a:r>
            <a:r>
              <a:rPr sz="2400" spc="-425" dirty="0">
                <a:latin typeface="Verdana"/>
                <a:cs typeface="Verdana"/>
              </a:rPr>
              <a:t>: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80" dirty="0">
                <a:latin typeface="Verdana"/>
                <a:cs typeface="Verdana"/>
              </a:rPr>
              <a:t>listes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ordonnées,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80" dirty="0">
                <a:latin typeface="Verdana"/>
                <a:cs typeface="Verdana"/>
              </a:rPr>
              <a:t>listes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non</a:t>
            </a:r>
            <a:endParaRPr sz="24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spc="-20" dirty="0">
                <a:latin typeface="Verdana"/>
                <a:cs typeface="Verdana"/>
              </a:rPr>
              <a:t>ordonnées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listes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définitions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55" dirty="0">
                <a:latin typeface="Verdana"/>
                <a:cs typeface="Verdana"/>
              </a:rPr>
              <a:t>L</a:t>
            </a:r>
            <a:r>
              <a:rPr lang="fr-FR" sz="2400" spc="-155" dirty="0">
                <a:latin typeface="Verdana"/>
                <a:cs typeface="Verdana"/>
              </a:rPr>
              <a:t>a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80" dirty="0" err="1">
                <a:latin typeface="Verdana"/>
                <a:cs typeface="Verdana"/>
              </a:rPr>
              <a:t>liste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5" dirty="0" err="1">
                <a:latin typeface="Verdana"/>
                <a:cs typeface="Verdana"/>
              </a:rPr>
              <a:t>ordonnée</a:t>
            </a:r>
            <a:r>
              <a:rPr lang="fr-FR" sz="2400" spc="-25" dirty="0">
                <a:latin typeface="Verdana"/>
                <a:cs typeface="Verdana"/>
              </a:rPr>
              <a:t> </a:t>
            </a:r>
            <a:r>
              <a:rPr sz="2400" spc="-10" dirty="0" err="1">
                <a:latin typeface="Verdana"/>
                <a:cs typeface="Verdana"/>
              </a:rPr>
              <a:t>conti</a:t>
            </a:r>
            <a:r>
              <a:rPr lang="fr-FR" sz="2400" spc="-10" dirty="0">
                <a:latin typeface="Verdana"/>
                <a:cs typeface="Verdana"/>
              </a:rPr>
              <a:t>e</a:t>
            </a:r>
            <a:r>
              <a:rPr sz="2400" spc="-10" dirty="0" err="1">
                <a:latin typeface="Verdana"/>
                <a:cs typeface="Verdana"/>
              </a:rPr>
              <a:t>nt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séquence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d’éléments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dont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position</a:t>
            </a:r>
            <a:r>
              <a:rPr lang="fr-FR" sz="240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145" dirty="0">
                <a:latin typeface="Verdana"/>
                <a:cs typeface="Verdana"/>
              </a:rPr>
              <a:t>liste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14" dirty="0" err="1">
                <a:latin typeface="Verdana"/>
                <a:cs typeface="Verdana"/>
              </a:rPr>
              <a:t>est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0" dirty="0" err="1">
                <a:latin typeface="Verdana"/>
                <a:cs typeface="Verdana"/>
              </a:rPr>
              <a:t>importante</a:t>
            </a:r>
            <a:r>
              <a:rPr lang="fr-FR" sz="2400" spc="-10" dirty="0"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  <a:p>
            <a:pPr marL="355600" marR="402590" indent="-343535">
              <a:lnSpc>
                <a:spcPts val="432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60" dirty="0">
                <a:latin typeface="Verdana"/>
                <a:cs typeface="Verdana"/>
              </a:rPr>
              <a:t>Les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listes </a:t>
            </a:r>
            <a:r>
              <a:rPr sz="2400" spc="-10" dirty="0">
                <a:latin typeface="Verdana"/>
                <a:cs typeface="Verdana"/>
              </a:rPr>
              <a:t>non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0" dirty="0" err="1">
                <a:latin typeface="Verdana"/>
                <a:cs typeface="Verdana"/>
              </a:rPr>
              <a:t>ordonnées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20" dirty="0" err="1">
                <a:latin typeface="Verdana"/>
                <a:cs typeface="Verdana"/>
              </a:rPr>
              <a:t>contien</a:t>
            </a:r>
            <a:r>
              <a:rPr lang="fr-FR" sz="2400" spc="-20" dirty="0" err="1">
                <a:latin typeface="Verdana"/>
                <a:cs typeface="Verdana"/>
              </a:rPr>
              <a:t>nen</a:t>
            </a:r>
            <a:r>
              <a:rPr sz="2400" spc="-20" dirty="0">
                <a:latin typeface="Verdana"/>
                <a:cs typeface="Verdana"/>
              </a:rPr>
              <a:t>t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éléments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dont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l’ordre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n’est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pas </a:t>
            </a:r>
            <a:r>
              <a:rPr sz="2400" spc="-10" dirty="0">
                <a:latin typeface="Verdana"/>
                <a:cs typeface="Verdana"/>
              </a:rPr>
              <a:t>important</a:t>
            </a:r>
            <a:endParaRPr sz="2400" dirty="0">
              <a:latin typeface="Verdana"/>
              <a:cs typeface="Verdana"/>
            </a:endParaRPr>
          </a:p>
          <a:p>
            <a:pPr marL="355600" marR="1341755" indent="-343535">
              <a:lnSpc>
                <a:spcPts val="432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spc="-160" dirty="0">
                <a:latin typeface="Verdana"/>
                <a:cs typeface="Verdana"/>
              </a:rPr>
              <a:t>Les </a:t>
            </a:r>
            <a:r>
              <a:rPr sz="2400" spc="-175" dirty="0">
                <a:latin typeface="Verdana"/>
                <a:cs typeface="Verdana"/>
              </a:rPr>
              <a:t>listes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définitions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contiennent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listes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termes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leurs </a:t>
            </a:r>
            <a:r>
              <a:rPr sz="2400" spc="-10" dirty="0">
                <a:latin typeface="Verdana"/>
                <a:cs typeface="Verdana"/>
              </a:rPr>
              <a:t>définitions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340" dirty="0">
                <a:latin typeface="Verdana"/>
                <a:cs typeface="Verdana"/>
              </a:rPr>
              <a:t>Il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possible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d’incorporer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145" dirty="0">
                <a:latin typeface="Verdana"/>
                <a:cs typeface="Verdana"/>
              </a:rPr>
              <a:t>liste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autre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Listes</a:t>
            </a:r>
            <a:r>
              <a:rPr spc="-270" dirty="0"/>
              <a:t> </a:t>
            </a:r>
            <a:r>
              <a:rPr spc="-20" dirty="0"/>
              <a:t>dans</a:t>
            </a:r>
            <a:r>
              <a:rPr spc="-285" dirty="0"/>
              <a:t> </a:t>
            </a:r>
            <a:r>
              <a:rPr spc="-280" dirty="0"/>
              <a:t>HTML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161" y="1427861"/>
            <a:ext cx="11191240" cy="2868930"/>
            <a:chOff x="399161" y="1427861"/>
            <a:chExt cx="11191240" cy="2868930"/>
          </a:xfrm>
        </p:grpSpPr>
        <p:sp>
          <p:nvSpPr>
            <p:cNvPr id="3" name="object 3"/>
            <p:cNvSpPr/>
            <p:nvPr/>
          </p:nvSpPr>
          <p:spPr>
            <a:xfrm>
              <a:off x="402336" y="1431036"/>
              <a:ext cx="11184890" cy="2862580"/>
            </a:xfrm>
            <a:custGeom>
              <a:avLst/>
              <a:gdLst/>
              <a:ahLst/>
              <a:cxnLst/>
              <a:rect l="l" t="t" r="r" b="b"/>
              <a:pathLst>
                <a:path w="11184890" h="2862579">
                  <a:moveTo>
                    <a:pt x="11184636" y="0"/>
                  </a:moveTo>
                  <a:lnTo>
                    <a:pt x="0" y="0"/>
                  </a:lnTo>
                  <a:lnTo>
                    <a:pt x="0" y="2862072"/>
                  </a:lnTo>
                  <a:lnTo>
                    <a:pt x="11184636" y="2862072"/>
                  </a:lnTo>
                  <a:lnTo>
                    <a:pt x="111846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2336" y="1431036"/>
              <a:ext cx="11184890" cy="2862580"/>
            </a:xfrm>
            <a:custGeom>
              <a:avLst/>
              <a:gdLst/>
              <a:ahLst/>
              <a:cxnLst/>
              <a:rect l="l" t="t" r="r" b="b"/>
              <a:pathLst>
                <a:path w="11184890" h="2862579">
                  <a:moveTo>
                    <a:pt x="0" y="2862072"/>
                  </a:moveTo>
                  <a:lnTo>
                    <a:pt x="11184636" y="2862072"/>
                  </a:lnTo>
                  <a:lnTo>
                    <a:pt x="11184636" y="0"/>
                  </a:lnTo>
                  <a:lnTo>
                    <a:pt x="0" y="0"/>
                  </a:lnTo>
                  <a:lnTo>
                    <a:pt x="0" y="2862072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80466" y="1487678"/>
            <a:ext cx="10277475" cy="136017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45" dirty="0">
                <a:latin typeface="Verdana"/>
                <a:cs typeface="Verdana"/>
              </a:rPr>
              <a:t>liste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définie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280" dirty="0">
                <a:latin typeface="Verdana"/>
                <a:cs typeface="Verdana"/>
              </a:rPr>
              <a:t>&lt;ol&gt;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éléments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370" dirty="0">
                <a:latin typeface="Verdana"/>
                <a:cs typeface="Verdana"/>
              </a:rPr>
              <a:t>&lt;li&gt;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Le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classement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des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gagnants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est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le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suivant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ol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3229" y="3953001"/>
            <a:ext cx="501650" cy="268605"/>
          </a:xfrm>
          <a:custGeom>
            <a:avLst/>
            <a:gdLst/>
            <a:ahLst/>
            <a:cxnLst/>
            <a:rect l="l" t="t" r="r" b="b"/>
            <a:pathLst>
              <a:path w="501650" h="268604">
                <a:moveTo>
                  <a:pt x="501396" y="0"/>
                </a:moveTo>
                <a:lnTo>
                  <a:pt x="374904" y="0"/>
                </a:lnTo>
                <a:lnTo>
                  <a:pt x="249936" y="0"/>
                </a:lnTo>
                <a:lnTo>
                  <a:pt x="0" y="0"/>
                </a:lnTo>
                <a:lnTo>
                  <a:pt x="0" y="268224"/>
                </a:lnTo>
                <a:lnTo>
                  <a:pt x="249936" y="268224"/>
                </a:lnTo>
                <a:lnTo>
                  <a:pt x="374904" y="268224"/>
                </a:lnTo>
                <a:lnTo>
                  <a:pt x="501396" y="268224"/>
                </a:lnTo>
                <a:lnTo>
                  <a:pt x="501396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93214" y="2894099"/>
          <a:ext cx="1911984" cy="132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lnSpc>
                          <a:spcPts val="169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8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Mr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X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69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8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8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Mr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Y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87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Y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8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8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Mr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Z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87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Z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8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8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ol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010"/>
                        </a:lnSpc>
                      </a:pPr>
                      <a:r>
                        <a:rPr sz="18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800" spc="-2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p</a:t>
                      </a:r>
                      <a:r>
                        <a:rPr sz="18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Listes</a:t>
            </a:r>
            <a:r>
              <a:rPr spc="-265" dirty="0"/>
              <a:t> </a:t>
            </a:r>
            <a:r>
              <a:rPr spc="-10" dirty="0"/>
              <a:t>ordonnées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27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55976" y="3619500"/>
            <a:ext cx="8604885" cy="2192020"/>
            <a:chOff x="2855976" y="3619500"/>
            <a:chExt cx="8604885" cy="21920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5976" y="3619500"/>
              <a:ext cx="8604504" cy="2191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1048" y="3814571"/>
              <a:ext cx="8016240" cy="16032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1546860"/>
            <a:ext cx="11311255" cy="2585085"/>
            <a:chOff x="228600" y="1546860"/>
            <a:chExt cx="11311255" cy="2585085"/>
          </a:xfrm>
        </p:grpSpPr>
        <p:sp>
          <p:nvSpPr>
            <p:cNvPr id="3" name="object 3"/>
            <p:cNvSpPr/>
            <p:nvPr/>
          </p:nvSpPr>
          <p:spPr>
            <a:xfrm>
              <a:off x="228600" y="1546860"/>
              <a:ext cx="11311255" cy="2585085"/>
            </a:xfrm>
            <a:custGeom>
              <a:avLst/>
              <a:gdLst/>
              <a:ahLst/>
              <a:cxnLst/>
              <a:rect l="l" t="t" r="r" b="b"/>
              <a:pathLst>
                <a:path w="11311255" h="2585085">
                  <a:moveTo>
                    <a:pt x="11311128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1128" y="2584704"/>
                  </a:lnTo>
                  <a:lnTo>
                    <a:pt x="113111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6175" y="3794378"/>
              <a:ext cx="502920" cy="268605"/>
            </a:xfrm>
            <a:custGeom>
              <a:avLst/>
              <a:gdLst/>
              <a:ahLst/>
              <a:cxnLst/>
              <a:rect l="l" t="t" r="r" b="b"/>
              <a:pathLst>
                <a:path w="502919" h="268604">
                  <a:moveTo>
                    <a:pt x="249923" y="0"/>
                  </a:moveTo>
                  <a:lnTo>
                    <a:pt x="0" y="0"/>
                  </a:lnTo>
                  <a:lnTo>
                    <a:pt x="0" y="268224"/>
                  </a:lnTo>
                  <a:lnTo>
                    <a:pt x="249923" y="268224"/>
                  </a:lnTo>
                  <a:lnTo>
                    <a:pt x="249923" y="0"/>
                  </a:lnTo>
                  <a:close/>
                </a:path>
                <a:path w="502919" h="268604">
                  <a:moveTo>
                    <a:pt x="502894" y="0"/>
                  </a:moveTo>
                  <a:lnTo>
                    <a:pt x="376428" y="0"/>
                  </a:lnTo>
                  <a:lnTo>
                    <a:pt x="249936" y="0"/>
                  </a:lnTo>
                  <a:lnTo>
                    <a:pt x="249936" y="268224"/>
                  </a:lnTo>
                  <a:lnTo>
                    <a:pt x="376402" y="268224"/>
                  </a:lnTo>
                  <a:lnTo>
                    <a:pt x="502894" y="268224"/>
                  </a:lnTo>
                  <a:lnTo>
                    <a:pt x="502894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7035" y="1602601"/>
            <a:ext cx="10264140" cy="246189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20" dirty="0">
                <a:latin typeface="Verdana"/>
                <a:cs typeface="Verdana"/>
              </a:rPr>
              <a:t>La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45" dirty="0">
                <a:latin typeface="Verdana"/>
                <a:cs typeface="Verdana"/>
              </a:rPr>
              <a:t>liste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définie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325" dirty="0">
                <a:latin typeface="Verdana"/>
                <a:cs typeface="Verdana"/>
              </a:rPr>
              <a:t>&lt;ul&gt;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éléments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370" dirty="0">
                <a:latin typeface="Verdana"/>
                <a:cs typeface="Verdana"/>
              </a:rPr>
              <a:t>&lt;li&gt;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Pour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réussir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son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projet,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il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faut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ul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Un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peu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de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chance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Un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peu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de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courage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Beaucoup</a:t>
            </a:r>
            <a:r>
              <a:rPr sz="1800" spc="-6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d'argent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ul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Listes</a:t>
            </a:r>
            <a:r>
              <a:rPr spc="-270" dirty="0"/>
              <a:t> </a:t>
            </a:r>
            <a:r>
              <a:rPr dirty="0"/>
              <a:t>non</a:t>
            </a:r>
            <a:r>
              <a:rPr spc="-254" dirty="0"/>
              <a:t> </a:t>
            </a:r>
            <a:r>
              <a:rPr spc="-10" dirty="0"/>
              <a:t>ordonnées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28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82289" y="3657600"/>
            <a:ext cx="8166100" cy="2103120"/>
            <a:chOff x="3590544" y="3364991"/>
            <a:chExt cx="8166100" cy="21031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0544" y="3364991"/>
              <a:ext cx="8165592" cy="21031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5616" y="3560063"/>
              <a:ext cx="7577328" cy="15148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47732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85" dirty="0"/>
              <a:t> </a:t>
            </a:r>
            <a:r>
              <a:rPr sz="4000" spc="-330" dirty="0"/>
              <a:t>4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254" dirty="0"/>
              <a:t>Les</a:t>
            </a:r>
            <a:r>
              <a:rPr sz="4000" spc="-280" dirty="0"/>
              <a:t> </a:t>
            </a:r>
            <a:r>
              <a:rPr sz="4000" spc="-185" dirty="0"/>
              <a:t>Liens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29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584" y="1582419"/>
            <a:ext cx="10883900" cy="2154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66395" indent="-3429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60" dirty="0">
                <a:latin typeface="Verdana"/>
                <a:cs typeface="Verdana"/>
              </a:rPr>
              <a:t>Les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liens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sont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l’essence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même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du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90" dirty="0">
                <a:latin typeface="Verdana"/>
                <a:cs typeface="Verdana"/>
              </a:rPr>
              <a:t>web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car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35" dirty="0">
                <a:latin typeface="Verdana"/>
                <a:cs typeface="Verdana"/>
              </a:rPr>
              <a:t>ils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permettent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relier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des </a:t>
            </a:r>
            <a:r>
              <a:rPr sz="2400" dirty="0">
                <a:latin typeface="Verdana"/>
                <a:cs typeface="Verdana"/>
              </a:rPr>
              <a:t>pages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entre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20" dirty="0" err="1">
                <a:latin typeface="Verdana"/>
                <a:cs typeface="Verdana"/>
              </a:rPr>
              <a:t>elle</a:t>
            </a:r>
            <a:r>
              <a:rPr lang="fr-FR" sz="2400" spc="-20" dirty="0">
                <a:latin typeface="Verdana"/>
                <a:cs typeface="Verdana"/>
              </a:rPr>
              <a:t>s.</a:t>
            </a:r>
            <a:endParaRPr sz="2400" dirty="0">
              <a:latin typeface="Verdana"/>
              <a:cs typeface="Verdana"/>
            </a:endParaRPr>
          </a:p>
          <a:p>
            <a:pPr marL="355600" marR="58420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spc="-65" dirty="0">
                <a:latin typeface="Verdana"/>
                <a:cs typeface="Verdana"/>
              </a:rPr>
              <a:t>Le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bon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choix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du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contenu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disposition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liens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primordial </a:t>
            </a:r>
            <a:r>
              <a:rPr sz="2400" spc="-50" dirty="0">
                <a:latin typeface="Verdana"/>
                <a:cs typeface="Verdana"/>
              </a:rPr>
              <a:t>pour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b="1" i="1" spc="-190" dirty="0">
                <a:solidFill>
                  <a:srgbClr val="FF0000"/>
                </a:solidFill>
                <a:latin typeface="Verdana"/>
                <a:cs typeface="Verdana"/>
              </a:rPr>
              <a:t>navigabilité</a:t>
            </a:r>
            <a:r>
              <a:rPr sz="24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du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site</a:t>
            </a:r>
            <a:r>
              <a:rPr lang="fr-FR" sz="2400" spc="-20" dirty="0">
                <a:latin typeface="Verdana"/>
                <a:cs typeface="Verdana"/>
              </a:rPr>
              <a:t>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17754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54" dirty="0"/>
              <a:t> </a:t>
            </a:r>
            <a:r>
              <a:rPr spc="-165" dirty="0"/>
              <a:t>liens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7401" y="1698891"/>
            <a:ext cx="7225665" cy="414655"/>
          </a:xfrm>
          <a:custGeom>
            <a:avLst/>
            <a:gdLst/>
            <a:ahLst/>
            <a:cxnLst/>
            <a:rect l="l" t="t" r="r" b="b"/>
            <a:pathLst>
              <a:path w="7225665" h="414655">
                <a:moveTo>
                  <a:pt x="7225284" y="0"/>
                </a:moveTo>
                <a:lnTo>
                  <a:pt x="7225284" y="0"/>
                </a:lnTo>
                <a:lnTo>
                  <a:pt x="0" y="0"/>
                </a:lnTo>
                <a:lnTo>
                  <a:pt x="0" y="414515"/>
                </a:lnTo>
                <a:lnTo>
                  <a:pt x="7225284" y="414515"/>
                </a:lnTo>
                <a:lnTo>
                  <a:pt x="7225284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44827" y="1657299"/>
            <a:ext cx="7252334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dirty="0">
                <a:solidFill>
                  <a:srgbClr val="0000FF"/>
                </a:solidFill>
                <a:latin typeface="Consolas"/>
                <a:cs typeface="Consolas"/>
              </a:rPr>
              <a:t>Visiter notre </a:t>
            </a:r>
            <a:r>
              <a:rPr sz="2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8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28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2800" b="1" spc="-10" dirty="0">
                <a:latin typeface="Consolas"/>
                <a:cs typeface="Consolas"/>
              </a:rPr>
              <a:t>=</a:t>
            </a:r>
            <a:r>
              <a:rPr sz="2800" b="1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“http://www.</a:t>
            </a:r>
            <a:r>
              <a:rPr lang="fr-FR" sz="2800" b="1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lecnam.net</a:t>
            </a:r>
            <a:r>
              <a:rPr sz="2800" b="1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"&gt;</a:t>
            </a:r>
            <a:r>
              <a:rPr sz="2800" b="1" spc="-10" dirty="0">
                <a:latin typeface="Consolas"/>
                <a:cs typeface="Consolas"/>
              </a:rPr>
              <a:t>é</a:t>
            </a:r>
            <a:r>
              <a:rPr lang="fr-FR" sz="2800" b="1" spc="-10" dirty="0" err="1">
                <a:latin typeface="Consolas"/>
                <a:cs typeface="Consolas"/>
              </a:rPr>
              <a:t>cole</a:t>
            </a:r>
            <a:r>
              <a:rPr sz="2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8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2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2800" b="1" spc="-10" dirty="0">
                <a:solidFill>
                  <a:srgbClr val="0000FF"/>
                </a:solidFill>
                <a:latin typeface="Consolas"/>
                <a:cs typeface="Consolas"/>
              </a:rPr>
              <a:t> pour en savoir plus !</a:t>
            </a:r>
            <a:endParaRPr sz="28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03097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Structure</a:t>
            </a:r>
            <a:r>
              <a:rPr spc="-260" dirty="0"/>
              <a:t> </a:t>
            </a:r>
            <a:r>
              <a:rPr spc="75" dirty="0"/>
              <a:t>d’un</a:t>
            </a:r>
            <a:r>
              <a:rPr spc="-260" dirty="0"/>
              <a:t> </a:t>
            </a:r>
            <a:r>
              <a:rPr spc="-65" dirty="0"/>
              <a:t>lien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0972" y="3767328"/>
            <a:ext cx="1728470" cy="338455"/>
          </a:xfrm>
          <a:prstGeom prst="rect">
            <a:avLst/>
          </a:prstGeom>
          <a:solidFill>
            <a:srgbClr val="B827E9"/>
          </a:solidFill>
          <a:ln w="15240">
            <a:solidFill>
              <a:srgbClr val="861AAB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325"/>
              </a:spcBef>
            </a:pP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Balise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lien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32558" y="2039111"/>
            <a:ext cx="401955" cy="1736725"/>
          </a:xfrm>
          <a:custGeom>
            <a:avLst/>
            <a:gdLst/>
            <a:ahLst/>
            <a:cxnLst/>
            <a:rect l="l" t="t" r="r" b="b"/>
            <a:pathLst>
              <a:path w="401955" h="1736725">
                <a:moveTo>
                  <a:pt x="39570" y="29477"/>
                </a:moveTo>
                <a:lnTo>
                  <a:pt x="34731" y="43974"/>
                </a:lnTo>
                <a:lnTo>
                  <a:pt x="385953" y="1729739"/>
                </a:lnTo>
                <a:lnTo>
                  <a:pt x="386842" y="1733804"/>
                </a:lnTo>
                <a:lnTo>
                  <a:pt x="390906" y="1736470"/>
                </a:lnTo>
                <a:lnTo>
                  <a:pt x="394970" y="1735708"/>
                </a:lnTo>
                <a:lnTo>
                  <a:pt x="399161" y="1734820"/>
                </a:lnTo>
                <a:lnTo>
                  <a:pt x="401701" y="1730756"/>
                </a:lnTo>
                <a:lnTo>
                  <a:pt x="400939" y="1726692"/>
                </a:lnTo>
                <a:lnTo>
                  <a:pt x="49665" y="40678"/>
                </a:lnTo>
                <a:lnTo>
                  <a:pt x="39570" y="29477"/>
                </a:lnTo>
                <a:close/>
              </a:path>
              <a:path w="401955" h="1736725">
                <a:moveTo>
                  <a:pt x="28598" y="14350"/>
                </a:moveTo>
                <a:lnTo>
                  <a:pt x="1270" y="96012"/>
                </a:lnTo>
                <a:lnTo>
                  <a:pt x="0" y="99949"/>
                </a:lnTo>
                <a:lnTo>
                  <a:pt x="2159" y="104266"/>
                </a:lnTo>
                <a:lnTo>
                  <a:pt x="6096" y="105663"/>
                </a:lnTo>
                <a:lnTo>
                  <a:pt x="10033" y="106934"/>
                </a:lnTo>
                <a:lnTo>
                  <a:pt x="14351" y="104901"/>
                </a:lnTo>
                <a:lnTo>
                  <a:pt x="15748" y="100837"/>
                </a:lnTo>
                <a:lnTo>
                  <a:pt x="34731" y="43974"/>
                </a:lnTo>
                <a:lnTo>
                  <a:pt x="28956" y="16255"/>
                </a:lnTo>
                <a:lnTo>
                  <a:pt x="28598" y="14350"/>
                </a:lnTo>
                <a:close/>
              </a:path>
              <a:path w="401955" h="1736725">
                <a:moveTo>
                  <a:pt x="43502" y="11198"/>
                </a:moveTo>
                <a:lnTo>
                  <a:pt x="43942" y="13208"/>
                </a:lnTo>
                <a:lnTo>
                  <a:pt x="49665" y="40678"/>
                </a:lnTo>
                <a:lnTo>
                  <a:pt x="89916" y="85343"/>
                </a:lnTo>
                <a:lnTo>
                  <a:pt x="92710" y="88518"/>
                </a:lnTo>
                <a:lnTo>
                  <a:pt x="97536" y="88773"/>
                </a:lnTo>
                <a:lnTo>
                  <a:pt x="100584" y="85978"/>
                </a:lnTo>
                <a:lnTo>
                  <a:pt x="103759" y="83185"/>
                </a:lnTo>
                <a:lnTo>
                  <a:pt x="104013" y="78359"/>
                </a:lnTo>
                <a:lnTo>
                  <a:pt x="101218" y="75184"/>
                </a:lnTo>
                <a:lnTo>
                  <a:pt x="43502" y="11198"/>
                </a:lnTo>
                <a:close/>
              </a:path>
              <a:path w="401955" h="1736725">
                <a:moveTo>
                  <a:pt x="38989" y="6476"/>
                </a:moveTo>
                <a:lnTo>
                  <a:pt x="34925" y="7238"/>
                </a:lnTo>
                <a:lnTo>
                  <a:pt x="30861" y="8127"/>
                </a:lnTo>
                <a:lnTo>
                  <a:pt x="30493" y="8687"/>
                </a:lnTo>
                <a:lnTo>
                  <a:pt x="28598" y="14350"/>
                </a:lnTo>
                <a:lnTo>
                  <a:pt x="28956" y="16255"/>
                </a:lnTo>
                <a:lnTo>
                  <a:pt x="34731" y="43974"/>
                </a:lnTo>
                <a:lnTo>
                  <a:pt x="39570" y="29477"/>
                </a:lnTo>
                <a:lnTo>
                  <a:pt x="30861" y="19812"/>
                </a:lnTo>
                <a:lnTo>
                  <a:pt x="43688" y="17145"/>
                </a:lnTo>
                <a:lnTo>
                  <a:pt x="44762" y="17145"/>
                </a:lnTo>
                <a:lnTo>
                  <a:pt x="43942" y="13208"/>
                </a:lnTo>
                <a:lnTo>
                  <a:pt x="43502" y="11198"/>
                </a:lnTo>
                <a:lnTo>
                  <a:pt x="39612" y="6886"/>
                </a:lnTo>
                <a:lnTo>
                  <a:pt x="38989" y="6476"/>
                </a:lnTo>
                <a:close/>
              </a:path>
              <a:path w="401955" h="1736725">
                <a:moveTo>
                  <a:pt x="44762" y="17145"/>
                </a:moveTo>
                <a:lnTo>
                  <a:pt x="43688" y="17145"/>
                </a:lnTo>
                <a:lnTo>
                  <a:pt x="39570" y="29477"/>
                </a:lnTo>
                <a:lnTo>
                  <a:pt x="49665" y="40678"/>
                </a:lnTo>
                <a:lnTo>
                  <a:pt x="44762" y="17145"/>
                </a:lnTo>
                <a:close/>
              </a:path>
              <a:path w="401955" h="1736725">
                <a:moveTo>
                  <a:pt x="43688" y="17145"/>
                </a:moveTo>
                <a:lnTo>
                  <a:pt x="30861" y="19812"/>
                </a:lnTo>
                <a:lnTo>
                  <a:pt x="39570" y="29477"/>
                </a:lnTo>
                <a:lnTo>
                  <a:pt x="43688" y="17145"/>
                </a:lnTo>
                <a:close/>
              </a:path>
              <a:path w="401955" h="1736725">
                <a:moveTo>
                  <a:pt x="30493" y="8687"/>
                </a:moveTo>
                <a:lnTo>
                  <a:pt x="28193" y="12191"/>
                </a:lnTo>
                <a:lnTo>
                  <a:pt x="28598" y="14350"/>
                </a:lnTo>
                <a:lnTo>
                  <a:pt x="30493" y="8687"/>
                </a:lnTo>
                <a:close/>
              </a:path>
              <a:path w="401955" h="1736725">
                <a:moveTo>
                  <a:pt x="39612" y="6886"/>
                </a:moveTo>
                <a:lnTo>
                  <a:pt x="43502" y="11198"/>
                </a:lnTo>
                <a:lnTo>
                  <a:pt x="43053" y="9143"/>
                </a:lnTo>
                <a:lnTo>
                  <a:pt x="39612" y="6886"/>
                </a:lnTo>
                <a:close/>
              </a:path>
              <a:path w="401955" h="1736725">
                <a:moveTo>
                  <a:pt x="33401" y="0"/>
                </a:moveTo>
                <a:lnTo>
                  <a:pt x="30493" y="8687"/>
                </a:lnTo>
                <a:lnTo>
                  <a:pt x="30861" y="8127"/>
                </a:lnTo>
                <a:lnTo>
                  <a:pt x="34925" y="7238"/>
                </a:lnTo>
                <a:lnTo>
                  <a:pt x="38989" y="6476"/>
                </a:lnTo>
                <a:lnTo>
                  <a:pt x="39243" y="6476"/>
                </a:lnTo>
                <a:lnTo>
                  <a:pt x="33401" y="0"/>
                </a:lnTo>
                <a:close/>
              </a:path>
              <a:path w="401955" h="1736725">
                <a:moveTo>
                  <a:pt x="39243" y="6476"/>
                </a:moveTo>
                <a:lnTo>
                  <a:pt x="38989" y="6476"/>
                </a:lnTo>
                <a:lnTo>
                  <a:pt x="39612" y="6886"/>
                </a:lnTo>
                <a:lnTo>
                  <a:pt x="39243" y="6476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10584" y="3767328"/>
            <a:ext cx="1728470" cy="338455"/>
          </a:xfrm>
          <a:prstGeom prst="rect">
            <a:avLst/>
          </a:prstGeom>
          <a:solidFill>
            <a:srgbClr val="B827E9"/>
          </a:solidFill>
          <a:ln w="15240">
            <a:solidFill>
              <a:srgbClr val="861AAB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Cible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lien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3442" y="2039111"/>
            <a:ext cx="106680" cy="1736089"/>
          </a:xfrm>
          <a:custGeom>
            <a:avLst/>
            <a:gdLst/>
            <a:ahLst/>
            <a:cxnLst/>
            <a:rect l="l" t="t" r="r" b="b"/>
            <a:pathLst>
              <a:path w="106679" h="1736089">
                <a:moveTo>
                  <a:pt x="53212" y="30241"/>
                </a:moveTo>
                <a:lnTo>
                  <a:pt x="45593" y="43301"/>
                </a:lnTo>
                <a:lnTo>
                  <a:pt x="45593" y="1732407"/>
                </a:lnTo>
                <a:lnTo>
                  <a:pt x="49022" y="1735836"/>
                </a:lnTo>
                <a:lnTo>
                  <a:pt x="57404" y="1735836"/>
                </a:lnTo>
                <a:lnTo>
                  <a:pt x="60833" y="1732407"/>
                </a:lnTo>
                <a:lnTo>
                  <a:pt x="60833" y="43301"/>
                </a:lnTo>
                <a:lnTo>
                  <a:pt x="53212" y="30241"/>
                </a:lnTo>
                <a:close/>
              </a:path>
              <a:path w="106679" h="1736089">
                <a:moveTo>
                  <a:pt x="45593" y="13060"/>
                </a:moveTo>
                <a:lnTo>
                  <a:pt x="2159" y="87502"/>
                </a:lnTo>
                <a:lnTo>
                  <a:pt x="0" y="91059"/>
                </a:lnTo>
                <a:lnTo>
                  <a:pt x="1270" y="95758"/>
                </a:lnTo>
                <a:lnTo>
                  <a:pt x="4953" y="97916"/>
                </a:lnTo>
                <a:lnTo>
                  <a:pt x="8509" y="99949"/>
                </a:lnTo>
                <a:lnTo>
                  <a:pt x="13208" y="98805"/>
                </a:lnTo>
                <a:lnTo>
                  <a:pt x="45593" y="43301"/>
                </a:lnTo>
                <a:lnTo>
                  <a:pt x="45593" y="13060"/>
                </a:lnTo>
                <a:close/>
              </a:path>
              <a:path w="106679" h="1736089">
                <a:moveTo>
                  <a:pt x="60833" y="13060"/>
                </a:moveTo>
                <a:lnTo>
                  <a:pt x="60833" y="43301"/>
                </a:lnTo>
                <a:lnTo>
                  <a:pt x="93218" y="98805"/>
                </a:lnTo>
                <a:lnTo>
                  <a:pt x="97917" y="99949"/>
                </a:lnTo>
                <a:lnTo>
                  <a:pt x="101473" y="97916"/>
                </a:lnTo>
                <a:lnTo>
                  <a:pt x="105156" y="95758"/>
                </a:lnTo>
                <a:lnTo>
                  <a:pt x="106426" y="91059"/>
                </a:lnTo>
                <a:lnTo>
                  <a:pt x="104267" y="87502"/>
                </a:lnTo>
                <a:lnTo>
                  <a:pt x="60833" y="13060"/>
                </a:lnTo>
                <a:close/>
              </a:path>
              <a:path w="106679" h="1736089">
                <a:moveTo>
                  <a:pt x="57404" y="7492"/>
                </a:moveTo>
                <a:lnTo>
                  <a:pt x="49022" y="7492"/>
                </a:lnTo>
                <a:lnTo>
                  <a:pt x="48587" y="7927"/>
                </a:lnTo>
                <a:lnTo>
                  <a:pt x="45593" y="13060"/>
                </a:lnTo>
                <a:lnTo>
                  <a:pt x="45593" y="43301"/>
                </a:lnTo>
                <a:lnTo>
                  <a:pt x="53212" y="30241"/>
                </a:lnTo>
                <a:lnTo>
                  <a:pt x="46609" y="18923"/>
                </a:lnTo>
                <a:lnTo>
                  <a:pt x="60833" y="18923"/>
                </a:lnTo>
                <a:lnTo>
                  <a:pt x="60833" y="13060"/>
                </a:lnTo>
                <a:lnTo>
                  <a:pt x="57838" y="7927"/>
                </a:lnTo>
                <a:lnTo>
                  <a:pt x="57404" y="7492"/>
                </a:lnTo>
                <a:close/>
              </a:path>
              <a:path w="106679" h="1736089">
                <a:moveTo>
                  <a:pt x="60833" y="18923"/>
                </a:moveTo>
                <a:lnTo>
                  <a:pt x="59817" y="18923"/>
                </a:lnTo>
                <a:lnTo>
                  <a:pt x="53212" y="30241"/>
                </a:lnTo>
                <a:lnTo>
                  <a:pt x="60833" y="43301"/>
                </a:lnTo>
                <a:lnTo>
                  <a:pt x="60833" y="18923"/>
                </a:lnTo>
                <a:close/>
              </a:path>
              <a:path w="106679" h="1736089">
                <a:moveTo>
                  <a:pt x="59817" y="18923"/>
                </a:moveTo>
                <a:lnTo>
                  <a:pt x="46609" y="18923"/>
                </a:lnTo>
                <a:lnTo>
                  <a:pt x="53212" y="30241"/>
                </a:lnTo>
                <a:lnTo>
                  <a:pt x="59817" y="18923"/>
                </a:lnTo>
                <a:close/>
              </a:path>
              <a:path w="106679" h="1736089">
                <a:moveTo>
                  <a:pt x="48587" y="7927"/>
                </a:moveTo>
                <a:lnTo>
                  <a:pt x="45593" y="10922"/>
                </a:lnTo>
                <a:lnTo>
                  <a:pt x="45593" y="13060"/>
                </a:lnTo>
                <a:lnTo>
                  <a:pt x="48587" y="7927"/>
                </a:lnTo>
                <a:close/>
              </a:path>
              <a:path w="106679" h="1736089">
                <a:moveTo>
                  <a:pt x="57838" y="7927"/>
                </a:moveTo>
                <a:lnTo>
                  <a:pt x="60833" y="13060"/>
                </a:lnTo>
                <a:lnTo>
                  <a:pt x="60833" y="10922"/>
                </a:lnTo>
                <a:lnTo>
                  <a:pt x="57838" y="7927"/>
                </a:lnTo>
                <a:close/>
              </a:path>
              <a:path w="106679" h="1736089">
                <a:moveTo>
                  <a:pt x="53212" y="0"/>
                </a:moveTo>
                <a:lnTo>
                  <a:pt x="48587" y="7927"/>
                </a:lnTo>
                <a:lnTo>
                  <a:pt x="49022" y="7492"/>
                </a:lnTo>
                <a:lnTo>
                  <a:pt x="57584" y="7492"/>
                </a:lnTo>
                <a:lnTo>
                  <a:pt x="53212" y="0"/>
                </a:lnTo>
                <a:close/>
              </a:path>
              <a:path w="106679" h="1736089">
                <a:moveTo>
                  <a:pt x="57584" y="7492"/>
                </a:moveTo>
                <a:lnTo>
                  <a:pt x="57404" y="7492"/>
                </a:lnTo>
                <a:lnTo>
                  <a:pt x="57838" y="7927"/>
                </a:lnTo>
                <a:lnTo>
                  <a:pt x="57584" y="7492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14871" y="3767328"/>
            <a:ext cx="1728470" cy="584200"/>
          </a:xfrm>
          <a:prstGeom prst="rect">
            <a:avLst/>
          </a:prstGeom>
          <a:solidFill>
            <a:srgbClr val="B827E9"/>
          </a:solidFill>
          <a:ln w="15240">
            <a:solidFill>
              <a:srgbClr val="861AAB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695960" marR="262255" indent="-425450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Contenu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du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lien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54139" y="2039111"/>
            <a:ext cx="106680" cy="1736089"/>
          </a:xfrm>
          <a:custGeom>
            <a:avLst/>
            <a:gdLst/>
            <a:ahLst/>
            <a:cxnLst/>
            <a:rect l="l" t="t" r="r" b="b"/>
            <a:pathLst>
              <a:path w="106679" h="1736089">
                <a:moveTo>
                  <a:pt x="53212" y="30241"/>
                </a:moveTo>
                <a:lnTo>
                  <a:pt x="45592" y="43301"/>
                </a:lnTo>
                <a:lnTo>
                  <a:pt x="45592" y="1732407"/>
                </a:lnTo>
                <a:lnTo>
                  <a:pt x="49021" y="1735836"/>
                </a:lnTo>
                <a:lnTo>
                  <a:pt x="57403" y="1735836"/>
                </a:lnTo>
                <a:lnTo>
                  <a:pt x="60832" y="1732407"/>
                </a:lnTo>
                <a:lnTo>
                  <a:pt x="60832" y="43301"/>
                </a:lnTo>
                <a:lnTo>
                  <a:pt x="53212" y="30241"/>
                </a:lnTo>
                <a:close/>
              </a:path>
              <a:path w="106679" h="1736089">
                <a:moveTo>
                  <a:pt x="45592" y="13060"/>
                </a:moveTo>
                <a:lnTo>
                  <a:pt x="2158" y="87502"/>
                </a:lnTo>
                <a:lnTo>
                  <a:pt x="0" y="91059"/>
                </a:lnTo>
                <a:lnTo>
                  <a:pt x="1269" y="95758"/>
                </a:lnTo>
                <a:lnTo>
                  <a:pt x="4952" y="97916"/>
                </a:lnTo>
                <a:lnTo>
                  <a:pt x="8508" y="99949"/>
                </a:lnTo>
                <a:lnTo>
                  <a:pt x="13207" y="98805"/>
                </a:lnTo>
                <a:lnTo>
                  <a:pt x="45592" y="43301"/>
                </a:lnTo>
                <a:lnTo>
                  <a:pt x="45592" y="13060"/>
                </a:lnTo>
                <a:close/>
              </a:path>
              <a:path w="106679" h="1736089">
                <a:moveTo>
                  <a:pt x="60832" y="13060"/>
                </a:moveTo>
                <a:lnTo>
                  <a:pt x="60832" y="43301"/>
                </a:lnTo>
                <a:lnTo>
                  <a:pt x="93217" y="98805"/>
                </a:lnTo>
                <a:lnTo>
                  <a:pt x="97916" y="99949"/>
                </a:lnTo>
                <a:lnTo>
                  <a:pt x="101472" y="97916"/>
                </a:lnTo>
                <a:lnTo>
                  <a:pt x="105155" y="95758"/>
                </a:lnTo>
                <a:lnTo>
                  <a:pt x="106425" y="91059"/>
                </a:lnTo>
                <a:lnTo>
                  <a:pt x="104266" y="87502"/>
                </a:lnTo>
                <a:lnTo>
                  <a:pt x="60832" y="13060"/>
                </a:lnTo>
                <a:close/>
              </a:path>
              <a:path w="106679" h="1736089">
                <a:moveTo>
                  <a:pt x="57403" y="7492"/>
                </a:moveTo>
                <a:lnTo>
                  <a:pt x="49021" y="7492"/>
                </a:lnTo>
                <a:lnTo>
                  <a:pt x="48587" y="7927"/>
                </a:lnTo>
                <a:lnTo>
                  <a:pt x="45592" y="13060"/>
                </a:lnTo>
                <a:lnTo>
                  <a:pt x="45592" y="43301"/>
                </a:lnTo>
                <a:lnTo>
                  <a:pt x="53212" y="30241"/>
                </a:lnTo>
                <a:lnTo>
                  <a:pt x="46608" y="18923"/>
                </a:lnTo>
                <a:lnTo>
                  <a:pt x="60832" y="18923"/>
                </a:lnTo>
                <a:lnTo>
                  <a:pt x="60832" y="13060"/>
                </a:lnTo>
                <a:lnTo>
                  <a:pt x="57838" y="7927"/>
                </a:lnTo>
                <a:lnTo>
                  <a:pt x="57403" y="7492"/>
                </a:lnTo>
                <a:close/>
              </a:path>
              <a:path w="106679" h="1736089">
                <a:moveTo>
                  <a:pt x="60832" y="18923"/>
                </a:moveTo>
                <a:lnTo>
                  <a:pt x="59816" y="18923"/>
                </a:lnTo>
                <a:lnTo>
                  <a:pt x="53212" y="30241"/>
                </a:lnTo>
                <a:lnTo>
                  <a:pt x="60832" y="43301"/>
                </a:lnTo>
                <a:lnTo>
                  <a:pt x="60832" y="18923"/>
                </a:lnTo>
                <a:close/>
              </a:path>
              <a:path w="106679" h="1736089">
                <a:moveTo>
                  <a:pt x="59816" y="18923"/>
                </a:moveTo>
                <a:lnTo>
                  <a:pt x="46608" y="18923"/>
                </a:lnTo>
                <a:lnTo>
                  <a:pt x="53212" y="30241"/>
                </a:lnTo>
                <a:lnTo>
                  <a:pt x="59816" y="18923"/>
                </a:lnTo>
                <a:close/>
              </a:path>
              <a:path w="106679" h="1736089">
                <a:moveTo>
                  <a:pt x="48587" y="7927"/>
                </a:moveTo>
                <a:lnTo>
                  <a:pt x="45592" y="10922"/>
                </a:lnTo>
                <a:lnTo>
                  <a:pt x="45592" y="13060"/>
                </a:lnTo>
                <a:lnTo>
                  <a:pt x="48587" y="7927"/>
                </a:lnTo>
                <a:close/>
              </a:path>
              <a:path w="106679" h="1736089">
                <a:moveTo>
                  <a:pt x="57838" y="7927"/>
                </a:moveTo>
                <a:lnTo>
                  <a:pt x="60832" y="13060"/>
                </a:lnTo>
                <a:lnTo>
                  <a:pt x="60832" y="10922"/>
                </a:lnTo>
                <a:lnTo>
                  <a:pt x="57838" y="7927"/>
                </a:lnTo>
                <a:close/>
              </a:path>
              <a:path w="106679" h="1736089">
                <a:moveTo>
                  <a:pt x="53212" y="0"/>
                </a:moveTo>
                <a:lnTo>
                  <a:pt x="48587" y="7927"/>
                </a:lnTo>
                <a:lnTo>
                  <a:pt x="49021" y="7492"/>
                </a:lnTo>
                <a:lnTo>
                  <a:pt x="57584" y="7492"/>
                </a:lnTo>
                <a:lnTo>
                  <a:pt x="53212" y="0"/>
                </a:lnTo>
                <a:close/>
              </a:path>
              <a:path w="106679" h="1736089">
                <a:moveTo>
                  <a:pt x="57584" y="7492"/>
                </a:moveTo>
                <a:lnTo>
                  <a:pt x="57403" y="7492"/>
                </a:lnTo>
                <a:lnTo>
                  <a:pt x="57838" y="7927"/>
                </a:lnTo>
                <a:lnTo>
                  <a:pt x="57584" y="7492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950464" y="4383023"/>
            <a:ext cx="8510270" cy="2024380"/>
            <a:chOff x="2950464" y="4383023"/>
            <a:chExt cx="8510270" cy="20243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0464" y="4383023"/>
              <a:ext cx="8510016" cy="20238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5536" y="4578095"/>
              <a:ext cx="7921752" cy="14356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584" y="1661541"/>
            <a:ext cx="1043241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785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90" dirty="0">
                <a:latin typeface="Verdana"/>
                <a:cs typeface="Verdana"/>
              </a:rPr>
              <a:t>Chaque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ressource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le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90" dirty="0">
                <a:latin typeface="Verdana"/>
                <a:cs typeface="Verdana"/>
              </a:rPr>
              <a:t>web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a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identifiant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unique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qui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s’appelle </a:t>
            </a:r>
            <a:r>
              <a:rPr sz="2400" spc="-229" dirty="0">
                <a:latin typeface="Verdana"/>
                <a:cs typeface="Verdana"/>
              </a:rPr>
              <a:t>URL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(Unified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Resource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Locator)</a:t>
            </a:r>
            <a:endParaRPr sz="2400">
              <a:latin typeface="Verdana"/>
              <a:cs typeface="Verdana"/>
            </a:endParaRPr>
          </a:p>
          <a:p>
            <a:pPr marL="355600" marR="113157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spc="-50" dirty="0">
                <a:latin typeface="Verdana"/>
                <a:cs typeface="Verdana"/>
              </a:rPr>
              <a:t>Une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b="1" i="1" spc="-465" dirty="0">
                <a:solidFill>
                  <a:srgbClr val="FF0000"/>
                </a:solidFill>
                <a:latin typeface="Verdana"/>
                <a:cs typeface="Verdana"/>
              </a:rPr>
              <a:t>URL</a:t>
            </a:r>
            <a:r>
              <a:rPr sz="2400" b="1" i="1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185" dirty="0">
                <a:solidFill>
                  <a:srgbClr val="FF0000"/>
                </a:solidFill>
                <a:latin typeface="Verdana"/>
                <a:cs typeface="Verdana"/>
              </a:rPr>
              <a:t>absolue</a:t>
            </a:r>
            <a:r>
              <a:rPr sz="24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commence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le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nom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domaine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du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site </a:t>
            </a:r>
            <a:r>
              <a:rPr sz="2400" dirty="0">
                <a:latin typeface="Verdana"/>
                <a:cs typeface="Verdana"/>
              </a:rPr>
              <a:t>contenant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ressource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70" dirty="0">
                <a:latin typeface="Verdana"/>
                <a:cs typeface="Verdana"/>
              </a:rPr>
              <a:t>Quand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les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pages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appartiennent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au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même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55" dirty="0">
                <a:latin typeface="Verdana"/>
                <a:cs typeface="Verdana"/>
              </a:rPr>
              <a:t>site,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peut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faire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usage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Verdana"/>
                <a:cs typeface="Verdana"/>
              </a:rPr>
              <a:t>des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b="1" i="1" spc="-445" dirty="0">
                <a:latin typeface="Verdana"/>
                <a:cs typeface="Verdana"/>
              </a:rPr>
              <a:t>URLs</a:t>
            </a:r>
            <a:r>
              <a:rPr sz="2400" b="1" i="1" spc="-160" dirty="0">
                <a:latin typeface="Verdana"/>
                <a:cs typeface="Verdana"/>
              </a:rPr>
              <a:t> </a:t>
            </a:r>
            <a:r>
              <a:rPr sz="2400" b="1" i="1" spc="-125" dirty="0">
                <a:latin typeface="Verdana"/>
                <a:cs typeface="Verdana"/>
              </a:rPr>
              <a:t>relatives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55" dirty="0">
                <a:latin typeface="Verdana"/>
                <a:cs typeface="Verdana"/>
              </a:rPr>
              <a:t>Les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254" dirty="0">
                <a:latin typeface="Verdana"/>
                <a:cs typeface="Verdana"/>
              </a:rPr>
              <a:t>URLs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relatives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commencent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pas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le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nom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125" dirty="0">
                <a:latin typeface="Verdana"/>
                <a:cs typeface="Verdana"/>
              </a:rPr>
              <a:t>de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domaine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mais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spc="-40" dirty="0">
                <a:latin typeface="Verdana"/>
                <a:cs typeface="Verdana"/>
              </a:rPr>
              <a:t>indiquent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position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rapport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à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145" dirty="0">
                <a:latin typeface="Verdana"/>
                <a:cs typeface="Verdana"/>
              </a:rPr>
              <a:t>page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cours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URLs</a:t>
            </a:r>
            <a:r>
              <a:rPr spc="-254" dirty="0"/>
              <a:t> </a:t>
            </a:r>
            <a:r>
              <a:rPr spc="-65" dirty="0"/>
              <a:t>absolues</a:t>
            </a:r>
            <a:r>
              <a:rPr spc="-265" dirty="0"/>
              <a:t> </a:t>
            </a:r>
            <a:r>
              <a:rPr dirty="0"/>
              <a:t>et</a:t>
            </a:r>
            <a:r>
              <a:rPr spc="-290" dirty="0"/>
              <a:t> </a:t>
            </a:r>
            <a:r>
              <a:rPr spc="-365" dirty="0"/>
              <a:t>URLs</a:t>
            </a:r>
            <a:r>
              <a:rPr spc="-260" dirty="0"/>
              <a:t> </a:t>
            </a:r>
            <a:r>
              <a:rPr spc="-100" dirty="0"/>
              <a:t>relatives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7882" y="1405814"/>
            <a:ext cx="11052810" cy="1826260"/>
            <a:chOff x="492061" y="1407985"/>
            <a:chExt cx="11052810" cy="1826260"/>
          </a:xfrm>
        </p:grpSpPr>
        <p:sp>
          <p:nvSpPr>
            <p:cNvPr id="3" name="object 3"/>
            <p:cNvSpPr/>
            <p:nvPr/>
          </p:nvSpPr>
          <p:spPr>
            <a:xfrm>
              <a:off x="496823" y="1412747"/>
              <a:ext cx="11043285" cy="1816735"/>
            </a:xfrm>
            <a:custGeom>
              <a:avLst/>
              <a:gdLst/>
              <a:ahLst/>
              <a:cxnLst/>
              <a:rect l="l" t="t" r="r" b="b"/>
              <a:pathLst>
                <a:path w="11043285" h="1816735">
                  <a:moveTo>
                    <a:pt x="11042904" y="0"/>
                  </a:moveTo>
                  <a:lnTo>
                    <a:pt x="0" y="0"/>
                  </a:lnTo>
                  <a:lnTo>
                    <a:pt x="0" y="1816607"/>
                  </a:lnTo>
                  <a:lnTo>
                    <a:pt x="11042904" y="1816607"/>
                  </a:lnTo>
                  <a:lnTo>
                    <a:pt x="11042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6823" y="1412747"/>
              <a:ext cx="11043285" cy="1816735"/>
            </a:xfrm>
            <a:custGeom>
              <a:avLst/>
              <a:gdLst/>
              <a:ahLst/>
              <a:cxnLst/>
              <a:rect l="l" t="t" r="r" b="b"/>
              <a:pathLst>
                <a:path w="11043285" h="1816735">
                  <a:moveTo>
                    <a:pt x="0" y="1816607"/>
                  </a:moveTo>
                  <a:lnTo>
                    <a:pt x="11042904" y="1816607"/>
                  </a:lnTo>
                  <a:lnTo>
                    <a:pt x="11042904" y="0"/>
                  </a:lnTo>
                  <a:lnTo>
                    <a:pt x="0" y="0"/>
                  </a:lnTo>
                  <a:lnTo>
                    <a:pt x="0" y="181660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7819" y="1546859"/>
              <a:ext cx="8114030" cy="236220"/>
            </a:xfrm>
            <a:custGeom>
              <a:avLst/>
              <a:gdLst/>
              <a:ahLst/>
              <a:cxnLst/>
              <a:rect l="l" t="t" r="r" b="b"/>
              <a:pathLst>
                <a:path w="8114030" h="236219">
                  <a:moveTo>
                    <a:pt x="111239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11239" y="236220"/>
                  </a:lnTo>
                  <a:lnTo>
                    <a:pt x="111239" y="0"/>
                  </a:lnTo>
                  <a:close/>
                </a:path>
                <a:path w="8114030" h="236219">
                  <a:moveTo>
                    <a:pt x="778751" y="0"/>
                  </a:moveTo>
                  <a:lnTo>
                    <a:pt x="333756" y="0"/>
                  </a:lnTo>
                  <a:lnTo>
                    <a:pt x="111252" y="0"/>
                  </a:lnTo>
                  <a:lnTo>
                    <a:pt x="111252" y="236220"/>
                  </a:lnTo>
                  <a:lnTo>
                    <a:pt x="333756" y="236220"/>
                  </a:lnTo>
                  <a:lnTo>
                    <a:pt x="778751" y="236220"/>
                  </a:lnTo>
                  <a:lnTo>
                    <a:pt x="778751" y="0"/>
                  </a:lnTo>
                  <a:close/>
                </a:path>
                <a:path w="8114030" h="236219">
                  <a:moveTo>
                    <a:pt x="8113839" y="0"/>
                  </a:moveTo>
                  <a:lnTo>
                    <a:pt x="8113839" y="0"/>
                  </a:lnTo>
                  <a:lnTo>
                    <a:pt x="778827" y="0"/>
                  </a:lnTo>
                  <a:lnTo>
                    <a:pt x="778827" y="236220"/>
                  </a:lnTo>
                  <a:lnTo>
                    <a:pt x="8113839" y="236220"/>
                  </a:lnTo>
                  <a:lnTo>
                    <a:pt x="8113839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5259" y="1517345"/>
            <a:ext cx="8140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"page.html"&gt;</a:t>
            </a:r>
            <a:r>
              <a:rPr sz="1600" b="1" dirty="0">
                <a:latin typeface="Consolas"/>
                <a:cs typeface="Consolas"/>
              </a:rPr>
              <a:t>Une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page</a:t>
            </a:r>
            <a:r>
              <a:rPr sz="1600" b="1" spc="-4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dans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le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même</a:t>
            </a:r>
            <a:r>
              <a:rPr sz="1600" b="1" spc="-4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dossier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index.html</a:t>
            </a:r>
            <a:r>
              <a:rPr sz="1600" b="1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--</a:t>
            </a:r>
            <a:r>
              <a:rPr sz="1600" b="1" spc="-5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819" y="1546859"/>
            <a:ext cx="8557895" cy="1251585"/>
          </a:xfrm>
          <a:custGeom>
            <a:avLst/>
            <a:gdLst/>
            <a:ahLst/>
            <a:cxnLst/>
            <a:rect l="l" t="t" r="r" b="b"/>
            <a:pathLst>
              <a:path w="8557895" h="1251585">
                <a:moveTo>
                  <a:pt x="111239" y="1014984"/>
                </a:moveTo>
                <a:lnTo>
                  <a:pt x="0" y="1014984"/>
                </a:lnTo>
                <a:lnTo>
                  <a:pt x="0" y="1251204"/>
                </a:lnTo>
                <a:lnTo>
                  <a:pt x="111239" y="1251204"/>
                </a:lnTo>
                <a:lnTo>
                  <a:pt x="111239" y="1014984"/>
                </a:lnTo>
                <a:close/>
              </a:path>
              <a:path w="8557895" h="1251585">
                <a:moveTo>
                  <a:pt x="778751" y="1014984"/>
                </a:moveTo>
                <a:lnTo>
                  <a:pt x="333756" y="1014984"/>
                </a:lnTo>
                <a:lnTo>
                  <a:pt x="111252" y="1014984"/>
                </a:lnTo>
                <a:lnTo>
                  <a:pt x="111252" y="1251204"/>
                </a:lnTo>
                <a:lnTo>
                  <a:pt x="333756" y="1251204"/>
                </a:lnTo>
                <a:lnTo>
                  <a:pt x="778751" y="1251204"/>
                </a:lnTo>
                <a:lnTo>
                  <a:pt x="778751" y="1014984"/>
                </a:lnTo>
                <a:close/>
              </a:path>
              <a:path w="8557895" h="1251585">
                <a:moveTo>
                  <a:pt x="2668574" y="1014984"/>
                </a:moveTo>
                <a:lnTo>
                  <a:pt x="890079" y="1014984"/>
                </a:lnTo>
                <a:lnTo>
                  <a:pt x="778827" y="1014984"/>
                </a:lnTo>
                <a:lnTo>
                  <a:pt x="778827" y="1251204"/>
                </a:lnTo>
                <a:lnTo>
                  <a:pt x="890079" y="1251204"/>
                </a:lnTo>
                <a:lnTo>
                  <a:pt x="2668574" y="1251204"/>
                </a:lnTo>
                <a:lnTo>
                  <a:pt x="2668574" y="1014984"/>
                </a:lnTo>
                <a:close/>
              </a:path>
              <a:path w="8557895" h="1251585">
                <a:moveTo>
                  <a:pt x="8225091" y="0"/>
                </a:moveTo>
                <a:lnTo>
                  <a:pt x="8113839" y="0"/>
                </a:lnTo>
                <a:lnTo>
                  <a:pt x="8113839" y="236220"/>
                </a:lnTo>
                <a:lnTo>
                  <a:pt x="8225091" y="236220"/>
                </a:lnTo>
                <a:lnTo>
                  <a:pt x="8225091" y="0"/>
                </a:lnTo>
                <a:close/>
              </a:path>
              <a:path w="8557895" h="1251585">
                <a:moveTo>
                  <a:pt x="8447583" y="1014984"/>
                </a:moveTo>
                <a:lnTo>
                  <a:pt x="8447583" y="1014984"/>
                </a:lnTo>
                <a:lnTo>
                  <a:pt x="2668587" y="1014984"/>
                </a:lnTo>
                <a:lnTo>
                  <a:pt x="2668587" y="1251204"/>
                </a:lnTo>
                <a:lnTo>
                  <a:pt x="8447583" y="1251204"/>
                </a:lnTo>
                <a:lnTo>
                  <a:pt x="8447583" y="1014984"/>
                </a:lnTo>
                <a:close/>
              </a:path>
              <a:path w="8557895" h="1251585">
                <a:moveTo>
                  <a:pt x="8557323" y="1014984"/>
                </a:moveTo>
                <a:lnTo>
                  <a:pt x="8447595" y="1014984"/>
                </a:lnTo>
                <a:lnTo>
                  <a:pt x="8447595" y="1251204"/>
                </a:lnTo>
                <a:lnTo>
                  <a:pt x="8557323" y="1251204"/>
                </a:lnTo>
                <a:lnTo>
                  <a:pt x="8557323" y="1014984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5259" y="1801494"/>
            <a:ext cx="95853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"Dossier1/Fichier1.html"&gt;</a:t>
            </a:r>
            <a:r>
              <a:rPr sz="1600" b="1" dirty="0">
                <a:latin typeface="Consolas"/>
                <a:cs typeface="Consolas"/>
              </a:rPr>
              <a:t>Une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page</a:t>
            </a:r>
            <a:r>
              <a:rPr sz="1600" b="1" spc="-4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dans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un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sous-</a:t>
            </a:r>
            <a:r>
              <a:rPr sz="1600" b="1" dirty="0">
                <a:latin typeface="Consolas"/>
                <a:cs typeface="Consolas"/>
              </a:rPr>
              <a:t>dossier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index.html</a:t>
            </a:r>
            <a:r>
              <a:rPr sz="1600" b="1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spc="-15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5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"Dossier2/Dossier21/Fichier2.html"&gt;</a:t>
            </a:r>
            <a:r>
              <a:rPr sz="1600" b="1" dirty="0">
                <a:latin typeface="Consolas"/>
                <a:cs typeface="Consolas"/>
              </a:rPr>
              <a:t>Une</a:t>
            </a:r>
            <a:r>
              <a:rPr sz="1600" b="1" spc="-4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page</a:t>
            </a:r>
            <a:r>
              <a:rPr sz="1600" b="1" spc="-4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dans</a:t>
            </a:r>
            <a:r>
              <a:rPr sz="1600" b="1" spc="-5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un</a:t>
            </a:r>
            <a:r>
              <a:rPr sz="1600" b="1" spc="-40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autre</a:t>
            </a:r>
            <a:r>
              <a:rPr sz="1600" b="1" spc="-40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sous-dossier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b="1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"Dossier1/Fichier1.html"&gt;</a:t>
            </a:r>
            <a:r>
              <a:rPr sz="1600" b="1" dirty="0">
                <a:latin typeface="Consolas"/>
                <a:cs typeface="Consolas"/>
              </a:rPr>
              <a:t>Une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page</a:t>
            </a:r>
            <a:r>
              <a:rPr sz="1600" b="1" spc="-4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dans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un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sous-</a:t>
            </a:r>
            <a:r>
              <a:rPr sz="1600" b="1" dirty="0">
                <a:latin typeface="Consolas"/>
                <a:cs typeface="Consolas"/>
              </a:rPr>
              <a:t>dossier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index.html</a:t>
            </a:r>
            <a:r>
              <a:rPr sz="1600" b="1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spc="-15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5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"../index.html"&gt;</a:t>
            </a:r>
            <a:r>
              <a:rPr sz="1600" b="1" dirty="0">
                <a:latin typeface="Consolas"/>
                <a:cs typeface="Consolas"/>
              </a:rPr>
              <a:t>Lien</a:t>
            </a:r>
            <a:r>
              <a:rPr sz="1600" b="1" spc="-3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vers</a:t>
            </a:r>
            <a:r>
              <a:rPr sz="1600" b="1" spc="-2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un</a:t>
            </a:r>
            <a:r>
              <a:rPr sz="1600" b="1" spc="-2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dossier</a:t>
            </a:r>
            <a:r>
              <a:rPr sz="1600" b="1" spc="-25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parent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Fichier1.html</a:t>
            </a:r>
            <a:r>
              <a:rPr sz="1600" b="1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600" b="1" spc="-5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57400" y="195718"/>
            <a:ext cx="6962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URLs</a:t>
            </a:r>
            <a:r>
              <a:rPr spc="-245" dirty="0"/>
              <a:t> </a:t>
            </a:r>
            <a:r>
              <a:rPr spc="-65" dirty="0"/>
              <a:t>absolues</a:t>
            </a:r>
            <a:r>
              <a:rPr spc="-254" dirty="0"/>
              <a:t> </a:t>
            </a:r>
            <a:r>
              <a:rPr dirty="0"/>
              <a:t>et</a:t>
            </a:r>
            <a:r>
              <a:rPr spc="-250" dirty="0"/>
              <a:t> </a:t>
            </a:r>
            <a:r>
              <a:rPr spc="-365" dirty="0"/>
              <a:t>URLs</a:t>
            </a:r>
            <a:r>
              <a:rPr spc="-250" dirty="0"/>
              <a:t> </a:t>
            </a:r>
            <a:r>
              <a:rPr spc="-150" dirty="0"/>
              <a:t>relatives</a:t>
            </a:r>
            <a:r>
              <a:rPr spc="-235" dirty="0"/>
              <a:t> </a:t>
            </a:r>
            <a:r>
              <a:rPr spc="-495" dirty="0"/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00200" y="815988"/>
            <a:ext cx="19170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>
                <a:solidFill>
                  <a:srgbClr val="178DBA"/>
                </a:solidFill>
                <a:latin typeface="Verdana"/>
                <a:cs typeface="Verdana"/>
              </a:rPr>
              <a:t>Exemple</a:t>
            </a:r>
            <a:endParaRPr sz="36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28474" y="2438400"/>
            <a:ext cx="2879090" cy="4502150"/>
            <a:chOff x="8151876" y="2356104"/>
            <a:chExt cx="2879090" cy="45021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2356104"/>
              <a:ext cx="2878835" cy="45018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6948" y="2551176"/>
              <a:ext cx="2290572" cy="41026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091" y="1415796"/>
            <a:ext cx="11184890" cy="1627369"/>
          </a:xfrm>
          <a:prstGeom prst="rect">
            <a:avLst/>
          </a:prstGeom>
          <a:solidFill>
            <a:srgbClr val="FFFFFF"/>
          </a:solidFill>
          <a:ln w="6096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433705" marR="702310" indent="-342900">
              <a:lnSpc>
                <a:spcPts val="4320"/>
              </a:lnSpc>
              <a:spcBef>
                <a:spcPts val="150"/>
              </a:spcBef>
              <a:buFont typeface="Arial MT"/>
              <a:buChar char="•"/>
              <a:tabLst>
                <a:tab pos="433705" algn="l"/>
              </a:tabLst>
            </a:pPr>
            <a:r>
              <a:rPr sz="2400" spc="-155" dirty="0">
                <a:latin typeface="Verdana"/>
                <a:cs typeface="Verdana"/>
              </a:rPr>
              <a:t>Un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lien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peut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déclencher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le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programme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client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mail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au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lieu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pointer </a:t>
            </a:r>
            <a:r>
              <a:rPr sz="2400" spc="-160" dirty="0">
                <a:latin typeface="Verdana"/>
                <a:cs typeface="Verdana"/>
              </a:rPr>
              <a:t>vers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ressource,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il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suffit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d’utiliser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45" dirty="0">
                <a:latin typeface="Verdana"/>
                <a:cs typeface="Verdana"/>
              </a:rPr>
              <a:t>«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mailto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545" dirty="0">
                <a:latin typeface="Verdana"/>
                <a:cs typeface="Verdana"/>
              </a:rPr>
              <a:t>»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cible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du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lien</a:t>
            </a:r>
            <a:endParaRPr sz="2400" dirty="0">
              <a:latin typeface="Verdana"/>
              <a:cs typeface="Verdana"/>
            </a:endParaRPr>
          </a:p>
          <a:p>
            <a:pPr marL="90805">
              <a:lnSpc>
                <a:spcPct val="100000"/>
              </a:lnSpc>
              <a:spcBef>
                <a:spcPts val="130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Contactez-</a:t>
            </a:r>
            <a:r>
              <a:rPr sz="1600" dirty="0">
                <a:latin typeface="Consolas"/>
                <a:cs typeface="Consolas"/>
              </a:rPr>
              <a:t>moi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en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cliquant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spc="-10" dirty="0" err="1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"</a:t>
            </a:r>
            <a:r>
              <a:rPr lang="fr-FR" sz="1600" b="1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mailto:ramzi.rezki@lecnam.net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"&gt;</a:t>
            </a:r>
            <a:r>
              <a:rPr sz="1600" b="1" spc="-10" dirty="0">
                <a:latin typeface="Consolas"/>
                <a:cs typeface="Consolas"/>
              </a:rPr>
              <a:t>ici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935" y="3054604"/>
            <a:ext cx="789940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9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217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Liens</a:t>
            </a:r>
            <a:r>
              <a:rPr spc="-260" dirty="0"/>
              <a:t> </a:t>
            </a:r>
            <a:r>
              <a:rPr spc="-240" dirty="0"/>
              <a:t>vers</a:t>
            </a:r>
            <a:r>
              <a:rPr spc="-250" dirty="0"/>
              <a:t> </a:t>
            </a:r>
            <a:r>
              <a:rPr spc="-20" dirty="0"/>
              <a:t>des</a:t>
            </a:r>
            <a:r>
              <a:rPr spc="-254" dirty="0"/>
              <a:t> </a:t>
            </a:r>
            <a:r>
              <a:rPr spc="-130" dirty="0"/>
              <a:t>mails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76372" y="3685032"/>
            <a:ext cx="8327390" cy="1658620"/>
            <a:chOff x="2976372" y="3685032"/>
            <a:chExt cx="8327390" cy="16586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6372" y="3685032"/>
              <a:ext cx="8327135" cy="16581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1444" y="3880104"/>
              <a:ext cx="7738872" cy="10698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7284" y="1399032"/>
            <a:ext cx="11050905" cy="1667510"/>
            <a:chOff x="367284" y="1399032"/>
            <a:chExt cx="11050905" cy="1667510"/>
          </a:xfrm>
        </p:grpSpPr>
        <p:sp>
          <p:nvSpPr>
            <p:cNvPr id="3" name="object 3"/>
            <p:cNvSpPr/>
            <p:nvPr/>
          </p:nvSpPr>
          <p:spPr>
            <a:xfrm>
              <a:off x="370332" y="1402080"/>
              <a:ext cx="11044555" cy="1661160"/>
            </a:xfrm>
            <a:custGeom>
              <a:avLst/>
              <a:gdLst/>
              <a:ahLst/>
              <a:cxnLst/>
              <a:rect l="l" t="t" r="r" b="b"/>
              <a:pathLst>
                <a:path w="11044555" h="1661160">
                  <a:moveTo>
                    <a:pt x="11044428" y="0"/>
                  </a:moveTo>
                  <a:lnTo>
                    <a:pt x="0" y="0"/>
                  </a:lnTo>
                  <a:lnTo>
                    <a:pt x="0" y="1661160"/>
                  </a:lnTo>
                  <a:lnTo>
                    <a:pt x="11044428" y="1661160"/>
                  </a:lnTo>
                  <a:lnTo>
                    <a:pt x="11044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0332" y="1402080"/>
              <a:ext cx="11044555" cy="1661160"/>
            </a:xfrm>
            <a:custGeom>
              <a:avLst/>
              <a:gdLst/>
              <a:ahLst/>
              <a:cxnLst/>
              <a:rect l="l" t="t" r="r" b="b"/>
              <a:pathLst>
                <a:path w="11044555" h="1661160">
                  <a:moveTo>
                    <a:pt x="0" y="1661160"/>
                  </a:moveTo>
                  <a:lnTo>
                    <a:pt x="11044428" y="1661160"/>
                  </a:lnTo>
                  <a:lnTo>
                    <a:pt x="11044428" y="0"/>
                  </a:lnTo>
                  <a:lnTo>
                    <a:pt x="0" y="0"/>
                  </a:lnTo>
                  <a:lnTo>
                    <a:pt x="0" y="166116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9072" y="1905680"/>
            <a:ext cx="8197850" cy="8864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95"/>
              </a:spcBef>
            </a:pPr>
            <a:r>
              <a:rPr sz="2000" spc="-440" dirty="0">
                <a:latin typeface="Verdana"/>
                <a:cs typeface="Verdana"/>
              </a:rPr>
              <a:t>«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_blank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»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Et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voici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un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http://www.google.com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sz="14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nsolas"/>
                <a:cs typeface="Consolas"/>
              </a:rPr>
              <a:t>target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"_blank"&gt;</a:t>
            </a:r>
            <a:r>
              <a:rPr sz="1400" b="1" dirty="0">
                <a:latin typeface="Consolas"/>
                <a:cs typeface="Consolas"/>
              </a:rPr>
              <a:t>moteur</a:t>
            </a:r>
            <a:r>
              <a:rPr sz="1400" b="1" spc="-30" dirty="0">
                <a:latin typeface="Consolas"/>
                <a:cs typeface="Consolas"/>
              </a:rPr>
              <a:t> </a:t>
            </a:r>
            <a:r>
              <a:rPr sz="1400" b="1" dirty="0">
                <a:latin typeface="Consolas"/>
                <a:cs typeface="Consolas"/>
              </a:rPr>
              <a:t>de</a:t>
            </a:r>
            <a:r>
              <a:rPr sz="1400" b="1" spc="-40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recherche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7102" y="2552141"/>
            <a:ext cx="11074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onsolas"/>
                <a:cs typeface="Consolas"/>
              </a:rPr>
              <a:t>intéressant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695" y="2793238"/>
            <a:ext cx="688975" cy="20891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944" y="211544"/>
            <a:ext cx="860933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Ouvrir</a:t>
            </a:r>
            <a:r>
              <a:rPr spc="-245" dirty="0"/>
              <a:t> </a:t>
            </a:r>
            <a:r>
              <a:rPr spc="-100" dirty="0"/>
              <a:t>un</a:t>
            </a:r>
            <a:r>
              <a:rPr spc="-260" dirty="0"/>
              <a:t> </a:t>
            </a:r>
            <a:r>
              <a:rPr spc="-120" dirty="0"/>
              <a:t>lien</a:t>
            </a:r>
            <a:r>
              <a:rPr spc="-240" dirty="0"/>
              <a:t> </a:t>
            </a:r>
            <a:r>
              <a:rPr spc="-20" dirty="0"/>
              <a:t>dans</a:t>
            </a:r>
            <a:r>
              <a:rPr spc="-260" dirty="0"/>
              <a:t> </a:t>
            </a:r>
            <a:r>
              <a:rPr dirty="0" err="1"/>
              <a:t>une</a:t>
            </a:r>
            <a:r>
              <a:rPr spc="-254" dirty="0"/>
              <a:t> </a:t>
            </a:r>
            <a:r>
              <a:rPr spc="-10" dirty="0"/>
              <a:t>nouvelle</a:t>
            </a:r>
            <a:r>
              <a:rPr lang="fr-FR" spc="-10" dirty="0"/>
              <a:t> </a:t>
            </a:r>
            <a:r>
              <a:rPr lang="fr-FR" spc="-10" dirty="0" err="1"/>
              <a:t>fenetre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370332" y="1466776"/>
            <a:ext cx="108623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spcBef>
                <a:spcPts val="100"/>
              </a:spcBef>
              <a:buFont typeface="Arial MT"/>
              <a:buChar char="•"/>
              <a:tabLst>
                <a:tab pos="380365" algn="l"/>
              </a:tabLst>
            </a:pPr>
            <a:r>
              <a:rPr lang="fr-FR" sz="2000" spc="-60" dirty="0">
                <a:latin typeface="Verdana"/>
                <a:cs typeface="Verdana"/>
              </a:rPr>
              <a:t>Pour</a:t>
            </a:r>
            <a:r>
              <a:rPr lang="fr-FR" sz="2000" spc="-130" dirty="0">
                <a:latin typeface="Verdana"/>
                <a:cs typeface="Verdana"/>
              </a:rPr>
              <a:t> </a:t>
            </a:r>
            <a:r>
              <a:rPr lang="fr-FR" sz="2000" spc="-125" dirty="0">
                <a:latin typeface="Verdana"/>
                <a:cs typeface="Verdana"/>
              </a:rPr>
              <a:t>ouvrir</a:t>
            </a:r>
            <a:r>
              <a:rPr lang="fr-FR" sz="2000" spc="-150" dirty="0">
                <a:latin typeface="Verdana"/>
                <a:cs typeface="Verdana"/>
              </a:rPr>
              <a:t> </a:t>
            </a:r>
            <a:r>
              <a:rPr lang="fr-FR" sz="2000" spc="-60" dirty="0">
                <a:latin typeface="Verdana"/>
                <a:cs typeface="Verdana"/>
              </a:rPr>
              <a:t>une</a:t>
            </a:r>
            <a:r>
              <a:rPr lang="fr-FR" sz="2000" spc="-120" dirty="0">
                <a:latin typeface="Verdana"/>
                <a:cs typeface="Verdana"/>
              </a:rPr>
              <a:t> n</a:t>
            </a:r>
            <a:r>
              <a:rPr lang="fr-FR" sz="2000" spc="-30" dirty="0">
                <a:latin typeface="Verdana"/>
                <a:cs typeface="Verdana"/>
              </a:rPr>
              <a:t>ouvelle</a:t>
            </a:r>
            <a:r>
              <a:rPr lang="fr-FR" sz="2000" spc="-160" dirty="0">
                <a:latin typeface="Verdana"/>
                <a:cs typeface="Verdana"/>
              </a:rPr>
              <a:t> </a:t>
            </a:r>
            <a:r>
              <a:rPr lang="fr-FR" sz="2000" spc="-50" dirty="0">
                <a:latin typeface="Verdana"/>
                <a:cs typeface="Verdana"/>
              </a:rPr>
              <a:t>fenêtre,</a:t>
            </a:r>
            <a:r>
              <a:rPr lang="fr-FR" sz="2000" spc="-165" dirty="0">
                <a:latin typeface="Verdana"/>
                <a:cs typeface="Verdana"/>
              </a:rPr>
              <a:t> </a:t>
            </a:r>
            <a:r>
              <a:rPr lang="fr-FR" sz="2000" spc="-135" dirty="0">
                <a:latin typeface="Verdana"/>
                <a:cs typeface="Verdana"/>
              </a:rPr>
              <a:t>utiliser</a:t>
            </a:r>
            <a:r>
              <a:rPr lang="fr-FR" sz="2000" spc="-155" dirty="0">
                <a:latin typeface="Verdana"/>
                <a:cs typeface="Verdana"/>
              </a:rPr>
              <a:t> </a:t>
            </a:r>
            <a:r>
              <a:rPr lang="fr-FR" sz="2000" spc="-65" dirty="0">
                <a:latin typeface="Verdana"/>
                <a:cs typeface="Verdana"/>
              </a:rPr>
              <a:t>l’attribut</a:t>
            </a:r>
            <a:r>
              <a:rPr lang="fr-FR" sz="2000" spc="-150" dirty="0">
                <a:latin typeface="Verdana"/>
                <a:cs typeface="Verdana"/>
              </a:rPr>
              <a:t> </a:t>
            </a:r>
            <a:r>
              <a:rPr lang="fr-FR" sz="2000" spc="-440" dirty="0">
                <a:latin typeface="Verdana"/>
                <a:cs typeface="Verdana"/>
              </a:rPr>
              <a:t>«</a:t>
            </a:r>
            <a:r>
              <a:rPr lang="fr-FR" sz="2000" spc="-95" dirty="0">
                <a:latin typeface="Verdana"/>
                <a:cs typeface="Verdana"/>
              </a:rPr>
              <a:t> </a:t>
            </a:r>
            <a:r>
              <a:rPr lang="fr-FR" sz="2000" spc="-25" dirty="0" err="1">
                <a:latin typeface="Verdana"/>
                <a:cs typeface="Verdana"/>
              </a:rPr>
              <a:t>target</a:t>
            </a:r>
            <a:r>
              <a:rPr lang="fr-FR" sz="2000" spc="-145" dirty="0">
                <a:latin typeface="Verdana"/>
                <a:cs typeface="Verdana"/>
              </a:rPr>
              <a:t> </a:t>
            </a:r>
            <a:r>
              <a:rPr lang="fr-FR" sz="2000" spc="-440" dirty="0">
                <a:latin typeface="Verdana"/>
                <a:cs typeface="Verdana"/>
              </a:rPr>
              <a:t>»</a:t>
            </a:r>
            <a:r>
              <a:rPr lang="fr-FR" sz="2000" spc="-120" dirty="0">
                <a:latin typeface="Verdana"/>
                <a:cs typeface="Verdana"/>
              </a:rPr>
              <a:t> </a:t>
            </a:r>
            <a:r>
              <a:rPr lang="fr-FR" sz="2000" spc="105" dirty="0">
                <a:latin typeface="Verdana"/>
                <a:cs typeface="Verdana"/>
              </a:rPr>
              <a:t>avec</a:t>
            </a:r>
            <a:r>
              <a:rPr lang="fr-FR" sz="2000" spc="-150" dirty="0">
                <a:latin typeface="Verdana"/>
                <a:cs typeface="Verdana"/>
              </a:rPr>
              <a:t> </a:t>
            </a:r>
            <a:r>
              <a:rPr lang="fr-FR" sz="2000" dirty="0">
                <a:latin typeface="Verdana"/>
                <a:cs typeface="Verdana"/>
              </a:rPr>
              <a:t>la</a:t>
            </a:r>
            <a:r>
              <a:rPr lang="fr-FR" sz="2000" spc="-130" dirty="0">
                <a:latin typeface="Verdana"/>
                <a:cs typeface="Verdana"/>
              </a:rPr>
              <a:t> </a:t>
            </a:r>
            <a:r>
              <a:rPr lang="fr-FR" sz="2000" spc="-10" dirty="0">
                <a:latin typeface="Verdana"/>
                <a:cs typeface="Verdana"/>
              </a:rPr>
              <a:t>valeur</a:t>
            </a:r>
            <a:endParaRPr lang="fr-FR" sz="20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05583" y="3162300"/>
            <a:ext cx="8947785" cy="1744980"/>
            <a:chOff x="2005583" y="3162300"/>
            <a:chExt cx="8947785" cy="174498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5583" y="3162300"/>
              <a:ext cx="8947404" cy="1744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0655" y="3357371"/>
              <a:ext cx="8359140" cy="11567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172" y="1461388"/>
            <a:ext cx="11381740" cy="4869815"/>
            <a:chOff x="114172" y="1461388"/>
            <a:chExt cx="11381740" cy="4869815"/>
          </a:xfrm>
        </p:grpSpPr>
        <p:sp>
          <p:nvSpPr>
            <p:cNvPr id="3" name="object 3"/>
            <p:cNvSpPr/>
            <p:nvPr/>
          </p:nvSpPr>
          <p:spPr>
            <a:xfrm>
              <a:off x="117347" y="1464563"/>
              <a:ext cx="11375390" cy="4863465"/>
            </a:xfrm>
            <a:custGeom>
              <a:avLst/>
              <a:gdLst/>
              <a:ahLst/>
              <a:cxnLst/>
              <a:rect l="l" t="t" r="r" b="b"/>
              <a:pathLst>
                <a:path w="11375390" h="4863465">
                  <a:moveTo>
                    <a:pt x="11375136" y="0"/>
                  </a:moveTo>
                  <a:lnTo>
                    <a:pt x="0" y="0"/>
                  </a:lnTo>
                  <a:lnTo>
                    <a:pt x="0" y="4863084"/>
                  </a:lnTo>
                  <a:lnTo>
                    <a:pt x="11375136" y="4863084"/>
                  </a:lnTo>
                  <a:lnTo>
                    <a:pt x="11375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7347" y="1464563"/>
              <a:ext cx="11375390" cy="4863465"/>
            </a:xfrm>
            <a:custGeom>
              <a:avLst/>
              <a:gdLst/>
              <a:ahLst/>
              <a:cxnLst/>
              <a:rect l="l" t="t" r="r" b="b"/>
              <a:pathLst>
                <a:path w="11375390" h="4863465">
                  <a:moveTo>
                    <a:pt x="0" y="4863084"/>
                  </a:moveTo>
                  <a:lnTo>
                    <a:pt x="11375136" y="4863084"/>
                  </a:lnTo>
                  <a:lnTo>
                    <a:pt x="11375136" y="0"/>
                  </a:lnTo>
                  <a:lnTo>
                    <a:pt x="0" y="0"/>
                  </a:lnTo>
                  <a:lnTo>
                    <a:pt x="0" y="486308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7119" y="6026543"/>
              <a:ext cx="394970" cy="208915"/>
            </a:xfrm>
            <a:custGeom>
              <a:avLst/>
              <a:gdLst/>
              <a:ahLst/>
              <a:cxnLst/>
              <a:rect l="l" t="t" r="r" b="b"/>
              <a:pathLst>
                <a:path w="394969" h="208914">
                  <a:moveTo>
                    <a:pt x="394716" y="0"/>
                  </a:moveTo>
                  <a:lnTo>
                    <a:pt x="295656" y="0"/>
                  </a:lnTo>
                  <a:lnTo>
                    <a:pt x="196596" y="0"/>
                  </a:lnTo>
                  <a:lnTo>
                    <a:pt x="0" y="0"/>
                  </a:lnTo>
                  <a:lnTo>
                    <a:pt x="0" y="208788"/>
                  </a:lnTo>
                  <a:lnTo>
                    <a:pt x="196596" y="208788"/>
                  </a:lnTo>
                  <a:lnTo>
                    <a:pt x="295656" y="208788"/>
                  </a:lnTo>
                  <a:lnTo>
                    <a:pt x="394716" y="208788"/>
                  </a:lnTo>
                  <a:lnTo>
                    <a:pt x="394716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6697" y="1447952"/>
            <a:ext cx="11043920" cy="4626266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spc="-114" dirty="0">
                <a:latin typeface="Verdana"/>
                <a:cs typeface="Verdana"/>
              </a:rPr>
              <a:t>Un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lien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peut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spc="-40" dirty="0">
                <a:latin typeface="Verdana"/>
                <a:cs typeface="Verdana"/>
              </a:rPr>
              <a:t>pointer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65" dirty="0">
                <a:latin typeface="Verdana"/>
                <a:cs typeface="Verdana"/>
              </a:rPr>
              <a:t>sur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un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élément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particulier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dans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la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page</a:t>
            </a:r>
            <a:endParaRPr sz="16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spc="-114" dirty="0">
                <a:latin typeface="Verdana"/>
                <a:cs typeface="Verdana"/>
              </a:rPr>
              <a:t>Un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clic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65" dirty="0">
                <a:latin typeface="Verdana"/>
                <a:cs typeface="Verdana"/>
              </a:rPr>
              <a:t>sur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70" dirty="0">
                <a:latin typeface="Verdana"/>
                <a:cs typeface="Verdana"/>
              </a:rPr>
              <a:t>son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lien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provoque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la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75" dirty="0">
                <a:latin typeface="Verdana"/>
                <a:cs typeface="Verdana"/>
              </a:rPr>
              <a:t>visualisation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spc="85" dirty="0">
                <a:latin typeface="Verdana"/>
                <a:cs typeface="Verdana"/>
              </a:rPr>
              <a:t>de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55" dirty="0">
                <a:latin typeface="Verdana"/>
                <a:cs typeface="Verdana"/>
              </a:rPr>
              <a:t>cet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élément</a:t>
            </a:r>
            <a:endParaRPr sz="16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spc="-185" dirty="0">
                <a:latin typeface="Verdana"/>
                <a:cs typeface="Verdana"/>
              </a:rPr>
              <a:t>Très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pratique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35" dirty="0">
                <a:latin typeface="Verdana"/>
                <a:cs typeface="Verdana"/>
              </a:rPr>
              <a:t>pour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85" dirty="0">
                <a:latin typeface="Verdana"/>
                <a:cs typeface="Verdana"/>
              </a:rPr>
              <a:t>les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35" dirty="0">
                <a:latin typeface="Verdana"/>
                <a:cs typeface="Verdana"/>
              </a:rPr>
              <a:t>longues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pages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ol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a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"#par1"&gt;</a:t>
            </a:r>
            <a:r>
              <a:rPr sz="1400" b="1" spc="-10" dirty="0">
                <a:latin typeface="Consolas"/>
                <a:cs typeface="Consolas"/>
              </a:rPr>
              <a:t>Paragraphe</a:t>
            </a:r>
            <a:r>
              <a:rPr sz="1400" b="1" spc="-15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1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40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"#par2"&gt;</a:t>
            </a:r>
            <a:r>
              <a:rPr sz="1400" b="1" dirty="0">
                <a:latin typeface="Consolas"/>
                <a:cs typeface="Consolas"/>
              </a:rPr>
              <a:t>Paragraphe</a:t>
            </a:r>
            <a:r>
              <a:rPr sz="1400" b="1" spc="-80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2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40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"#par3"&gt;</a:t>
            </a:r>
            <a:r>
              <a:rPr sz="1400" b="1" dirty="0">
                <a:latin typeface="Consolas"/>
                <a:cs typeface="Consolas"/>
              </a:rPr>
              <a:t>Paragraphe</a:t>
            </a:r>
            <a:r>
              <a:rPr sz="1400" b="1" spc="-80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3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li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lang="fr-FR" sz="1400" b="1" spc="-10" dirty="0">
              <a:solidFill>
                <a:srgbClr val="0000FF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 err="1">
                <a:solidFill>
                  <a:srgbClr val="A21515"/>
                </a:solidFill>
                <a:latin typeface="Consolas"/>
                <a:cs typeface="Consolas"/>
              </a:rPr>
              <a:t>ol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lang="fr-FR" sz="1400" spc="-10" dirty="0">
              <a:solidFill>
                <a:srgbClr val="0000FF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id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"par1"&gt;</a:t>
            </a:r>
            <a:endParaRPr sz="1400" dirty="0">
              <a:latin typeface="Consolas"/>
              <a:cs typeface="Consolas"/>
            </a:endParaRPr>
          </a:p>
          <a:p>
            <a:r>
              <a:rPr sz="1400" dirty="0">
                <a:latin typeface="Consolas"/>
                <a:cs typeface="Consolas"/>
              </a:rPr>
              <a:t>HTML5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lang="fr-FR" sz="1400" dirty="0"/>
              <a:t>Vous avez tout à fait raison ! </a:t>
            </a:r>
            <a:r>
              <a:rPr lang="fr-FR" sz="1400" b="1" dirty="0"/>
              <a:t>Aucune installation n'est nécessaire pour créer et tester du HTML.</a:t>
            </a:r>
            <a:endParaRPr lang="fr-FR" sz="1400" dirty="0"/>
          </a:p>
          <a:p>
            <a:br>
              <a:rPr lang="fr-FR" sz="1400" dirty="0"/>
            </a:b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id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"par2"&gt;</a:t>
            </a:r>
            <a:r>
              <a:rPr lang="fr-FR" sz="1400" b="1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fr-FR" sz="1400" b="1" spc="-10" dirty="0" err="1">
                <a:solidFill>
                  <a:srgbClr val="0000FF"/>
                </a:solidFill>
                <a:latin typeface="Consolas"/>
                <a:cs typeface="Consolas"/>
              </a:rPr>
              <a:t>text</a:t>
            </a:r>
            <a:r>
              <a:rPr lang="fr-FR" sz="1400" b="1" spc="-10" dirty="0">
                <a:solidFill>
                  <a:srgbClr val="0000FF"/>
                </a:solidFill>
                <a:latin typeface="Consolas"/>
                <a:cs typeface="Consolas"/>
              </a:rPr>
              <a:t> de paragraphe 2 …..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id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"par3"&gt;</a:t>
            </a:r>
            <a:endParaRPr sz="1400" dirty="0">
              <a:latin typeface="Consolas"/>
              <a:cs typeface="Consolas"/>
            </a:endParaRPr>
          </a:p>
          <a:p>
            <a:pPr marL="12700" marR="5080">
              <a:lnSpc>
                <a:spcPts val="1689"/>
              </a:lnSpc>
              <a:spcBef>
                <a:spcPts val="50"/>
              </a:spcBef>
            </a:pP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HTML5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working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group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includes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AOL,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Apple,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Google,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IBM,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Microsoft,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Mozilla,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Nokia,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Opera,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and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many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hundreds</a:t>
            </a:r>
            <a:r>
              <a:rPr sz="1400" spc="-25" dirty="0">
                <a:latin typeface="Consolas"/>
                <a:cs typeface="Consolas"/>
              </a:rPr>
              <a:t> of </a:t>
            </a:r>
            <a:r>
              <a:rPr sz="1400" dirty="0">
                <a:latin typeface="Consolas"/>
                <a:cs typeface="Consolas"/>
              </a:rPr>
              <a:t>other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vendors.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Liens</a:t>
            </a:r>
            <a:r>
              <a:rPr spc="-260" dirty="0"/>
              <a:t> </a:t>
            </a:r>
            <a:r>
              <a:rPr spc="-240" dirty="0"/>
              <a:t>vers</a:t>
            </a:r>
            <a:r>
              <a:rPr spc="-250" dirty="0"/>
              <a:t> </a:t>
            </a:r>
            <a:r>
              <a:rPr dirty="0"/>
              <a:t>une</a:t>
            </a:r>
            <a:r>
              <a:rPr spc="-254" dirty="0"/>
              <a:t> </a:t>
            </a:r>
            <a:r>
              <a:rPr spc="-35" dirty="0"/>
              <a:t>partie</a:t>
            </a:r>
            <a:r>
              <a:rPr spc="-254" dirty="0"/>
              <a:t> </a:t>
            </a:r>
            <a:r>
              <a:rPr spc="200" dirty="0"/>
              <a:t>de</a:t>
            </a:r>
            <a:r>
              <a:rPr spc="-270" dirty="0"/>
              <a:t> </a:t>
            </a:r>
            <a:r>
              <a:rPr dirty="0"/>
              <a:t>la</a:t>
            </a:r>
            <a:r>
              <a:rPr spc="-254" dirty="0"/>
              <a:t> </a:t>
            </a:r>
            <a:r>
              <a:rPr spc="195" dirty="0"/>
              <a:t>page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36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58356" y="1717548"/>
            <a:ext cx="4572000" cy="1734820"/>
            <a:chOff x="6658356" y="1717548"/>
            <a:chExt cx="4572000" cy="17348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8356" y="1717548"/>
              <a:ext cx="4572000" cy="17343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3428" y="1912620"/>
              <a:ext cx="3983735" cy="1146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4502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5</a:t>
            </a:r>
            <a:r>
              <a:rPr sz="4000" spc="-305" dirty="0"/>
              <a:t> </a:t>
            </a:r>
            <a:r>
              <a:rPr sz="4000" spc="-710" dirty="0"/>
              <a:t>:</a:t>
            </a:r>
            <a:r>
              <a:rPr sz="4000" spc="-300" dirty="0"/>
              <a:t> </a:t>
            </a:r>
            <a:r>
              <a:rPr sz="4000" spc="-100" dirty="0"/>
              <a:t>Images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39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640" y="1739346"/>
            <a:ext cx="10749915" cy="3319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0" dirty="0">
                <a:latin typeface="Verdana"/>
                <a:cs typeface="Verdana"/>
              </a:rPr>
              <a:t>Peut-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imaginer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le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90" dirty="0">
                <a:latin typeface="Verdana"/>
                <a:cs typeface="Verdana"/>
              </a:rPr>
              <a:t>web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45" dirty="0">
                <a:latin typeface="Verdana"/>
                <a:cs typeface="Verdana"/>
              </a:rPr>
              <a:t>sans</a:t>
            </a:r>
            <a:r>
              <a:rPr sz="2400" spc="-135" dirty="0">
                <a:latin typeface="Verdana"/>
                <a:cs typeface="Verdana"/>
              </a:rPr>
              <a:t> les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images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?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50" dirty="0">
                <a:latin typeface="Verdana"/>
                <a:cs typeface="Verdana"/>
              </a:rPr>
              <a:t>Une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image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25" dirty="0">
                <a:latin typeface="Verdana"/>
                <a:cs typeface="Verdana"/>
              </a:rPr>
              <a:t>plus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parlante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qu’un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millier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mots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55" dirty="0">
                <a:latin typeface="Verdana"/>
                <a:cs typeface="Verdana"/>
              </a:rPr>
              <a:t>Les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images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sont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très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importantes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à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fois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terme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contenu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aussi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Verdana"/>
                <a:cs typeface="Verdana"/>
              </a:rPr>
              <a:t>en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terme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design</a:t>
            </a:r>
            <a:endParaRPr sz="2400">
              <a:latin typeface="Verdana"/>
              <a:cs typeface="Verdana"/>
            </a:endParaRPr>
          </a:p>
          <a:p>
            <a:pPr marL="355600" marR="1227455" indent="-342900">
              <a:lnSpc>
                <a:spcPts val="4320"/>
              </a:lnSpc>
              <a:spcBef>
                <a:spcPts val="1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10" dirty="0">
                <a:latin typeface="Verdana"/>
                <a:cs typeface="Verdana"/>
              </a:rPr>
              <a:t>Choisir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bonnes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images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facteur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crucial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pour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bonne </a:t>
            </a:r>
            <a:r>
              <a:rPr sz="2400" spc="50" dirty="0">
                <a:latin typeface="Verdana"/>
                <a:cs typeface="Verdana"/>
              </a:rPr>
              <a:t>conception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d’un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site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Introduction</a:t>
            </a:r>
            <a:r>
              <a:rPr spc="-229" dirty="0"/>
              <a:t> </a:t>
            </a:r>
            <a:r>
              <a:rPr spc="-75" dirty="0"/>
              <a:t>aux</a:t>
            </a:r>
            <a:r>
              <a:rPr spc="-250" dirty="0"/>
              <a:t> </a:t>
            </a:r>
            <a:r>
              <a:rPr spc="-10" dirty="0"/>
              <a:t>images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5487" y="1684020"/>
            <a:ext cx="10896600" cy="2409825"/>
            <a:chOff x="475487" y="1684020"/>
            <a:chExt cx="10896600" cy="2409825"/>
          </a:xfrm>
        </p:grpSpPr>
        <p:sp>
          <p:nvSpPr>
            <p:cNvPr id="3" name="object 3"/>
            <p:cNvSpPr/>
            <p:nvPr/>
          </p:nvSpPr>
          <p:spPr>
            <a:xfrm>
              <a:off x="480059" y="1688592"/>
              <a:ext cx="10887710" cy="2400300"/>
            </a:xfrm>
            <a:custGeom>
              <a:avLst/>
              <a:gdLst/>
              <a:ahLst/>
              <a:cxnLst/>
              <a:rect l="l" t="t" r="r" b="b"/>
              <a:pathLst>
                <a:path w="10887710" h="2400300">
                  <a:moveTo>
                    <a:pt x="10887456" y="0"/>
                  </a:moveTo>
                  <a:lnTo>
                    <a:pt x="0" y="0"/>
                  </a:lnTo>
                  <a:lnTo>
                    <a:pt x="0" y="2400299"/>
                  </a:lnTo>
                  <a:lnTo>
                    <a:pt x="10887456" y="2400299"/>
                  </a:lnTo>
                  <a:lnTo>
                    <a:pt x="10887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0059" y="1688592"/>
              <a:ext cx="10887710" cy="2400300"/>
            </a:xfrm>
            <a:custGeom>
              <a:avLst/>
              <a:gdLst/>
              <a:ahLst/>
              <a:cxnLst/>
              <a:rect l="l" t="t" r="r" b="b"/>
              <a:pathLst>
                <a:path w="10887710" h="2400300">
                  <a:moveTo>
                    <a:pt x="0" y="2400299"/>
                  </a:moveTo>
                  <a:lnTo>
                    <a:pt x="10887456" y="2400299"/>
                  </a:lnTo>
                  <a:lnTo>
                    <a:pt x="10887456" y="0"/>
                  </a:lnTo>
                  <a:lnTo>
                    <a:pt x="0" y="0"/>
                  </a:lnTo>
                  <a:lnTo>
                    <a:pt x="0" y="24002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8495" y="1658953"/>
            <a:ext cx="10702925" cy="1854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img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permettant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d’insérer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image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dans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00" dirty="0">
                <a:latin typeface="Verdana"/>
                <a:cs typeface="Verdana"/>
              </a:rPr>
              <a:t>page</a:t>
            </a:r>
            <a:endParaRPr sz="20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204" dirty="0">
                <a:solidFill>
                  <a:srgbClr val="FF0000"/>
                </a:solidFill>
                <a:latin typeface="Verdana"/>
                <a:cs typeface="Verdana"/>
              </a:rPr>
              <a:t>src</a:t>
            </a:r>
            <a:r>
              <a:rPr sz="2000" b="1" i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où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se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trouve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l’image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(ça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peut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être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local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95" dirty="0">
                <a:latin typeface="Verdana"/>
                <a:cs typeface="Verdana"/>
              </a:rPr>
              <a:t>sur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autre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site)</a:t>
            </a:r>
            <a:endParaRPr sz="20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b="1" i="1" spc="-195" dirty="0">
                <a:solidFill>
                  <a:srgbClr val="FF0000"/>
                </a:solidFill>
                <a:latin typeface="Verdana"/>
                <a:cs typeface="Verdana"/>
              </a:rPr>
              <a:t>alt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texte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alternatif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qui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s’affiche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15" dirty="0">
                <a:latin typeface="Verdana"/>
                <a:cs typeface="Verdana"/>
              </a:rPr>
              <a:t>si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l’image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se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charge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pas</a:t>
            </a:r>
            <a:endParaRPr sz="20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b="1" i="1" spc="-229" dirty="0">
                <a:solidFill>
                  <a:srgbClr val="FF0000"/>
                </a:solidFill>
                <a:latin typeface="Verdana"/>
                <a:cs typeface="Verdana"/>
              </a:rPr>
              <a:t>title</a:t>
            </a:r>
            <a:r>
              <a:rPr sz="2000" b="1" i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intitulé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l’image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258" y="3671189"/>
            <a:ext cx="9357360" cy="29908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55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img</a:t>
            </a:r>
            <a:r>
              <a:rPr sz="20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src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"Images/</a:t>
            </a:r>
            <a:r>
              <a:rPr lang="fr-FR" sz="2000" b="1" dirty="0" err="1">
                <a:solidFill>
                  <a:srgbClr val="0000FF"/>
                </a:solidFill>
                <a:latin typeface="Consolas"/>
                <a:cs typeface="Consolas"/>
              </a:rPr>
              <a:t>img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.jpg"</a:t>
            </a:r>
            <a:r>
              <a:rPr sz="20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title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fr-FR" sz="2000" b="1" dirty="0" err="1">
                <a:solidFill>
                  <a:srgbClr val="0000FF"/>
                </a:solidFill>
                <a:latin typeface="Consolas"/>
                <a:cs typeface="Consolas"/>
              </a:rPr>
              <a:t>ecole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sz="20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alt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"photo</a:t>
            </a:r>
            <a:r>
              <a:rPr sz="20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fr-FR" sz="2000" b="1" spc="-55" dirty="0">
                <a:solidFill>
                  <a:srgbClr val="0000FF"/>
                </a:solidFill>
                <a:latin typeface="Consolas"/>
                <a:cs typeface="Consolas"/>
              </a:rPr>
              <a:t>d\’</a:t>
            </a:r>
            <a:r>
              <a:rPr lang="fr-FR" sz="2000" b="1" spc="-55" dirty="0" err="1">
                <a:solidFill>
                  <a:srgbClr val="0000FF"/>
                </a:solidFill>
                <a:latin typeface="Consolas"/>
                <a:cs typeface="Consolas"/>
              </a:rPr>
              <a:t>ecole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"/&gt;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29152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0" dirty="0"/>
              <a:t> </a:t>
            </a:r>
            <a:r>
              <a:rPr spc="-60" dirty="0"/>
              <a:t>balise</a:t>
            </a:r>
            <a:r>
              <a:rPr spc="-254" dirty="0"/>
              <a:t> </a:t>
            </a:r>
            <a:r>
              <a:rPr spc="-45" dirty="0"/>
              <a:t>img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41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5838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85" dirty="0"/>
              <a:t> </a:t>
            </a:r>
            <a:r>
              <a:rPr sz="4000" spc="-330" dirty="0"/>
              <a:t>6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254" dirty="0"/>
              <a:t>Les</a:t>
            </a:r>
            <a:r>
              <a:rPr sz="4000" spc="-280" dirty="0"/>
              <a:t> </a:t>
            </a:r>
            <a:r>
              <a:rPr sz="4000" spc="-45" dirty="0"/>
              <a:t>Tableaux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827" y="1662176"/>
            <a:ext cx="10338435" cy="12598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balise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b="1" i="1" spc="-135" dirty="0">
                <a:solidFill>
                  <a:srgbClr val="FF0000"/>
                </a:solidFill>
                <a:latin typeface="Verdana"/>
                <a:cs typeface="Verdana"/>
              </a:rPr>
              <a:t>table</a:t>
            </a:r>
            <a:r>
              <a:rPr sz="18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permet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présenter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des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données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sous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forme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tabulaire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20" dirty="0">
                <a:latin typeface="Verdana"/>
                <a:cs typeface="Verdana"/>
              </a:rPr>
              <a:t>Idéale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pour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les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rapport,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les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factures,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les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listes,…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5" dirty="0">
                <a:latin typeface="Verdana"/>
                <a:cs typeface="Verdana"/>
              </a:rPr>
              <a:t>Dans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HTML,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un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tableau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un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ensemble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b="1" i="1" spc="-170" dirty="0">
                <a:solidFill>
                  <a:srgbClr val="FF0000"/>
                </a:solidFill>
                <a:latin typeface="Verdana"/>
                <a:cs typeface="Verdana"/>
              </a:rPr>
              <a:t>lignes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et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ligne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un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ensemble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b="1" i="1" spc="-85" dirty="0">
                <a:solidFill>
                  <a:srgbClr val="FF0000"/>
                </a:solidFill>
                <a:latin typeface="Verdana"/>
                <a:cs typeface="Verdana"/>
              </a:rPr>
              <a:t>cellules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20867" y="3102862"/>
            <a:ext cx="4296410" cy="3705225"/>
            <a:chOff x="5420867" y="3102862"/>
            <a:chExt cx="4296410" cy="37052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0867" y="3102862"/>
              <a:ext cx="4296155" cy="37048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5939" y="3297936"/>
              <a:ext cx="3707891" cy="31165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161" y="1697608"/>
            <a:ext cx="10813415" cy="3084830"/>
            <a:chOff x="399161" y="1697608"/>
            <a:chExt cx="10813415" cy="3084830"/>
          </a:xfrm>
        </p:grpSpPr>
        <p:sp>
          <p:nvSpPr>
            <p:cNvPr id="3" name="object 3"/>
            <p:cNvSpPr/>
            <p:nvPr/>
          </p:nvSpPr>
          <p:spPr>
            <a:xfrm>
              <a:off x="402336" y="1700783"/>
              <a:ext cx="10807065" cy="3078480"/>
            </a:xfrm>
            <a:custGeom>
              <a:avLst/>
              <a:gdLst/>
              <a:ahLst/>
              <a:cxnLst/>
              <a:rect l="l" t="t" r="r" b="b"/>
              <a:pathLst>
                <a:path w="10807065" h="3078479">
                  <a:moveTo>
                    <a:pt x="10806684" y="0"/>
                  </a:moveTo>
                  <a:lnTo>
                    <a:pt x="0" y="0"/>
                  </a:lnTo>
                  <a:lnTo>
                    <a:pt x="0" y="3078480"/>
                  </a:lnTo>
                  <a:lnTo>
                    <a:pt x="10806684" y="3078480"/>
                  </a:lnTo>
                  <a:lnTo>
                    <a:pt x="10806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2336" y="1700783"/>
              <a:ext cx="10807065" cy="3078480"/>
            </a:xfrm>
            <a:custGeom>
              <a:avLst/>
              <a:gdLst/>
              <a:ahLst/>
              <a:cxnLst/>
              <a:rect l="l" t="t" r="r" b="b"/>
              <a:pathLst>
                <a:path w="10807065" h="3078479">
                  <a:moveTo>
                    <a:pt x="0" y="3078480"/>
                  </a:moveTo>
                  <a:lnTo>
                    <a:pt x="10806684" y="3078480"/>
                  </a:lnTo>
                  <a:lnTo>
                    <a:pt x="10806684" y="0"/>
                  </a:lnTo>
                  <a:lnTo>
                    <a:pt x="0" y="0"/>
                  </a:lnTo>
                  <a:lnTo>
                    <a:pt x="0" y="307848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52976" y="4436363"/>
              <a:ext cx="1004569" cy="268605"/>
            </a:xfrm>
            <a:custGeom>
              <a:avLst/>
              <a:gdLst/>
              <a:ahLst/>
              <a:cxnLst/>
              <a:rect l="l" t="t" r="r" b="b"/>
              <a:pathLst>
                <a:path w="1004570" h="268604">
                  <a:moveTo>
                    <a:pt x="1004316" y="0"/>
                  </a:moveTo>
                  <a:lnTo>
                    <a:pt x="877824" y="0"/>
                  </a:lnTo>
                  <a:lnTo>
                    <a:pt x="251460" y="0"/>
                  </a:lnTo>
                  <a:lnTo>
                    <a:pt x="0" y="0"/>
                  </a:lnTo>
                  <a:lnTo>
                    <a:pt x="0" y="268224"/>
                  </a:lnTo>
                  <a:lnTo>
                    <a:pt x="251460" y="268224"/>
                  </a:lnTo>
                  <a:lnTo>
                    <a:pt x="877824" y="268224"/>
                  </a:lnTo>
                  <a:lnTo>
                    <a:pt x="1004316" y="268224"/>
                  </a:lnTo>
                  <a:lnTo>
                    <a:pt x="1004316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0466" y="1774672"/>
            <a:ext cx="8464550" cy="29317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25" dirty="0">
                <a:latin typeface="Verdana"/>
                <a:cs typeface="Verdana"/>
              </a:rPr>
              <a:t>Un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tableau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ensemble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lignes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70" dirty="0">
                <a:latin typeface="Verdana"/>
                <a:cs typeface="Verdana"/>
              </a:rPr>
              <a:t>(</a:t>
            </a:r>
            <a:r>
              <a:rPr sz="2000" b="1" i="1" spc="-270" dirty="0">
                <a:solidFill>
                  <a:srgbClr val="FF0000"/>
                </a:solidFill>
                <a:latin typeface="Verdana"/>
                <a:cs typeface="Verdana"/>
              </a:rPr>
              <a:t>tr</a:t>
            </a:r>
            <a:r>
              <a:rPr sz="2000" spc="-270" dirty="0">
                <a:latin typeface="Verdana"/>
                <a:cs typeface="Verdana"/>
              </a:rPr>
              <a:t>)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composé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cellules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(</a:t>
            </a:r>
            <a:r>
              <a:rPr sz="2000" b="1" i="1" spc="-95" dirty="0">
                <a:solidFill>
                  <a:srgbClr val="FF0000"/>
                </a:solidFill>
                <a:latin typeface="Verdana"/>
                <a:cs typeface="Verdana"/>
              </a:rPr>
              <a:t>td</a:t>
            </a:r>
            <a:r>
              <a:rPr sz="2000" spc="-95" dirty="0"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dirty="0">
                <a:solidFill>
                  <a:srgbClr val="0000FF"/>
                </a:solidFill>
                <a:latin typeface="Consolas"/>
                <a:cs typeface="Consolas"/>
              </a:rPr>
              <a:t>75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800" dirty="0">
                <a:solidFill>
                  <a:srgbClr val="0000FF"/>
                </a:solidFill>
                <a:latin typeface="Consolas"/>
                <a:cs typeface="Consolas"/>
              </a:rPr>
              <a:t>PARIS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pc="-10" dirty="0">
                <a:solidFill>
                  <a:srgbClr val="0000FF"/>
                </a:solidFill>
                <a:latin typeface="Consolas"/>
                <a:cs typeface="Consolas"/>
              </a:rPr>
              <a:t>78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800" spc="-10" dirty="0">
                <a:latin typeface="Consolas"/>
                <a:cs typeface="Consolas"/>
              </a:rPr>
              <a:t>VERSAILLES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pc="-10" dirty="0">
                <a:solidFill>
                  <a:srgbClr val="0000FF"/>
                </a:solidFill>
                <a:latin typeface="Consolas"/>
                <a:cs typeface="Consolas"/>
              </a:rPr>
              <a:t>69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800" spc="-10" dirty="0">
                <a:latin typeface="Consolas"/>
                <a:cs typeface="Consolas"/>
              </a:rPr>
              <a:t>Lyo</a:t>
            </a:r>
            <a:r>
              <a:rPr lang="fr-FR" spc="-10" dirty="0">
                <a:latin typeface="Consolas"/>
                <a:cs typeface="Consolas"/>
              </a:rPr>
              <a:t>n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spc="-10" dirty="0">
                <a:latin typeface="Consolas"/>
                <a:cs typeface="Consolas"/>
              </a:rPr>
              <a:t>1</a:t>
            </a:r>
            <a:r>
              <a:rPr lang="fr-FR" sz="1800" spc="-10" dirty="0">
                <a:latin typeface="Consolas"/>
                <a:cs typeface="Consolas"/>
              </a:rPr>
              <a:t>3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pc="-10" dirty="0" err="1">
                <a:solidFill>
                  <a:srgbClr val="0000FF"/>
                </a:solidFill>
                <a:latin typeface="Consolas"/>
                <a:cs typeface="Consolas"/>
              </a:rPr>
              <a:t>M</a:t>
            </a:r>
            <a:r>
              <a:rPr lang="fr-FR" sz="1800" spc="-10" dirty="0" err="1">
                <a:latin typeface="Consolas"/>
                <a:cs typeface="Consolas"/>
              </a:rPr>
              <a:t>ersaille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Structure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7909" y="1435480"/>
            <a:ext cx="11083290" cy="4778375"/>
            <a:chOff x="287909" y="1435480"/>
            <a:chExt cx="11083290" cy="4778375"/>
          </a:xfrm>
        </p:grpSpPr>
        <p:sp>
          <p:nvSpPr>
            <p:cNvPr id="3" name="object 3"/>
            <p:cNvSpPr/>
            <p:nvPr/>
          </p:nvSpPr>
          <p:spPr>
            <a:xfrm>
              <a:off x="291084" y="1438655"/>
              <a:ext cx="11076940" cy="4772025"/>
            </a:xfrm>
            <a:custGeom>
              <a:avLst/>
              <a:gdLst/>
              <a:ahLst/>
              <a:cxnLst/>
              <a:rect l="l" t="t" r="r" b="b"/>
              <a:pathLst>
                <a:path w="11076940" h="4772025">
                  <a:moveTo>
                    <a:pt x="11076432" y="0"/>
                  </a:moveTo>
                  <a:lnTo>
                    <a:pt x="0" y="0"/>
                  </a:lnTo>
                  <a:lnTo>
                    <a:pt x="0" y="4771644"/>
                  </a:lnTo>
                  <a:lnTo>
                    <a:pt x="11076432" y="4771644"/>
                  </a:lnTo>
                  <a:lnTo>
                    <a:pt x="110764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1084" y="1438655"/>
              <a:ext cx="11076940" cy="4772025"/>
            </a:xfrm>
            <a:custGeom>
              <a:avLst/>
              <a:gdLst/>
              <a:ahLst/>
              <a:cxnLst/>
              <a:rect l="l" t="t" r="r" b="b"/>
              <a:pathLst>
                <a:path w="11076940" h="4772025">
                  <a:moveTo>
                    <a:pt x="0" y="4771644"/>
                  </a:moveTo>
                  <a:lnTo>
                    <a:pt x="11076432" y="4771644"/>
                  </a:lnTo>
                  <a:lnTo>
                    <a:pt x="11076432" y="0"/>
                  </a:lnTo>
                  <a:lnTo>
                    <a:pt x="0" y="0"/>
                  </a:lnTo>
                  <a:lnTo>
                    <a:pt x="0" y="477164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70128" y="1421663"/>
            <a:ext cx="8849995" cy="47009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20" dirty="0">
                <a:latin typeface="Verdana"/>
                <a:cs typeface="Verdana"/>
              </a:rPr>
              <a:t>La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35" dirty="0">
                <a:latin typeface="Verdana"/>
                <a:cs typeface="Verdana"/>
              </a:rPr>
              <a:t>balise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b="1" i="1" spc="-220" dirty="0">
                <a:solidFill>
                  <a:srgbClr val="FF0000"/>
                </a:solidFill>
                <a:latin typeface="Verdana"/>
                <a:cs typeface="Verdana"/>
              </a:rPr>
              <a:t>th</a:t>
            </a:r>
            <a:r>
              <a:rPr sz="1600" b="1" i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indique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l’entête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d’une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colonne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d’une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ligne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(définie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par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l’attribut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scope)</a:t>
            </a:r>
            <a:endParaRPr sz="16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10" dirty="0">
                <a:latin typeface="Verdana"/>
                <a:cs typeface="Verdana"/>
              </a:rPr>
              <a:t>Les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balises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b="1" i="1" spc="-140" dirty="0">
                <a:solidFill>
                  <a:srgbClr val="FF0000"/>
                </a:solidFill>
                <a:latin typeface="Verdana"/>
                <a:cs typeface="Verdana"/>
              </a:rPr>
              <a:t>theader</a:t>
            </a:r>
            <a:r>
              <a:rPr sz="1600" spc="-140" dirty="0">
                <a:latin typeface="Verdana"/>
                <a:cs typeface="Verdana"/>
              </a:rPr>
              <a:t>,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b="1" i="1" spc="-130" dirty="0">
                <a:solidFill>
                  <a:srgbClr val="FF0000"/>
                </a:solidFill>
                <a:latin typeface="Verdana"/>
                <a:cs typeface="Verdana"/>
              </a:rPr>
              <a:t>tbody</a:t>
            </a:r>
            <a:r>
              <a:rPr sz="1600" b="1" i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et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b="1" i="1" spc="-185" dirty="0">
                <a:solidFill>
                  <a:srgbClr val="FF0000"/>
                </a:solidFill>
                <a:latin typeface="Verdana"/>
                <a:cs typeface="Verdana"/>
              </a:rPr>
              <a:t>tfoot</a:t>
            </a:r>
            <a:r>
              <a:rPr sz="1600" b="1" i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définissent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l’entête,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le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corps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et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le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pied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d’un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tableau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600" b="1" spc="-10" dirty="0">
                <a:latin typeface="Consolas"/>
                <a:cs typeface="Consolas"/>
              </a:rPr>
              <a:t>Région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600" b="1" dirty="0">
                <a:latin typeface="Consolas"/>
                <a:cs typeface="Consolas"/>
              </a:rPr>
              <a:t>1ère</a:t>
            </a:r>
            <a:r>
              <a:rPr sz="1600" b="1" spc="-45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année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600" b="1" dirty="0">
                <a:latin typeface="Consolas"/>
                <a:cs typeface="Consolas"/>
              </a:rPr>
              <a:t>2ème</a:t>
            </a:r>
            <a:r>
              <a:rPr sz="1600" b="1" spc="-45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année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"row"&gt;</a:t>
            </a:r>
            <a:r>
              <a:rPr sz="1600" b="1" spc="-10" dirty="0">
                <a:latin typeface="Consolas"/>
                <a:cs typeface="Consolas"/>
              </a:rPr>
              <a:t>Centre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1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000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000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2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000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000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"row"&gt;</a:t>
            </a:r>
            <a:r>
              <a:rPr sz="1600" b="1" spc="-10" dirty="0">
                <a:latin typeface="Consolas"/>
                <a:cs typeface="Consolas"/>
              </a:rPr>
              <a:t>Est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5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000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000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3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000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000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tfoot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spc="-10" dirty="0">
                <a:latin typeface="Consolas"/>
                <a:cs typeface="Consolas"/>
              </a:rPr>
              <a:t>Total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6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000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000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5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000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000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tfoot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Organisation</a:t>
            </a:r>
            <a:r>
              <a:rPr spc="-229" dirty="0"/>
              <a:t> </a:t>
            </a:r>
            <a:r>
              <a:rPr spc="-20" dirty="0"/>
              <a:t>des</a:t>
            </a:r>
            <a:r>
              <a:rPr spc="-260" dirty="0"/>
              <a:t> </a:t>
            </a:r>
            <a:r>
              <a:rPr spc="-10" dirty="0"/>
              <a:t>tableaux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47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03035" y="4895088"/>
            <a:ext cx="5457825" cy="1963420"/>
            <a:chOff x="6003035" y="4895088"/>
            <a:chExt cx="5457825" cy="19634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3035" y="4895088"/>
              <a:ext cx="5457444" cy="19629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8107" y="5090160"/>
              <a:ext cx="4869180" cy="15819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668" y="1347088"/>
            <a:ext cx="11240135" cy="5038725"/>
            <a:chOff x="272668" y="1347088"/>
            <a:chExt cx="11240135" cy="5038725"/>
          </a:xfrm>
        </p:grpSpPr>
        <p:sp>
          <p:nvSpPr>
            <p:cNvPr id="3" name="object 3"/>
            <p:cNvSpPr/>
            <p:nvPr/>
          </p:nvSpPr>
          <p:spPr>
            <a:xfrm>
              <a:off x="275843" y="1350263"/>
              <a:ext cx="11233785" cy="5032375"/>
            </a:xfrm>
            <a:custGeom>
              <a:avLst/>
              <a:gdLst/>
              <a:ahLst/>
              <a:cxnLst/>
              <a:rect l="l" t="t" r="r" b="b"/>
              <a:pathLst>
                <a:path w="11233785" h="5032375">
                  <a:moveTo>
                    <a:pt x="11233404" y="0"/>
                  </a:moveTo>
                  <a:lnTo>
                    <a:pt x="0" y="0"/>
                  </a:lnTo>
                  <a:lnTo>
                    <a:pt x="0" y="5032248"/>
                  </a:lnTo>
                  <a:lnTo>
                    <a:pt x="11233404" y="5032248"/>
                  </a:lnTo>
                  <a:lnTo>
                    <a:pt x="112334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5843" y="1350263"/>
              <a:ext cx="11233785" cy="5032375"/>
            </a:xfrm>
            <a:custGeom>
              <a:avLst/>
              <a:gdLst/>
              <a:ahLst/>
              <a:cxnLst/>
              <a:rect l="l" t="t" r="r" b="b"/>
              <a:pathLst>
                <a:path w="11233785" h="5032375">
                  <a:moveTo>
                    <a:pt x="0" y="5032248"/>
                  </a:moveTo>
                  <a:lnTo>
                    <a:pt x="11233404" y="5032248"/>
                  </a:lnTo>
                  <a:lnTo>
                    <a:pt x="11233404" y="0"/>
                  </a:lnTo>
                  <a:lnTo>
                    <a:pt x="0" y="0"/>
                  </a:lnTo>
                  <a:lnTo>
                    <a:pt x="0" y="5032248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4584" y="1404900"/>
            <a:ext cx="6607175" cy="48888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b="1" i="1" spc="-120" dirty="0">
                <a:solidFill>
                  <a:srgbClr val="FF0000"/>
                </a:solidFill>
                <a:latin typeface="Verdana"/>
                <a:cs typeface="Verdana"/>
              </a:rPr>
              <a:t>colspan</a:t>
            </a:r>
            <a:r>
              <a:rPr sz="18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permet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fusionner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plusieurs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colonnes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40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background-</a:t>
            </a:r>
            <a:r>
              <a:rPr sz="1400" b="1" dirty="0">
                <a:solidFill>
                  <a:srgbClr val="A21515"/>
                </a:solidFill>
                <a:latin typeface="Consolas"/>
                <a:cs typeface="Consolas"/>
              </a:rPr>
              <a:t>color</a:t>
            </a:r>
            <a:r>
              <a:rPr sz="1400" b="1" dirty="0">
                <a:latin typeface="Consolas"/>
                <a:cs typeface="Consolas"/>
              </a:rPr>
              <a:t>:</a:t>
            </a:r>
            <a:r>
              <a:rPr sz="1400" b="1" spc="5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lightGray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thead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Semaine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Dimanche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Lundi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Mardi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thead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tbody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"row"</a:t>
            </a:r>
            <a:r>
              <a:rPr sz="14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b="1" dirty="0">
                <a:latin typeface="Consolas"/>
                <a:cs typeface="Consolas"/>
              </a:rPr>
              <a:t>1ère</a:t>
            </a:r>
            <a:r>
              <a:rPr sz="1400" b="1" spc="-25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semaine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colspan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"2"</a:t>
            </a:r>
            <a:r>
              <a:rPr sz="14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"green"&gt;</a:t>
            </a:r>
            <a:r>
              <a:rPr sz="1400" b="1" spc="-10" dirty="0">
                <a:latin typeface="Consolas"/>
                <a:cs typeface="Consolas"/>
              </a:rPr>
              <a:t>Marketing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"red"&gt;</a:t>
            </a:r>
            <a:r>
              <a:rPr sz="1400" b="1" spc="-10" dirty="0">
                <a:latin typeface="Consolas"/>
                <a:cs typeface="Consolas"/>
              </a:rPr>
              <a:t>Technique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"row"&gt;</a:t>
            </a:r>
            <a:r>
              <a:rPr sz="1400" b="1" dirty="0">
                <a:latin typeface="Consolas"/>
                <a:cs typeface="Consolas"/>
              </a:rPr>
              <a:t>2ème</a:t>
            </a:r>
            <a:r>
              <a:rPr sz="1400" b="1" spc="-50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semaine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colspan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"3"</a:t>
            </a:r>
            <a:r>
              <a:rPr sz="14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"yellow"&gt;</a:t>
            </a:r>
            <a:r>
              <a:rPr sz="1400" b="1" spc="-10" dirty="0">
                <a:latin typeface="Consolas"/>
                <a:cs typeface="Consolas"/>
              </a:rPr>
              <a:t>Finances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tbody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Fusionner</a:t>
            </a:r>
            <a:r>
              <a:rPr spc="-204" dirty="0"/>
              <a:t> </a:t>
            </a:r>
            <a:r>
              <a:rPr spc="-20" dirty="0"/>
              <a:t>des</a:t>
            </a:r>
            <a:r>
              <a:rPr spc="-250" dirty="0"/>
              <a:t> </a:t>
            </a:r>
            <a:r>
              <a:rPr spc="-10" dirty="0"/>
              <a:t>colonnes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48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14188" y="2694432"/>
            <a:ext cx="6288405" cy="2049780"/>
            <a:chOff x="5314188" y="2694432"/>
            <a:chExt cx="6288405" cy="204978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4188" y="2694432"/>
              <a:ext cx="6288023" cy="20497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9260" y="2889504"/>
              <a:ext cx="5699760" cy="14615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7113" y="1359217"/>
            <a:ext cx="11503660" cy="5041900"/>
            <a:chOff x="527113" y="1359217"/>
            <a:chExt cx="11503660" cy="5041900"/>
          </a:xfrm>
        </p:grpSpPr>
        <p:sp>
          <p:nvSpPr>
            <p:cNvPr id="3" name="object 3"/>
            <p:cNvSpPr/>
            <p:nvPr/>
          </p:nvSpPr>
          <p:spPr>
            <a:xfrm>
              <a:off x="531876" y="1363980"/>
              <a:ext cx="11494135" cy="5032375"/>
            </a:xfrm>
            <a:custGeom>
              <a:avLst/>
              <a:gdLst/>
              <a:ahLst/>
              <a:cxnLst/>
              <a:rect l="l" t="t" r="r" b="b"/>
              <a:pathLst>
                <a:path w="11494135" h="5032375">
                  <a:moveTo>
                    <a:pt x="11494008" y="0"/>
                  </a:moveTo>
                  <a:lnTo>
                    <a:pt x="0" y="0"/>
                  </a:lnTo>
                  <a:lnTo>
                    <a:pt x="0" y="5032248"/>
                  </a:lnTo>
                  <a:lnTo>
                    <a:pt x="11494008" y="5032248"/>
                  </a:lnTo>
                  <a:lnTo>
                    <a:pt x="11494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1876" y="1363980"/>
              <a:ext cx="11494135" cy="5032375"/>
            </a:xfrm>
            <a:custGeom>
              <a:avLst/>
              <a:gdLst/>
              <a:ahLst/>
              <a:cxnLst/>
              <a:rect l="l" t="t" r="r" b="b"/>
              <a:pathLst>
                <a:path w="11494135" h="5032375">
                  <a:moveTo>
                    <a:pt x="0" y="5032248"/>
                  </a:moveTo>
                  <a:lnTo>
                    <a:pt x="11494008" y="5032248"/>
                  </a:lnTo>
                  <a:lnTo>
                    <a:pt x="11494008" y="0"/>
                  </a:lnTo>
                  <a:lnTo>
                    <a:pt x="0" y="0"/>
                  </a:lnTo>
                  <a:lnTo>
                    <a:pt x="0" y="50322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0616" y="1420045"/>
            <a:ext cx="6277610" cy="467296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b="1" i="1" spc="-195" dirty="0">
                <a:solidFill>
                  <a:srgbClr val="FF0000"/>
                </a:solidFill>
                <a:latin typeface="Verdana"/>
                <a:cs typeface="Verdana"/>
              </a:rPr>
              <a:t>rowspan</a:t>
            </a:r>
            <a:r>
              <a:rPr sz="18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permet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fusionner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plusieurs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lignes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40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background-</a:t>
            </a:r>
            <a:r>
              <a:rPr sz="1400" b="1" dirty="0">
                <a:solidFill>
                  <a:srgbClr val="A21515"/>
                </a:solidFill>
                <a:latin typeface="Consolas"/>
                <a:cs typeface="Consolas"/>
              </a:rPr>
              <a:t>color</a:t>
            </a:r>
            <a:r>
              <a:rPr sz="1400" b="1" dirty="0">
                <a:latin typeface="Consolas"/>
                <a:cs typeface="Consolas"/>
              </a:rPr>
              <a:t>:</a:t>
            </a:r>
            <a:r>
              <a:rPr sz="1400" b="1" spc="5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lightGray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thead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Semaine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Dimanche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Lundi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"col"&gt;</a:t>
            </a:r>
            <a:r>
              <a:rPr sz="1400" b="1" spc="-10" dirty="0">
                <a:latin typeface="Consolas"/>
                <a:cs typeface="Consolas"/>
              </a:rPr>
              <a:t>Mardi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thead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tbody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"row"</a:t>
            </a:r>
            <a:r>
              <a:rPr sz="14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400" b="1" dirty="0">
                <a:latin typeface="Consolas"/>
                <a:cs typeface="Consolas"/>
              </a:rPr>
              <a:t>1ère</a:t>
            </a:r>
            <a:r>
              <a:rPr sz="1400" b="1" spc="-25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semaine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rowspan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"2"</a:t>
            </a:r>
            <a:r>
              <a:rPr sz="14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"green"&gt;</a:t>
            </a:r>
            <a:r>
              <a:rPr sz="1400" b="1" spc="-10" dirty="0">
                <a:latin typeface="Consolas"/>
                <a:cs typeface="Consolas"/>
              </a:rPr>
              <a:t>Marketing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colspan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"2"</a:t>
            </a:r>
            <a:r>
              <a:rPr sz="14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"red"&gt;</a:t>
            </a:r>
            <a:r>
              <a:rPr sz="1400" b="1" spc="-10" dirty="0">
                <a:latin typeface="Consolas"/>
                <a:cs typeface="Consolas"/>
              </a:rPr>
              <a:t>Technique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spc="-2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scope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"row"&gt;</a:t>
            </a:r>
            <a:r>
              <a:rPr sz="1400" b="1" dirty="0">
                <a:latin typeface="Consolas"/>
                <a:cs typeface="Consolas"/>
              </a:rPr>
              <a:t>2ème</a:t>
            </a:r>
            <a:r>
              <a:rPr sz="1400" b="1" spc="-75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semaine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th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colspan</a:t>
            </a:r>
            <a:r>
              <a:rPr sz="1400" b="1" dirty="0">
                <a:latin typeface="Consolas"/>
                <a:cs typeface="Consolas"/>
              </a:rPr>
              <a:t>=</a:t>
            </a:r>
            <a:r>
              <a:rPr sz="1400" b="1" dirty="0">
                <a:solidFill>
                  <a:srgbClr val="0000FF"/>
                </a:solidFill>
                <a:latin typeface="Consolas"/>
                <a:cs typeface="Consolas"/>
              </a:rPr>
              <a:t>"2"</a:t>
            </a:r>
            <a:r>
              <a:rPr sz="14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1400" b="1" spc="-10" dirty="0">
                <a:latin typeface="Consolas"/>
                <a:cs typeface="Consolas"/>
              </a:rPr>
              <a:t>=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"yellow"&gt;</a:t>
            </a:r>
            <a:r>
              <a:rPr sz="1400" b="1" spc="-10" dirty="0">
                <a:latin typeface="Consolas"/>
                <a:cs typeface="Consolas"/>
              </a:rPr>
              <a:t>Finances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b="1" spc="-10" dirty="0">
                <a:solidFill>
                  <a:srgbClr val="A21515"/>
                </a:solidFill>
                <a:latin typeface="Consolas"/>
                <a:cs typeface="Consolas"/>
              </a:rPr>
              <a:t>td</a:t>
            </a:r>
            <a:r>
              <a:rPr sz="14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tr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tbody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252" y="6093333"/>
            <a:ext cx="788035" cy="20891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400" spc="-10" dirty="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sz="14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3764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Fusionner</a:t>
            </a:r>
            <a:r>
              <a:rPr spc="-204" dirty="0"/>
              <a:t> </a:t>
            </a:r>
            <a:r>
              <a:rPr spc="-20" dirty="0"/>
              <a:t>des</a:t>
            </a:r>
            <a:r>
              <a:rPr spc="-250" dirty="0"/>
              <a:t> </a:t>
            </a:r>
            <a:r>
              <a:rPr spc="-90" dirty="0"/>
              <a:t>lignes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49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14415" y="2599944"/>
            <a:ext cx="5737860" cy="1908175"/>
            <a:chOff x="5614415" y="2599944"/>
            <a:chExt cx="5737860" cy="19081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4415" y="2599944"/>
              <a:ext cx="5737860" cy="19080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9487" y="2795016"/>
              <a:ext cx="5149596" cy="13197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6343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85" dirty="0"/>
              <a:t> </a:t>
            </a:r>
            <a:r>
              <a:rPr sz="4000" spc="-330" dirty="0"/>
              <a:t>7</a:t>
            </a:r>
            <a:r>
              <a:rPr sz="4000" spc="-300" dirty="0"/>
              <a:t> </a:t>
            </a:r>
            <a:r>
              <a:rPr sz="4000" spc="-710" dirty="0"/>
              <a:t>:</a:t>
            </a:r>
            <a:r>
              <a:rPr sz="4000" spc="-295" dirty="0"/>
              <a:t> </a:t>
            </a:r>
            <a:r>
              <a:rPr sz="4000" spc="-254" dirty="0"/>
              <a:t>Les</a:t>
            </a:r>
            <a:r>
              <a:rPr sz="4000" spc="-280" dirty="0"/>
              <a:t> </a:t>
            </a:r>
            <a:r>
              <a:rPr sz="4000" spc="-175" dirty="0"/>
              <a:t>Formulaires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51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677" y="1445697"/>
            <a:ext cx="10788650" cy="3227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50" dirty="0">
                <a:latin typeface="Verdana"/>
                <a:cs typeface="Verdana"/>
              </a:rPr>
              <a:t>L’adresse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les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15" dirty="0">
                <a:latin typeface="Verdana"/>
                <a:cs typeface="Verdana"/>
              </a:rPr>
              <a:t>URLs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étaient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seuls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moyens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d’envoyer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des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données</a:t>
            </a:r>
            <a:r>
              <a:rPr sz="2000" spc="-130" dirty="0">
                <a:latin typeface="Verdana"/>
                <a:cs typeface="Verdana"/>
              </a:rPr>
              <a:t> vers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serveurs</a:t>
            </a:r>
            <a:endParaRPr sz="200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55" dirty="0">
                <a:latin typeface="Verdana"/>
                <a:cs typeface="Verdana"/>
              </a:rPr>
              <a:t>Le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85" dirty="0">
                <a:latin typeface="Verdana"/>
                <a:cs typeface="Verdana"/>
              </a:rPr>
              <a:t>web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très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évite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évolué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simple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40" dirty="0">
                <a:latin typeface="Verdana"/>
                <a:cs typeface="Verdana"/>
              </a:rPr>
              <a:t>sites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85" dirty="0">
                <a:latin typeface="Verdana"/>
                <a:cs typeface="Verdana"/>
              </a:rPr>
              <a:t>web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vers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véritables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applications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85" dirty="0">
                <a:latin typeface="Verdana"/>
                <a:cs typeface="Verdana"/>
              </a:rPr>
              <a:t>web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où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sont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noyau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applications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Pour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qu’une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application</a:t>
            </a:r>
            <a:r>
              <a:rPr sz="2000" spc="-120" dirty="0">
                <a:latin typeface="Verdana"/>
                <a:cs typeface="Verdana"/>
              </a:rPr>
              <a:t> soit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utile,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ile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suffit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qu’elle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affiche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des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données,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il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faut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Verdana"/>
                <a:cs typeface="Verdana"/>
              </a:rPr>
              <a:t>qu’elle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l’utilisateur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créer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mettre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jour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données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14" dirty="0">
                <a:latin typeface="Verdana"/>
                <a:cs typeface="Verdana"/>
              </a:rPr>
              <a:t>Les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formulaires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sont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moyen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100" dirty="0">
                <a:latin typeface="Verdana"/>
                <a:cs typeface="Verdana"/>
              </a:rPr>
              <a:t>de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45" dirty="0">
                <a:latin typeface="Verdana"/>
                <a:cs typeface="Verdana"/>
              </a:rPr>
              <a:t>collecte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depuis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utilisateurs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55" dirty="0">
                <a:latin typeface="Verdana"/>
                <a:cs typeface="Verdana"/>
              </a:rPr>
              <a:t>Exemple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connexion,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inscription,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création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produit,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ajout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commentaire,…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398879"/>
            <a:ext cx="11113770" cy="505650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25" dirty="0">
                <a:latin typeface="Verdana"/>
                <a:cs typeface="Verdana"/>
              </a:rPr>
              <a:t>Un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formulaire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composé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plusieurs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180" dirty="0">
                <a:solidFill>
                  <a:srgbClr val="FF0000"/>
                </a:solidFill>
                <a:latin typeface="Verdana"/>
                <a:cs typeface="Verdana"/>
              </a:rPr>
              <a:t>contrôles</a:t>
            </a:r>
            <a:r>
              <a:rPr sz="2000" b="1" i="1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b="1" i="1" spc="-180" dirty="0">
                <a:solidFill>
                  <a:srgbClr val="FF0000"/>
                </a:solidFill>
                <a:latin typeface="Verdana"/>
                <a:cs typeface="Verdana"/>
              </a:rPr>
              <a:t>bouton</a:t>
            </a:r>
            <a:r>
              <a:rPr sz="20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Verdana"/>
                <a:cs typeface="Verdana"/>
              </a:rPr>
              <a:t>d’envoi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80" dirty="0">
                <a:latin typeface="Verdana"/>
                <a:cs typeface="Verdana"/>
              </a:rPr>
              <a:t>Chaque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contrôle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b="1" i="1" spc="-204" dirty="0">
                <a:solidFill>
                  <a:srgbClr val="FF0000"/>
                </a:solidFill>
                <a:latin typeface="Verdana"/>
                <a:cs typeface="Verdana"/>
              </a:rPr>
              <a:t>nom</a:t>
            </a:r>
            <a:r>
              <a:rPr sz="20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175" dirty="0">
                <a:solidFill>
                  <a:srgbClr val="FF0000"/>
                </a:solidFill>
                <a:latin typeface="Verdana"/>
                <a:cs typeface="Verdana"/>
              </a:rPr>
              <a:t>unique</a:t>
            </a:r>
            <a:r>
              <a:rPr sz="20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qui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distingue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défini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l’attribut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b="1" i="1" spc="-20" dirty="0">
                <a:solidFill>
                  <a:srgbClr val="FF0000"/>
                </a:solidFill>
                <a:latin typeface="Verdana"/>
                <a:cs typeface="Verdana"/>
              </a:rPr>
              <a:t>name</a:t>
            </a:r>
            <a:endParaRPr sz="2000" dirty="0">
              <a:latin typeface="Verdana"/>
              <a:cs typeface="Verdana"/>
            </a:endParaRPr>
          </a:p>
          <a:p>
            <a:pPr marL="299085" marR="15938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40" dirty="0">
                <a:latin typeface="Verdana"/>
                <a:cs typeface="Verdana"/>
              </a:rPr>
              <a:t>Une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fois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bouton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envoi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appuyé,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navigateur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formate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formulaire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sous </a:t>
            </a:r>
            <a:r>
              <a:rPr sz="2000" spc="-50" dirty="0">
                <a:latin typeface="Verdana"/>
                <a:cs typeface="Verdana"/>
              </a:rPr>
              <a:t>forme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paires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b="1" i="1" spc="-204" dirty="0">
                <a:solidFill>
                  <a:srgbClr val="FF0000"/>
                </a:solidFill>
                <a:latin typeface="Verdana"/>
                <a:cs typeface="Verdana"/>
              </a:rPr>
              <a:t>nom</a:t>
            </a:r>
            <a:r>
              <a:rPr sz="20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455" dirty="0">
                <a:solidFill>
                  <a:srgbClr val="FF0000"/>
                </a:solidFill>
                <a:latin typeface="Verdana"/>
                <a:cs typeface="Verdana"/>
              </a:rPr>
              <a:t>/</a:t>
            </a:r>
            <a:r>
              <a:rPr sz="2000" b="1" i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180" dirty="0">
                <a:solidFill>
                  <a:srgbClr val="FF0000"/>
                </a:solidFill>
                <a:latin typeface="Verdana"/>
                <a:cs typeface="Verdana"/>
              </a:rPr>
              <a:t>valeur</a:t>
            </a:r>
            <a:r>
              <a:rPr sz="20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latin typeface="Verdana"/>
                <a:cs typeface="Verdana"/>
              </a:rPr>
              <a:t>puis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les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envoie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au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serveur.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Cette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opération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appelée</a:t>
            </a:r>
            <a:endParaRPr sz="20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5"/>
              </a:spcBef>
            </a:pPr>
            <a:r>
              <a:rPr sz="2000" b="1" i="1" spc="-135" dirty="0">
                <a:solidFill>
                  <a:srgbClr val="FF0000"/>
                </a:solidFill>
                <a:latin typeface="Verdana"/>
                <a:cs typeface="Verdana"/>
              </a:rPr>
              <a:t>sérialisation</a:t>
            </a:r>
            <a:r>
              <a:rPr sz="2000" spc="-135" dirty="0">
                <a:latin typeface="Verdana"/>
                <a:cs typeface="Verdana"/>
              </a:rPr>
              <a:t>.</a:t>
            </a:r>
            <a:endParaRPr sz="2000" dirty="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130" dirty="0">
                <a:latin typeface="Verdana"/>
                <a:cs typeface="Verdana"/>
              </a:rPr>
              <a:t>Plusieurs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méthodes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sérialisation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existent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65" dirty="0">
                <a:latin typeface="Verdana"/>
                <a:cs typeface="Verdana"/>
              </a:rPr>
              <a:t>POST,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JSON,…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0" dirty="0">
                <a:latin typeface="Verdana"/>
                <a:cs typeface="Verdana"/>
              </a:rPr>
              <a:t>plus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populaire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simple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est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sérialisation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POST</a:t>
            </a:r>
            <a:endParaRPr sz="2000" dirty="0">
              <a:latin typeface="Verdana"/>
              <a:cs typeface="Verdana"/>
            </a:endParaRPr>
          </a:p>
          <a:p>
            <a:pPr marL="299085" marR="68516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40" dirty="0">
                <a:latin typeface="Verdana"/>
                <a:cs typeface="Verdana"/>
              </a:rPr>
              <a:t>Une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fois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que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serveur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reçoit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données,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60" dirty="0">
                <a:latin typeface="Verdana"/>
                <a:cs typeface="Verdana"/>
              </a:rPr>
              <a:t>il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95" dirty="0" err="1">
                <a:latin typeface="Verdana"/>
                <a:cs typeface="Verdana"/>
              </a:rPr>
              <a:t>traite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exemple</a:t>
            </a:r>
            <a:r>
              <a:rPr sz="2000" spc="-165" dirty="0">
                <a:latin typeface="Verdana"/>
                <a:cs typeface="Verdana"/>
              </a:rPr>
              <a:t> il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enregistre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une </a:t>
            </a:r>
            <a:r>
              <a:rPr sz="2000" spc="-35" dirty="0">
                <a:latin typeface="Verdana"/>
                <a:cs typeface="Verdana"/>
              </a:rPr>
              <a:t>entité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dans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40" dirty="0">
                <a:latin typeface="Verdana"/>
                <a:cs typeface="Verdana"/>
              </a:rPr>
              <a:t>donnée</a:t>
            </a:r>
            <a:r>
              <a:rPr lang="fr-FR" sz="2000" spc="40" dirty="0">
                <a:latin typeface="Verdana"/>
                <a:cs typeface="Verdana"/>
              </a:rPr>
              <a:t>s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40" dirty="0">
                <a:latin typeface="Verdana"/>
                <a:cs typeface="Verdana"/>
              </a:rPr>
              <a:t>Une</a:t>
            </a:r>
            <a:r>
              <a:rPr sz="2000" spc="-105" dirty="0">
                <a:latin typeface="Verdana"/>
                <a:cs typeface="Verdana"/>
              </a:rPr>
              <a:t> fois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l’opération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s’est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bien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(ou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mal)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déroulé,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serveur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renvoie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114" dirty="0">
                <a:latin typeface="Verdana"/>
                <a:cs typeface="Verdana"/>
              </a:rPr>
              <a:t>page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de</a:t>
            </a:r>
            <a:endParaRPr sz="20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latin typeface="Verdana"/>
                <a:cs typeface="Verdana"/>
              </a:rPr>
              <a:t>redirection.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Fonctionnement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668" y="1505585"/>
            <a:ext cx="11160760" cy="3638550"/>
            <a:chOff x="272668" y="1505585"/>
            <a:chExt cx="11160760" cy="3638550"/>
          </a:xfrm>
        </p:grpSpPr>
        <p:sp>
          <p:nvSpPr>
            <p:cNvPr id="3" name="object 3"/>
            <p:cNvSpPr/>
            <p:nvPr/>
          </p:nvSpPr>
          <p:spPr>
            <a:xfrm>
              <a:off x="275843" y="1508760"/>
              <a:ext cx="11154410" cy="3632200"/>
            </a:xfrm>
            <a:custGeom>
              <a:avLst/>
              <a:gdLst/>
              <a:ahLst/>
              <a:cxnLst/>
              <a:rect l="l" t="t" r="r" b="b"/>
              <a:pathLst>
                <a:path w="11154410" h="3632200">
                  <a:moveTo>
                    <a:pt x="11154156" y="0"/>
                  </a:moveTo>
                  <a:lnTo>
                    <a:pt x="0" y="0"/>
                  </a:lnTo>
                  <a:lnTo>
                    <a:pt x="0" y="3631691"/>
                  </a:lnTo>
                  <a:lnTo>
                    <a:pt x="11154156" y="3631691"/>
                  </a:lnTo>
                  <a:lnTo>
                    <a:pt x="111541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5843" y="1508760"/>
              <a:ext cx="11154410" cy="3632200"/>
            </a:xfrm>
            <a:custGeom>
              <a:avLst/>
              <a:gdLst/>
              <a:ahLst/>
              <a:cxnLst/>
              <a:rect l="l" t="t" r="r" b="b"/>
              <a:pathLst>
                <a:path w="11154410" h="3632200">
                  <a:moveTo>
                    <a:pt x="0" y="3631691"/>
                  </a:moveTo>
                  <a:lnTo>
                    <a:pt x="11154156" y="3631691"/>
                  </a:lnTo>
                  <a:lnTo>
                    <a:pt x="11154156" y="0"/>
                  </a:lnTo>
                  <a:lnTo>
                    <a:pt x="0" y="0"/>
                  </a:lnTo>
                  <a:lnTo>
                    <a:pt x="0" y="36316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7106" y="3235070"/>
              <a:ext cx="978535" cy="299085"/>
            </a:xfrm>
            <a:custGeom>
              <a:avLst/>
              <a:gdLst/>
              <a:ahLst/>
              <a:cxnLst/>
              <a:rect l="l" t="t" r="r" b="b"/>
              <a:pathLst>
                <a:path w="978535" h="299085">
                  <a:moveTo>
                    <a:pt x="978408" y="0"/>
                  </a:moveTo>
                  <a:lnTo>
                    <a:pt x="839724" y="0"/>
                  </a:lnTo>
                  <a:lnTo>
                    <a:pt x="280416" y="0"/>
                  </a:lnTo>
                  <a:lnTo>
                    <a:pt x="0" y="0"/>
                  </a:lnTo>
                  <a:lnTo>
                    <a:pt x="0" y="298704"/>
                  </a:lnTo>
                  <a:lnTo>
                    <a:pt x="280416" y="298704"/>
                  </a:lnTo>
                  <a:lnTo>
                    <a:pt x="839724" y="298704"/>
                  </a:lnTo>
                  <a:lnTo>
                    <a:pt x="978408" y="298704"/>
                  </a:lnTo>
                  <a:lnTo>
                    <a:pt x="978408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4584" y="1582375"/>
            <a:ext cx="7708900" cy="195198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45" dirty="0">
                <a:latin typeface="Verdana"/>
                <a:cs typeface="Verdana"/>
              </a:rPr>
              <a:t>Soit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formulaire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suivant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415" dirty="0">
                <a:latin typeface="Verdana"/>
                <a:cs typeface="Verdana"/>
              </a:rPr>
              <a:t>: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  <a:tabLst>
                <a:tab pos="2807335" algn="l"/>
              </a:tabLst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action</a:t>
            </a:r>
            <a:r>
              <a:rPr sz="2000" spc="-10" dirty="0">
                <a:latin typeface="Consolas"/>
                <a:cs typeface="Consolas"/>
              </a:rPr>
              <a:t>=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"URL"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2000" b="1" spc="-8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5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2000" dirty="0">
                <a:latin typeface="Consolas"/>
                <a:cs typeface="Consolas"/>
              </a:rPr>
              <a:t>Utilisateur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20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20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2000" b="1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20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2000" dirty="0">
                <a:latin typeface="Consolas"/>
                <a:cs typeface="Consolas"/>
              </a:rPr>
              <a:t>MDP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20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"mdp"</a:t>
            </a:r>
            <a:r>
              <a:rPr sz="2000" b="1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20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20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sz="20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2000" b="1" spc="-10" dirty="0">
                <a:latin typeface="Consolas"/>
                <a:cs typeface="Consolas"/>
              </a:rPr>
              <a:t>=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"Envoyer"/&gt;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7106" y="3235070"/>
            <a:ext cx="1118870" cy="603885"/>
          </a:xfrm>
          <a:custGeom>
            <a:avLst/>
            <a:gdLst/>
            <a:ahLst/>
            <a:cxnLst/>
            <a:rect l="l" t="t" r="r" b="b"/>
            <a:pathLst>
              <a:path w="1118870" h="603885">
                <a:moveTo>
                  <a:pt x="140208" y="304812"/>
                </a:moveTo>
                <a:lnTo>
                  <a:pt x="0" y="304812"/>
                </a:lnTo>
                <a:lnTo>
                  <a:pt x="0" y="603504"/>
                </a:lnTo>
                <a:lnTo>
                  <a:pt x="140208" y="603504"/>
                </a:lnTo>
                <a:lnTo>
                  <a:pt x="140208" y="304812"/>
                </a:lnTo>
                <a:close/>
              </a:path>
              <a:path w="1118870" h="603885">
                <a:moveTo>
                  <a:pt x="1118666" y="0"/>
                </a:moveTo>
                <a:lnTo>
                  <a:pt x="978458" y="0"/>
                </a:lnTo>
                <a:lnTo>
                  <a:pt x="978458" y="298704"/>
                </a:lnTo>
                <a:lnTo>
                  <a:pt x="1118666" y="298704"/>
                </a:lnTo>
                <a:lnTo>
                  <a:pt x="1118666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4584" y="3813175"/>
            <a:ext cx="11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618" y="3844671"/>
            <a:ext cx="10334625" cy="29908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55"/>
              </a:lnSpc>
            </a:pPr>
            <a:r>
              <a:rPr sz="2000" dirty="0">
                <a:latin typeface="Consolas"/>
                <a:cs typeface="Consolas"/>
              </a:rPr>
              <a:t>Lorsque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l’utilisateur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appuie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sur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envoyer,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les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données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sont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envoyées</a:t>
            </a:r>
            <a:r>
              <a:rPr sz="2000" spc="-10" dirty="0">
                <a:latin typeface="Consolas"/>
                <a:cs typeface="Consolas"/>
              </a:rPr>
              <a:t> comme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3618" y="4149470"/>
            <a:ext cx="978535" cy="603885"/>
          </a:xfrm>
          <a:custGeom>
            <a:avLst/>
            <a:gdLst/>
            <a:ahLst/>
            <a:cxnLst/>
            <a:rect l="l" t="t" r="r" b="b"/>
            <a:pathLst>
              <a:path w="978535" h="603885">
                <a:moveTo>
                  <a:pt x="140208" y="304800"/>
                </a:moveTo>
                <a:lnTo>
                  <a:pt x="0" y="304800"/>
                </a:lnTo>
                <a:lnTo>
                  <a:pt x="0" y="603504"/>
                </a:lnTo>
                <a:lnTo>
                  <a:pt x="140208" y="603504"/>
                </a:lnTo>
                <a:lnTo>
                  <a:pt x="140208" y="304800"/>
                </a:lnTo>
                <a:close/>
              </a:path>
              <a:path w="978535" h="603885">
                <a:moveTo>
                  <a:pt x="838200" y="0"/>
                </a:moveTo>
                <a:lnTo>
                  <a:pt x="0" y="0"/>
                </a:lnTo>
                <a:lnTo>
                  <a:pt x="0" y="298704"/>
                </a:lnTo>
                <a:lnTo>
                  <a:pt x="838200" y="298704"/>
                </a:lnTo>
                <a:lnTo>
                  <a:pt x="838200" y="0"/>
                </a:lnTo>
                <a:close/>
              </a:path>
              <a:path w="978535" h="603885">
                <a:moveTo>
                  <a:pt x="978446" y="0"/>
                </a:moveTo>
                <a:lnTo>
                  <a:pt x="838250" y="0"/>
                </a:lnTo>
                <a:lnTo>
                  <a:pt x="838250" y="298704"/>
                </a:lnTo>
                <a:lnTo>
                  <a:pt x="978446" y="298704"/>
                </a:lnTo>
                <a:lnTo>
                  <a:pt x="978446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4584" y="4117975"/>
            <a:ext cx="4354195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olas"/>
                <a:cs typeface="Consolas"/>
              </a:rPr>
              <a:t>suit </a:t>
            </a:r>
            <a:r>
              <a:rPr sz="2000" spc="-50" dirty="0">
                <a:latin typeface="Consolas"/>
                <a:cs typeface="Consolas"/>
              </a:rPr>
              <a:t>: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65" dirty="0">
                <a:solidFill>
                  <a:srgbClr val="FF0000"/>
                </a:solidFill>
                <a:latin typeface="Verdana"/>
                <a:cs typeface="Verdana"/>
              </a:rPr>
              <a:t>login=Amine&amp;mdp=mot+de+passe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6301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Envoi</a:t>
            </a:r>
            <a:r>
              <a:rPr spc="-254" dirty="0"/>
              <a:t> </a:t>
            </a:r>
            <a:r>
              <a:rPr spc="195" dirty="0"/>
              <a:t>de</a:t>
            </a:r>
            <a:r>
              <a:rPr spc="-280" dirty="0"/>
              <a:t> </a:t>
            </a:r>
            <a:r>
              <a:rPr dirty="0"/>
              <a:t>données</a:t>
            </a:r>
            <a:r>
              <a:rPr spc="-250" dirty="0"/>
              <a:t> </a:t>
            </a:r>
            <a:r>
              <a:rPr spc="-445" dirty="0"/>
              <a:t>-</a:t>
            </a:r>
            <a:r>
              <a:rPr spc="-270" dirty="0"/>
              <a:t> </a:t>
            </a:r>
            <a:r>
              <a:rPr spc="-30" dirty="0"/>
              <a:t>Exemple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08292" y="4163567"/>
            <a:ext cx="3931920" cy="1769745"/>
            <a:chOff x="6908292" y="4163567"/>
            <a:chExt cx="3931920" cy="176974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292" y="4163567"/>
              <a:ext cx="3931920" cy="17693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3364" y="4358639"/>
              <a:ext cx="3343655" cy="1181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401" y="1931923"/>
            <a:ext cx="5364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b="1" i="1" spc="-305" dirty="0">
                <a:solidFill>
                  <a:srgbClr val="FF0000"/>
                </a:solidFill>
                <a:latin typeface="Verdana"/>
                <a:cs typeface="Verdana"/>
              </a:rPr>
              <a:t>form</a:t>
            </a:r>
            <a:r>
              <a:rPr sz="2400" b="1" i="1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définit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formulaire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5401" y="2480817"/>
            <a:ext cx="4460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30" dirty="0">
                <a:latin typeface="Verdana"/>
                <a:cs typeface="Verdana"/>
              </a:rPr>
              <a:t>Sa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syntaxte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comme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suit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475" dirty="0"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6786" y="2517139"/>
            <a:ext cx="5734050" cy="35687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95"/>
              </a:lnSpc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4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2400" spc="-10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action</a:t>
            </a:r>
            <a:r>
              <a:rPr sz="2400" b="1" dirty="0">
                <a:latin typeface="Consolas"/>
                <a:cs typeface="Consolas"/>
              </a:rPr>
              <a:t>=</a:t>
            </a:r>
            <a:r>
              <a:rPr sz="2400" b="1" dirty="0">
                <a:solidFill>
                  <a:srgbClr val="0000FF"/>
                </a:solidFill>
                <a:latin typeface="Consolas"/>
                <a:cs typeface="Consolas"/>
              </a:rPr>
              <a:t>"url"</a:t>
            </a:r>
            <a:r>
              <a:rPr sz="2400" b="1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2400" b="1" dirty="0">
                <a:latin typeface="Consolas"/>
                <a:cs typeface="Consolas"/>
              </a:rPr>
              <a:t>=</a:t>
            </a:r>
            <a:r>
              <a:rPr sz="2400" b="1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2400" b="1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b="1" spc="-5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401" y="2847065"/>
            <a:ext cx="10680065" cy="112268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80" dirty="0">
                <a:latin typeface="Verdana"/>
                <a:cs typeface="Verdana"/>
              </a:rPr>
              <a:t>L’attribut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b="1" i="1" spc="-165" dirty="0">
                <a:solidFill>
                  <a:srgbClr val="FF0000"/>
                </a:solidFill>
                <a:latin typeface="Verdana"/>
                <a:cs typeface="Verdana"/>
              </a:rPr>
              <a:t>action</a:t>
            </a:r>
            <a:r>
              <a:rPr sz="24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donne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l’url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145" dirty="0">
                <a:latin typeface="Verdana"/>
                <a:cs typeface="Verdana"/>
              </a:rPr>
              <a:t>page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qui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va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recevoir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 </a:t>
            </a:r>
            <a:r>
              <a:rPr sz="2400" spc="-60" dirty="0">
                <a:latin typeface="Verdana"/>
                <a:cs typeface="Verdana"/>
              </a:rPr>
              <a:t>informations</a:t>
            </a:r>
            <a:endParaRPr sz="24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80" dirty="0">
                <a:latin typeface="Verdana"/>
                <a:cs typeface="Verdana"/>
              </a:rPr>
              <a:t>L’attribut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b="1" i="1" spc="-210" dirty="0">
                <a:solidFill>
                  <a:srgbClr val="FF0000"/>
                </a:solidFill>
                <a:latin typeface="Verdana"/>
                <a:cs typeface="Verdana"/>
              </a:rPr>
              <a:t>method</a:t>
            </a:r>
            <a:r>
              <a:rPr sz="2400" b="1" i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définit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méthode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d’envoi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(GET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POST)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3094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0" dirty="0"/>
              <a:t> </a:t>
            </a:r>
            <a:r>
              <a:rPr spc="-60" dirty="0"/>
              <a:t>balise</a:t>
            </a:r>
            <a:r>
              <a:rPr spc="-254" dirty="0"/>
              <a:t> </a:t>
            </a:r>
            <a:r>
              <a:rPr spc="-125" dirty="0"/>
              <a:t>form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222" y="1607311"/>
            <a:ext cx="1093660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8890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114" dirty="0">
                <a:latin typeface="Verdana"/>
                <a:cs typeface="Verdana"/>
              </a:rPr>
              <a:t>Avec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méthode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GET,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données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sont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ajoutée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à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25" dirty="0">
                <a:latin typeface="Verdana"/>
                <a:cs typeface="Verdana"/>
              </a:rPr>
              <a:t>fin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l’URL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définie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l’attribut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action</a:t>
            </a:r>
            <a:endParaRPr sz="24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114" dirty="0">
                <a:latin typeface="Verdana"/>
                <a:cs typeface="Verdana"/>
              </a:rPr>
              <a:t>Avec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méthode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00" dirty="0">
                <a:latin typeface="Verdana"/>
                <a:cs typeface="Verdana"/>
              </a:rPr>
              <a:t>POST,</a:t>
            </a:r>
            <a:r>
              <a:rPr sz="2400" spc="-135" dirty="0">
                <a:latin typeface="Verdana"/>
                <a:cs typeface="Verdana"/>
              </a:rPr>
              <a:t> les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données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sont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55" dirty="0">
                <a:latin typeface="Verdana"/>
                <a:cs typeface="Verdana"/>
              </a:rPr>
              <a:t>transmises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le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corps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la</a:t>
            </a:r>
            <a:endParaRPr sz="24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Verdana"/>
                <a:cs typeface="Verdana"/>
              </a:rPr>
              <a:t>requête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310" dirty="0">
                <a:latin typeface="Verdana"/>
                <a:cs typeface="Verdana"/>
              </a:rPr>
              <a:t>HTTP</a:t>
            </a:r>
            <a:endParaRPr sz="2400">
              <a:latin typeface="Verdana"/>
              <a:cs typeface="Verdana"/>
            </a:endParaRPr>
          </a:p>
          <a:p>
            <a:pPr marL="299085" marR="5080" indent="-287020">
              <a:lnSpc>
                <a:spcPts val="4320"/>
              </a:lnSpc>
              <a:spcBef>
                <a:spcPts val="38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méthode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165" dirty="0">
                <a:latin typeface="Verdana"/>
                <a:cs typeface="Verdana"/>
              </a:rPr>
              <a:t>GET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idéale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pour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très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petits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formulaires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contenant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des </a:t>
            </a:r>
            <a:r>
              <a:rPr sz="2400" dirty="0">
                <a:latin typeface="Verdana"/>
                <a:cs typeface="Verdana"/>
              </a:rPr>
              <a:t>données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pas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sensibles</a:t>
            </a:r>
            <a:endParaRPr sz="2400">
              <a:latin typeface="Verdana"/>
              <a:cs typeface="Verdana"/>
            </a:endParaRPr>
          </a:p>
          <a:p>
            <a:pPr marL="299085" marR="867410" indent="-287020">
              <a:lnSpc>
                <a:spcPts val="432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méthode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200" dirty="0">
                <a:latin typeface="Verdana"/>
                <a:cs typeface="Verdana"/>
              </a:rPr>
              <a:t>POST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permet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425" dirty="0">
                <a:latin typeface="Verdana"/>
                <a:cs typeface="Verdana"/>
              </a:rPr>
              <a:t>: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uploader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un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fichier,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encapsuler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des </a:t>
            </a:r>
            <a:r>
              <a:rPr sz="2400" dirty="0">
                <a:latin typeface="Verdana"/>
                <a:cs typeface="Verdana"/>
              </a:rPr>
              <a:t>données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sensibles,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gérer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 </a:t>
            </a:r>
            <a:r>
              <a:rPr sz="2400" spc="-50" dirty="0">
                <a:latin typeface="Verdana"/>
                <a:cs typeface="Verdana"/>
              </a:rPr>
              <a:t>connexions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cryptées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Méthodes</a:t>
            </a:r>
            <a:r>
              <a:rPr spc="-229" dirty="0"/>
              <a:t> </a:t>
            </a:r>
            <a:r>
              <a:rPr spc="-250" dirty="0"/>
              <a:t>GET</a:t>
            </a:r>
            <a:r>
              <a:rPr spc="-229" dirty="0"/>
              <a:t> </a:t>
            </a:r>
            <a:r>
              <a:rPr dirty="0"/>
              <a:t>et</a:t>
            </a:r>
            <a:r>
              <a:rPr spc="-225" dirty="0"/>
              <a:t> </a:t>
            </a:r>
            <a:r>
              <a:rPr spc="-315" dirty="0"/>
              <a:t>POST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935" y="2948177"/>
            <a:ext cx="789940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9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091" y="1507236"/>
            <a:ext cx="11075035" cy="257111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377190" algn="l"/>
              </a:tabLst>
            </a:pPr>
            <a:r>
              <a:rPr sz="1800" spc="-130" dirty="0">
                <a:latin typeface="Verdana"/>
                <a:cs typeface="Verdana"/>
              </a:rPr>
              <a:t>Soit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formulaire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suivant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370" dirty="0">
                <a:latin typeface="Verdana"/>
                <a:cs typeface="Verdana"/>
              </a:rPr>
              <a:t>:</a:t>
            </a:r>
            <a:endParaRPr sz="1800" dirty="0">
              <a:latin typeface="Verdana"/>
              <a:cs typeface="Verdana"/>
            </a:endParaRPr>
          </a:p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6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action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"url"</a:t>
            </a:r>
            <a:r>
              <a:rPr sz="16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"get"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&gt;</a:t>
            </a:r>
            <a:endParaRPr sz="1600" dirty="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Utilisateur</a:t>
            </a:r>
            <a:r>
              <a:rPr sz="1600" spc="-7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MDP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"mdp"</a:t>
            </a:r>
            <a:r>
              <a:rPr sz="16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"Envoyer"/&gt;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600" dirty="0">
              <a:latin typeface="Consolas"/>
              <a:cs typeface="Consolas"/>
            </a:endParaRPr>
          </a:p>
          <a:p>
            <a:pPr marL="377190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7190" algn="l"/>
              </a:tabLst>
            </a:pPr>
            <a:r>
              <a:rPr sz="1800" dirty="0">
                <a:latin typeface="Verdana"/>
                <a:cs typeface="Verdana"/>
              </a:rPr>
              <a:t>L’appui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80" dirty="0">
                <a:latin typeface="Verdana"/>
                <a:cs typeface="Verdana"/>
              </a:rPr>
              <a:t>sur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envoyer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redirige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vers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l’URL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suivante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370" dirty="0">
                <a:latin typeface="Verdana"/>
                <a:cs typeface="Verdana"/>
              </a:rPr>
              <a:t>:</a:t>
            </a:r>
            <a:endParaRPr sz="1800" dirty="0">
              <a:latin typeface="Verdana"/>
              <a:cs typeface="Verdana"/>
            </a:endParaRPr>
          </a:p>
          <a:p>
            <a:pPr marL="90805">
              <a:lnSpc>
                <a:spcPct val="100000"/>
              </a:lnSpc>
              <a:spcBef>
                <a:spcPts val="1080"/>
              </a:spcBef>
            </a:pPr>
            <a:r>
              <a:rPr sz="1800" spc="-75" dirty="0">
                <a:solidFill>
                  <a:srgbClr val="FF0000"/>
                </a:solidFill>
                <a:latin typeface="Verdana"/>
                <a:cs typeface="Verdana"/>
                <a:hlinkClick r:id="rId2"/>
              </a:rPr>
              <a:t>http://127.0.0.1:8020/Formation/url?login=Amine&amp;mdp=mot+de+passe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2475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Démonstration</a:t>
            </a:r>
            <a:r>
              <a:rPr spc="-220" dirty="0"/>
              <a:t> </a:t>
            </a:r>
            <a:r>
              <a:rPr spc="-160" dirty="0"/>
              <a:t>GET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57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96711" y="4201667"/>
            <a:ext cx="5607050" cy="2360930"/>
            <a:chOff x="5696711" y="4201667"/>
            <a:chExt cx="5607050" cy="23609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6711" y="4201667"/>
              <a:ext cx="5606795" cy="23606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1783" y="4396739"/>
              <a:ext cx="5018532" cy="1772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047" y="1536191"/>
            <a:ext cx="11468100" cy="2575560"/>
            <a:chOff x="-3047" y="1536191"/>
            <a:chExt cx="11468100" cy="2575560"/>
          </a:xfrm>
        </p:grpSpPr>
        <p:sp>
          <p:nvSpPr>
            <p:cNvPr id="3" name="object 3"/>
            <p:cNvSpPr/>
            <p:nvPr/>
          </p:nvSpPr>
          <p:spPr>
            <a:xfrm>
              <a:off x="0" y="1539239"/>
              <a:ext cx="11462385" cy="2569845"/>
            </a:xfrm>
            <a:custGeom>
              <a:avLst/>
              <a:gdLst/>
              <a:ahLst/>
              <a:cxnLst/>
              <a:rect l="l" t="t" r="r" b="b"/>
              <a:pathLst>
                <a:path w="11462385" h="2569845">
                  <a:moveTo>
                    <a:pt x="11462004" y="0"/>
                  </a:moveTo>
                  <a:lnTo>
                    <a:pt x="0" y="0"/>
                  </a:lnTo>
                  <a:lnTo>
                    <a:pt x="0" y="2569463"/>
                  </a:lnTo>
                  <a:lnTo>
                    <a:pt x="11462004" y="2569463"/>
                  </a:lnTo>
                  <a:lnTo>
                    <a:pt x="1146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539239"/>
              <a:ext cx="11462385" cy="2569845"/>
            </a:xfrm>
            <a:custGeom>
              <a:avLst/>
              <a:gdLst/>
              <a:ahLst/>
              <a:cxnLst/>
              <a:rect l="l" t="t" r="r" b="b"/>
              <a:pathLst>
                <a:path w="11462385" h="2569845">
                  <a:moveTo>
                    <a:pt x="0" y="2569463"/>
                  </a:moveTo>
                  <a:lnTo>
                    <a:pt x="11462004" y="2569463"/>
                  </a:lnTo>
                  <a:lnTo>
                    <a:pt x="11462004" y="0"/>
                  </a:lnTo>
                  <a:lnTo>
                    <a:pt x="0" y="0"/>
                  </a:lnTo>
                  <a:lnTo>
                    <a:pt x="0" y="2569463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27" y="2979673"/>
              <a:ext cx="777875" cy="236220"/>
            </a:xfrm>
            <a:custGeom>
              <a:avLst/>
              <a:gdLst/>
              <a:ahLst/>
              <a:cxnLst/>
              <a:rect l="l" t="t" r="r" b="b"/>
              <a:pathLst>
                <a:path w="777875" h="236219">
                  <a:moveTo>
                    <a:pt x="222504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222504" y="236220"/>
                  </a:lnTo>
                  <a:lnTo>
                    <a:pt x="222504" y="0"/>
                  </a:lnTo>
                  <a:close/>
                </a:path>
                <a:path w="777875" h="236219">
                  <a:moveTo>
                    <a:pt x="777252" y="0"/>
                  </a:moveTo>
                  <a:lnTo>
                    <a:pt x="667524" y="0"/>
                  </a:lnTo>
                  <a:lnTo>
                    <a:pt x="222516" y="0"/>
                  </a:lnTo>
                  <a:lnTo>
                    <a:pt x="222516" y="236220"/>
                  </a:lnTo>
                  <a:lnTo>
                    <a:pt x="667524" y="236220"/>
                  </a:lnTo>
                  <a:lnTo>
                    <a:pt x="777252" y="236220"/>
                  </a:lnTo>
                  <a:lnTo>
                    <a:pt x="777252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739" y="1601816"/>
            <a:ext cx="6939915" cy="2394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30" dirty="0">
                <a:latin typeface="Verdana"/>
                <a:cs typeface="Verdana"/>
              </a:rPr>
              <a:t>Soit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formulaire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suivant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370" dirty="0"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6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action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"url"</a:t>
            </a:r>
            <a:r>
              <a:rPr sz="16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“post"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Utilisateur</a:t>
            </a:r>
            <a:r>
              <a:rPr sz="1600" spc="-7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MDP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"mdp"</a:t>
            </a:r>
            <a:r>
              <a:rPr sz="16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"Envoyer"/&gt;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299085" indent="-28638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95" dirty="0">
                <a:latin typeface="Verdana"/>
                <a:cs typeface="Verdana"/>
              </a:rPr>
              <a:t>Ouvrir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fenêtre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firebug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dans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firefox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puis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cliquez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75" dirty="0">
                <a:latin typeface="Verdana"/>
                <a:cs typeface="Verdana"/>
              </a:rPr>
              <a:t>sur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envoyer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85" dirty="0">
                <a:latin typeface="Verdana"/>
                <a:cs typeface="Verdana"/>
              </a:rPr>
              <a:t>Examiner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l’onglet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réseau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»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dans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firebug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Démonstration</a:t>
            </a:r>
            <a:r>
              <a:rPr spc="-220" dirty="0"/>
              <a:t> </a:t>
            </a:r>
            <a:r>
              <a:rPr spc="-315" dirty="0"/>
              <a:t>POST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58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36464" y="3494532"/>
            <a:ext cx="5695315" cy="3363595"/>
            <a:chOff x="5236464" y="3494532"/>
            <a:chExt cx="5695315" cy="33635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6464" y="3494532"/>
              <a:ext cx="5695188" cy="33634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1536" y="3689604"/>
              <a:ext cx="5106923" cy="2915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6593" y="1613725"/>
            <a:ext cx="11305540" cy="3288029"/>
            <a:chOff x="176593" y="1613725"/>
            <a:chExt cx="11305540" cy="3288029"/>
          </a:xfrm>
        </p:grpSpPr>
        <p:sp>
          <p:nvSpPr>
            <p:cNvPr id="3" name="object 3"/>
            <p:cNvSpPr/>
            <p:nvPr/>
          </p:nvSpPr>
          <p:spPr>
            <a:xfrm>
              <a:off x="181355" y="1618488"/>
              <a:ext cx="11296015" cy="3278504"/>
            </a:xfrm>
            <a:custGeom>
              <a:avLst/>
              <a:gdLst/>
              <a:ahLst/>
              <a:cxnLst/>
              <a:rect l="l" t="t" r="r" b="b"/>
              <a:pathLst>
                <a:path w="11296015" h="3278504">
                  <a:moveTo>
                    <a:pt x="11295888" y="0"/>
                  </a:moveTo>
                  <a:lnTo>
                    <a:pt x="0" y="0"/>
                  </a:lnTo>
                  <a:lnTo>
                    <a:pt x="0" y="3278124"/>
                  </a:lnTo>
                  <a:lnTo>
                    <a:pt x="11295888" y="3278124"/>
                  </a:lnTo>
                  <a:lnTo>
                    <a:pt x="11295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1355" y="1618488"/>
              <a:ext cx="11296015" cy="3278504"/>
            </a:xfrm>
            <a:custGeom>
              <a:avLst/>
              <a:gdLst/>
              <a:ahLst/>
              <a:cxnLst/>
              <a:rect l="l" t="t" r="r" b="b"/>
              <a:pathLst>
                <a:path w="11296015" h="3278504">
                  <a:moveTo>
                    <a:pt x="0" y="3278124"/>
                  </a:moveTo>
                  <a:lnTo>
                    <a:pt x="11295888" y="3278124"/>
                  </a:lnTo>
                  <a:lnTo>
                    <a:pt x="11295888" y="0"/>
                  </a:lnTo>
                  <a:lnTo>
                    <a:pt x="0" y="0"/>
                  </a:lnTo>
                  <a:lnTo>
                    <a:pt x="0" y="327812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9791" y="1595374"/>
            <a:ext cx="10467975" cy="29495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20" dirty="0">
                <a:latin typeface="Verdana"/>
                <a:cs typeface="Verdana"/>
              </a:rPr>
              <a:t>L’envoi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données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effectué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un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bouton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défini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balise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b="1" i="1" spc="-210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18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b="1" i="1" spc="-20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endParaRPr sz="18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Verdana"/>
                <a:cs typeface="Verdana"/>
              </a:rPr>
              <a:t>ayant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b="1" i="1" spc="-215" dirty="0">
                <a:solidFill>
                  <a:srgbClr val="FF0000"/>
                </a:solidFill>
                <a:latin typeface="Verdana"/>
                <a:cs typeface="Verdana"/>
              </a:rPr>
              <a:t>submit</a:t>
            </a:r>
            <a:r>
              <a:rPr sz="18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9" dirty="0">
                <a:latin typeface="Verdana"/>
                <a:cs typeface="Verdana"/>
              </a:rPr>
              <a:t>»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 </a:t>
            </a:r>
            <a:r>
              <a:rPr sz="1800" b="1" i="1" spc="-145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1800" b="1" i="1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00" dirty="0">
                <a:latin typeface="Verdana"/>
                <a:cs typeface="Verdana"/>
              </a:rPr>
              <a:t> titre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bouton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1800" b="1" spc="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enctype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"multipart/form-data"&gt;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Veuillez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inclure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votre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CV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svp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br</a:t>
            </a:r>
            <a:r>
              <a:rPr sz="18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"file"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"cv"</a:t>
            </a:r>
            <a:r>
              <a:rPr sz="18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"ok"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516" y="4552060"/>
            <a:ext cx="878205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Envoyer</a:t>
            </a:r>
            <a:r>
              <a:rPr spc="-260" dirty="0"/>
              <a:t> </a:t>
            </a:r>
            <a:r>
              <a:rPr spc="-210" dirty="0"/>
              <a:t>les</a:t>
            </a:r>
            <a:r>
              <a:rPr spc="-240" dirty="0"/>
              <a:t> </a:t>
            </a:r>
            <a:r>
              <a:rPr dirty="0"/>
              <a:t>données</a:t>
            </a:r>
            <a:r>
              <a:rPr spc="-275" dirty="0"/>
              <a:t> </a:t>
            </a:r>
            <a:r>
              <a:rPr spc="70" dirty="0"/>
              <a:t>du</a:t>
            </a:r>
            <a:r>
              <a:rPr spc="-254" dirty="0"/>
              <a:t> </a:t>
            </a:r>
            <a:r>
              <a:rPr spc="-85" dirty="0"/>
              <a:t>formulaire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59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32247" y="3963923"/>
            <a:ext cx="6428740" cy="2062480"/>
            <a:chOff x="5032247" y="3963923"/>
            <a:chExt cx="6428740" cy="20624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2247" y="3963923"/>
              <a:ext cx="6428232" cy="20619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19" y="4158995"/>
              <a:ext cx="5839968" cy="14737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1084" y="1461516"/>
            <a:ext cx="11170920" cy="1754505"/>
            <a:chOff x="291084" y="1461516"/>
            <a:chExt cx="11170920" cy="1754505"/>
          </a:xfrm>
        </p:grpSpPr>
        <p:sp>
          <p:nvSpPr>
            <p:cNvPr id="3" name="object 3"/>
            <p:cNvSpPr/>
            <p:nvPr/>
          </p:nvSpPr>
          <p:spPr>
            <a:xfrm>
              <a:off x="291084" y="1461516"/>
              <a:ext cx="11170920" cy="1754505"/>
            </a:xfrm>
            <a:custGeom>
              <a:avLst/>
              <a:gdLst/>
              <a:ahLst/>
              <a:cxnLst/>
              <a:rect l="l" t="t" r="r" b="b"/>
              <a:pathLst>
                <a:path w="11170920" h="1754505">
                  <a:moveTo>
                    <a:pt x="11170920" y="0"/>
                  </a:moveTo>
                  <a:lnTo>
                    <a:pt x="0" y="0"/>
                  </a:lnTo>
                  <a:lnTo>
                    <a:pt x="0" y="1754124"/>
                  </a:lnTo>
                  <a:lnTo>
                    <a:pt x="11170920" y="1754124"/>
                  </a:lnTo>
                  <a:lnTo>
                    <a:pt x="11170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2879" y="2840100"/>
              <a:ext cx="7126605" cy="268605"/>
            </a:xfrm>
            <a:custGeom>
              <a:avLst/>
              <a:gdLst/>
              <a:ahLst/>
              <a:cxnLst/>
              <a:rect l="l" t="t" r="r" b="b"/>
              <a:pathLst>
                <a:path w="7126605" h="268605">
                  <a:moveTo>
                    <a:pt x="347459" y="24384"/>
                  </a:moveTo>
                  <a:lnTo>
                    <a:pt x="236220" y="24384"/>
                  </a:lnTo>
                  <a:lnTo>
                    <a:pt x="124968" y="24384"/>
                  </a:lnTo>
                  <a:lnTo>
                    <a:pt x="124968" y="0"/>
                  </a:lnTo>
                  <a:lnTo>
                    <a:pt x="0" y="0"/>
                  </a:lnTo>
                  <a:lnTo>
                    <a:pt x="0" y="268224"/>
                  </a:lnTo>
                  <a:lnTo>
                    <a:pt x="124968" y="268224"/>
                  </a:lnTo>
                  <a:lnTo>
                    <a:pt x="124968" y="260604"/>
                  </a:lnTo>
                  <a:lnTo>
                    <a:pt x="236220" y="260604"/>
                  </a:lnTo>
                  <a:lnTo>
                    <a:pt x="347459" y="260604"/>
                  </a:lnTo>
                  <a:lnTo>
                    <a:pt x="347459" y="24384"/>
                  </a:lnTo>
                  <a:close/>
                </a:path>
                <a:path w="7126605" h="268605">
                  <a:moveTo>
                    <a:pt x="1014984" y="24384"/>
                  </a:moveTo>
                  <a:lnTo>
                    <a:pt x="347472" y="24384"/>
                  </a:lnTo>
                  <a:lnTo>
                    <a:pt x="347472" y="260604"/>
                  </a:lnTo>
                  <a:lnTo>
                    <a:pt x="1014984" y="260604"/>
                  </a:lnTo>
                  <a:lnTo>
                    <a:pt x="1014984" y="24384"/>
                  </a:lnTo>
                  <a:close/>
                </a:path>
                <a:path w="7126605" h="268605">
                  <a:moveTo>
                    <a:pt x="1792236" y="24384"/>
                  </a:moveTo>
                  <a:lnTo>
                    <a:pt x="1126261" y="24384"/>
                  </a:lnTo>
                  <a:lnTo>
                    <a:pt x="1015009" y="24384"/>
                  </a:lnTo>
                  <a:lnTo>
                    <a:pt x="1015009" y="260604"/>
                  </a:lnTo>
                  <a:lnTo>
                    <a:pt x="1126261" y="260604"/>
                  </a:lnTo>
                  <a:lnTo>
                    <a:pt x="1792236" y="260604"/>
                  </a:lnTo>
                  <a:lnTo>
                    <a:pt x="1792236" y="24384"/>
                  </a:lnTo>
                  <a:close/>
                </a:path>
                <a:path w="7126605" h="268605">
                  <a:moveTo>
                    <a:pt x="2459748" y="24384"/>
                  </a:moveTo>
                  <a:lnTo>
                    <a:pt x="2348509" y="24384"/>
                  </a:lnTo>
                  <a:lnTo>
                    <a:pt x="2237257" y="24384"/>
                  </a:lnTo>
                  <a:lnTo>
                    <a:pt x="1792249" y="24384"/>
                  </a:lnTo>
                  <a:lnTo>
                    <a:pt x="1792249" y="260604"/>
                  </a:lnTo>
                  <a:lnTo>
                    <a:pt x="2237257" y="260604"/>
                  </a:lnTo>
                  <a:lnTo>
                    <a:pt x="2348509" y="260604"/>
                  </a:lnTo>
                  <a:lnTo>
                    <a:pt x="2459748" y="260604"/>
                  </a:lnTo>
                  <a:lnTo>
                    <a:pt x="2459748" y="24384"/>
                  </a:lnTo>
                  <a:close/>
                </a:path>
                <a:path w="7126605" h="268605">
                  <a:moveTo>
                    <a:pt x="3459492" y="24384"/>
                  </a:moveTo>
                  <a:lnTo>
                    <a:pt x="3237001" y="24384"/>
                  </a:lnTo>
                  <a:lnTo>
                    <a:pt x="2459761" y="24384"/>
                  </a:lnTo>
                  <a:lnTo>
                    <a:pt x="2459761" y="260604"/>
                  </a:lnTo>
                  <a:lnTo>
                    <a:pt x="3237001" y="260604"/>
                  </a:lnTo>
                  <a:lnTo>
                    <a:pt x="3459492" y="260604"/>
                  </a:lnTo>
                  <a:lnTo>
                    <a:pt x="3459492" y="24384"/>
                  </a:lnTo>
                  <a:close/>
                </a:path>
                <a:path w="7126605" h="268605">
                  <a:moveTo>
                    <a:pt x="7126249" y="24384"/>
                  </a:moveTo>
                  <a:lnTo>
                    <a:pt x="7126249" y="24384"/>
                  </a:lnTo>
                  <a:lnTo>
                    <a:pt x="3459505" y="24384"/>
                  </a:lnTo>
                  <a:lnTo>
                    <a:pt x="3459505" y="260604"/>
                  </a:lnTo>
                  <a:lnTo>
                    <a:pt x="7126249" y="260604"/>
                  </a:lnTo>
                  <a:lnTo>
                    <a:pt x="7126249" y="24384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1084" y="1461516"/>
            <a:ext cx="11170920" cy="175450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990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Verdana"/>
                <a:cs typeface="Verdana"/>
              </a:rPr>
              <a:t>La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saisie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texte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effectuée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100" dirty="0">
                <a:latin typeface="Verdana"/>
                <a:cs typeface="Verdana"/>
              </a:rPr>
              <a:t>avec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balise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b="1" i="1" spc="-195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18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b="1" i="1" spc="-145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1800" b="1" i="1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ayant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b="1" i="1" spc="-210" dirty="0">
                <a:solidFill>
                  <a:srgbClr val="FF0000"/>
                </a:solidFill>
                <a:latin typeface="Verdana"/>
                <a:cs typeface="Verdana"/>
              </a:rPr>
              <a:t>text</a:t>
            </a:r>
            <a:r>
              <a:rPr sz="18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9" dirty="0">
                <a:latin typeface="Verdana"/>
                <a:cs typeface="Verdana"/>
              </a:rPr>
              <a:t>»</a:t>
            </a:r>
            <a:endParaRPr sz="1800">
              <a:latin typeface="Verdana"/>
              <a:cs typeface="Verdana"/>
            </a:endParaRPr>
          </a:p>
          <a:p>
            <a:pPr marL="377825" marR="680085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b="1" i="1" spc="-180" dirty="0">
                <a:solidFill>
                  <a:srgbClr val="FF0000"/>
                </a:solidFill>
                <a:latin typeface="Verdana"/>
                <a:cs typeface="Verdana"/>
              </a:rPr>
              <a:t>maxlength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définit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nombre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maximum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90" dirty="0">
                <a:latin typeface="Verdana"/>
                <a:cs typeface="Verdana"/>
              </a:rPr>
              <a:t>de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caractères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qu’un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utilisateur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peut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entrer dans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zone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90" dirty="0">
                <a:latin typeface="Verdana"/>
                <a:cs typeface="Verdana"/>
              </a:rPr>
              <a:t>de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texte</a:t>
            </a:r>
            <a:endParaRPr sz="180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Nom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"nomText"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maxlength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"30"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3813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5" dirty="0"/>
              <a:t> </a:t>
            </a:r>
            <a:r>
              <a:rPr spc="-190" dirty="0"/>
              <a:t>saisie</a:t>
            </a:r>
            <a:r>
              <a:rPr spc="-229" dirty="0"/>
              <a:t> </a:t>
            </a:r>
            <a:r>
              <a:rPr spc="195" dirty="0"/>
              <a:t>de</a:t>
            </a:r>
            <a:r>
              <a:rPr spc="-270" dirty="0"/>
              <a:t> </a:t>
            </a:r>
            <a:r>
              <a:rPr spc="-50" dirty="0"/>
              <a:t>texte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60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95244" y="3563111"/>
            <a:ext cx="8365490" cy="1496695"/>
            <a:chOff x="3095244" y="3563111"/>
            <a:chExt cx="8365490" cy="149669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244" y="3563111"/>
              <a:ext cx="8365235" cy="14965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0316" y="3758183"/>
              <a:ext cx="7776972" cy="9083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597" y="1471993"/>
            <a:ext cx="11353165" cy="2256155"/>
            <a:chOff x="208597" y="1471993"/>
            <a:chExt cx="11353165" cy="2256155"/>
          </a:xfrm>
        </p:grpSpPr>
        <p:sp>
          <p:nvSpPr>
            <p:cNvPr id="3" name="object 3"/>
            <p:cNvSpPr/>
            <p:nvPr/>
          </p:nvSpPr>
          <p:spPr>
            <a:xfrm>
              <a:off x="213359" y="1476755"/>
              <a:ext cx="11343640" cy="2246630"/>
            </a:xfrm>
            <a:custGeom>
              <a:avLst/>
              <a:gdLst/>
              <a:ahLst/>
              <a:cxnLst/>
              <a:rect l="l" t="t" r="r" b="b"/>
              <a:pathLst>
                <a:path w="11343640" h="2246629">
                  <a:moveTo>
                    <a:pt x="11343132" y="0"/>
                  </a:moveTo>
                  <a:lnTo>
                    <a:pt x="0" y="0"/>
                  </a:lnTo>
                  <a:lnTo>
                    <a:pt x="0" y="2246376"/>
                  </a:lnTo>
                  <a:lnTo>
                    <a:pt x="11343132" y="2246376"/>
                  </a:lnTo>
                  <a:lnTo>
                    <a:pt x="11343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3359" y="1476755"/>
              <a:ext cx="11343640" cy="2246630"/>
            </a:xfrm>
            <a:custGeom>
              <a:avLst/>
              <a:gdLst/>
              <a:ahLst/>
              <a:cxnLst/>
              <a:rect l="l" t="t" r="r" b="b"/>
              <a:pathLst>
                <a:path w="11343640" h="2246629">
                  <a:moveTo>
                    <a:pt x="0" y="2246376"/>
                  </a:moveTo>
                  <a:lnTo>
                    <a:pt x="11343132" y="2246376"/>
                  </a:lnTo>
                  <a:lnTo>
                    <a:pt x="11343132" y="0"/>
                  </a:lnTo>
                  <a:lnTo>
                    <a:pt x="0" y="0"/>
                  </a:lnTo>
                  <a:lnTo>
                    <a:pt x="0" y="22463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1490" y="1452706"/>
            <a:ext cx="11017885" cy="196215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Verdana"/>
                <a:cs typeface="Verdana"/>
              </a:rPr>
              <a:t>La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saisie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mots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passe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effectuée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b="1" i="1" spc="-195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18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b="1" i="1" spc="-140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18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ayant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valeur</a:t>
            </a:r>
            <a:endParaRPr sz="18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b="1" i="1" spc="-190" dirty="0">
                <a:solidFill>
                  <a:srgbClr val="FF0000"/>
                </a:solidFill>
                <a:latin typeface="Verdana"/>
                <a:cs typeface="Verdana"/>
              </a:rPr>
              <a:t>password</a:t>
            </a:r>
            <a:r>
              <a:rPr sz="18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9" dirty="0">
                <a:latin typeface="Verdana"/>
                <a:cs typeface="Verdana"/>
              </a:rPr>
              <a:t>»</a:t>
            </a:r>
            <a:endParaRPr sz="1800" dirty="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b="1" i="1" spc="-180" dirty="0">
                <a:solidFill>
                  <a:srgbClr val="FF0000"/>
                </a:solidFill>
                <a:latin typeface="Verdana"/>
                <a:cs typeface="Verdana"/>
              </a:rPr>
              <a:t>maxlength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définit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nombre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maximum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caractères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qu’un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utilisateur </a:t>
            </a:r>
            <a:r>
              <a:rPr sz="1800" dirty="0">
                <a:latin typeface="Verdana"/>
                <a:cs typeface="Verdana"/>
              </a:rPr>
              <a:t>peut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entrer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dans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zone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mdp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Login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"loginText"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maxlength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"30"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050" y="3419475"/>
            <a:ext cx="7570470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9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MDP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"passText"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maxlength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"8"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"password"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/&gt;&lt;/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0" dirty="0"/>
              <a:t> </a:t>
            </a:r>
            <a:r>
              <a:rPr spc="-190" dirty="0"/>
              <a:t>saisie</a:t>
            </a:r>
            <a:r>
              <a:rPr spc="-225" dirty="0"/>
              <a:t> </a:t>
            </a:r>
            <a:r>
              <a:rPr spc="195" dirty="0"/>
              <a:t>de</a:t>
            </a:r>
            <a:r>
              <a:rPr spc="-270" dirty="0"/>
              <a:t> </a:t>
            </a:r>
            <a:r>
              <a:rPr spc="-185" dirty="0"/>
              <a:t>mots</a:t>
            </a:r>
            <a:r>
              <a:rPr spc="-240" dirty="0"/>
              <a:t> </a:t>
            </a:r>
            <a:r>
              <a:rPr spc="195" dirty="0"/>
              <a:t>de</a:t>
            </a:r>
            <a:r>
              <a:rPr spc="-270" dirty="0"/>
              <a:t> </a:t>
            </a:r>
            <a:r>
              <a:rPr spc="-10" dirty="0"/>
              <a:t>passe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61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20440" y="3692652"/>
            <a:ext cx="7663180" cy="1998345"/>
            <a:chOff x="3520440" y="3692652"/>
            <a:chExt cx="7663180" cy="19983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0440" y="3692652"/>
              <a:ext cx="7662671" cy="19979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5512" y="3887724"/>
              <a:ext cx="7074408" cy="1409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840" y="1546860"/>
            <a:ext cx="11218545" cy="1526059"/>
          </a:xfrm>
          <a:prstGeom prst="rect">
            <a:avLst/>
          </a:prstGeom>
          <a:solidFill>
            <a:srgbClr val="FFFFFF"/>
          </a:solidFill>
          <a:ln w="6096">
            <a:solidFill>
              <a:srgbClr val="000000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Verdana"/>
                <a:cs typeface="Verdana"/>
              </a:rPr>
              <a:t>La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95" dirty="0" err="1">
                <a:latin typeface="Verdana"/>
                <a:cs typeface="Verdana"/>
              </a:rPr>
              <a:t>saisie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lang="fr-FR" spc="95" dirty="0">
                <a:latin typeface="Verdana"/>
                <a:cs typeface="Verdana"/>
              </a:rPr>
              <a:t>des commentaires </a:t>
            </a:r>
            <a:r>
              <a:rPr sz="1800" spc="-100" dirty="0" err="1">
                <a:latin typeface="Verdana"/>
                <a:cs typeface="Verdana"/>
              </a:rPr>
              <a:t>est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effectuée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balise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textarea</a:t>
            </a:r>
            <a:endParaRPr sz="1800" dirty="0">
              <a:latin typeface="Verdana"/>
              <a:cs typeface="Verdana"/>
            </a:endParaRPr>
          </a:p>
          <a:p>
            <a:pPr marL="37782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b="1" i="1" spc="-265" dirty="0">
                <a:solidFill>
                  <a:srgbClr val="FF0000"/>
                </a:solidFill>
                <a:latin typeface="Verdana"/>
                <a:cs typeface="Verdana"/>
              </a:rPr>
              <a:t>rows</a:t>
            </a:r>
            <a:r>
              <a:rPr sz="18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définit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nombre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lignes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visibles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b="1" i="1" spc="-130" dirty="0">
                <a:solidFill>
                  <a:srgbClr val="FF0000"/>
                </a:solidFill>
                <a:latin typeface="Verdana"/>
                <a:cs typeface="Verdana"/>
              </a:rPr>
              <a:t>cols</a:t>
            </a:r>
            <a:r>
              <a:rPr sz="1800" spc="-130" dirty="0">
                <a:latin typeface="Verdana"/>
                <a:cs typeface="Verdana"/>
              </a:rPr>
              <a:t>,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nombre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90" dirty="0">
                <a:latin typeface="Verdana"/>
                <a:cs typeface="Verdana"/>
              </a:rPr>
              <a:t>de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colonnes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800" dirty="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Vos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commentaires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: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5584" y="3078607"/>
            <a:ext cx="5125720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9"/>
              </a:lnSpc>
            </a:pPr>
            <a:r>
              <a:rPr sz="16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600" u="heavy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textarea</a:t>
            </a:r>
            <a:r>
              <a:rPr sz="160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name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6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"comments"</a:t>
            </a:r>
            <a:r>
              <a:rPr sz="1600" b="1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 </a:t>
            </a: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rows</a:t>
            </a: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5"&gt;&lt;/</a:t>
            </a:r>
            <a:r>
              <a:rPr sz="1600" b="1" u="sng" spc="-10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textarea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9199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5" dirty="0"/>
              <a:t> </a:t>
            </a:r>
            <a:r>
              <a:rPr spc="-190" dirty="0"/>
              <a:t>saisie</a:t>
            </a:r>
            <a:r>
              <a:rPr spc="-235" dirty="0"/>
              <a:t> </a:t>
            </a:r>
            <a:r>
              <a:rPr spc="195" dirty="0"/>
              <a:t>de</a:t>
            </a:r>
            <a:r>
              <a:rPr spc="-270" dirty="0"/>
              <a:t> </a:t>
            </a:r>
            <a:r>
              <a:rPr dirty="0"/>
              <a:t>long</a:t>
            </a:r>
            <a:r>
              <a:rPr spc="-254" dirty="0"/>
              <a:t> </a:t>
            </a:r>
            <a:r>
              <a:rPr spc="-45" dirty="0"/>
              <a:t>texte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62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86227" y="3377184"/>
            <a:ext cx="9269095" cy="2612390"/>
            <a:chOff x="2586227" y="3377184"/>
            <a:chExt cx="9269095" cy="26123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6227" y="3377184"/>
              <a:ext cx="9268968" cy="26121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1299" y="3572256"/>
              <a:ext cx="8680704" cy="20238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304" y="1504188"/>
            <a:ext cx="11428730" cy="2822575"/>
            <a:chOff x="146304" y="1504188"/>
            <a:chExt cx="11428730" cy="2822575"/>
          </a:xfrm>
        </p:grpSpPr>
        <p:sp>
          <p:nvSpPr>
            <p:cNvPr id="3" name="object 3"/>
            <p:cNvSpPr/>
            <p:nvPr/>
          </p:nvSpPr>
          <p:spPr>
            <a:xfrm>
              <a:off x="149352" y="1507236"/>
              <a:ext cx="11422380" cy="2816860"/>
            </a:xfrm>
            <a:custGeom>
              <a:avLst/>
              <a:gdLst/>
              <a:ahLst/>
              <a:cxnLst/>
              <a:rect l="l" t="t" r="r" b="b"/>
              <a:pathLst>
                <a:path w="11422380" h="2816860">
                  <a:moveTo>
                    <a:pt x="11422380" y="0"/>
                  </a:moveTo>
                  <a:lnTo>
                    <a:pt x="0" y="0"/>
                  </a:lnTo>
                  <a:lnTo>
                    <a:pt x="0" y="2816352"/>
                  </a:lnTo>
                  <a:lnTo>
                    <a:pt x="11422380" y="2816352"/>
                  </a:lnTo>
                  <a:lnTo>
                    <a:pt x="11422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9352" y="1507236"/>
              <a:ext cx="11422380" cy="2816860"/>
            </a:xfrm>
            <a:custGeom>
              <a:avLst/>
              <a:gdLst/>
              <a:ahLst/>
              <a:cxnLst/>
              <a:rect l="l" t="t" r="r" b="b"/>
              <a:pathLst>
                <a:path w="11422380" h="2816860">
                  <a:moveTo>
                    <a:pt x="0" y="2816352"/>
                  </a:moveTo>
                  <a:lnTo>
                    <a:pt x="11422380" y="2816352"/>
                  </a:lnTo>
                  <a:lnTo>
                    <a:pt x="11422380" y="0"/>
                  </a:lnTo>
                  <a:lnTo>
                    <a:pt x="0" y="0"/>
                  </a:lnTo>
                  <a:lnTo>
                    <a:pt x="0" y="2816352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8396" y="1484355"/>
            <a:ext cx="10738485" cy="179260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45" dirty="0">
                <a:latin typeface="Verdana"/>
                <a:cs typeface="Verdana"/>
              </a:rPr>
              <a:t>Le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bouton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radio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effectuée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b="1" i="1" spc="-210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18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b="1" i="1" spc="-155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1800" b="1" i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ayant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b="1" i="1" spc="-140" dirty="0">
                <a:solidFill>
                  <a:srgbClr val="FF0000"/>
                </a:solidFill>
                <a:latin typeface="Verdana"/>
                <a:cs typeface="Verdana"/>
              </a:rPr>
              <a:t>radio</a:t>
            </a:r>
            <a:r>
              <a:rPr sz="1800" b="1" i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9" dirty="0">
                <a:latin typeface="Verdana"/>
                <a:cs typeface="Verdana"/>
              </a:rPr>
              <a:t>»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b="1" i="1" spc="-125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18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qui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va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être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envoyée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serveur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b="1" i="1" spc="-65" dirty="0">
                <a:solidFill>
                  <a:srgbClr val="FF0000"/>
                </a:solidFill>
                <a:latin typeface="Verdana"/>
                <a:cs typeface="Verdana"/>
              </a:rPr>
              <a:t>checked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04" dirty="0">
                <a:latin typeface="Verdana"/>
                <a:cs typeface="Verdana"/>
              </a:rPr>
              <a:t>si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bouton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110" dirty="0">
                <a:latin typeface="Verdana"/>
                <a:cs typeface="Verdana"/>
              </a:rPr>
              <a:t>coché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pas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Votre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langage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programmation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préféré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br</a:t>
            </a:r>
            <a:r>
              <a:rPr sz="16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0982" y="4013834"/>
            <a:ext cx="445134" cy="236220"/>
          </a:xfrm>
          <a:custGeom>
            <a:avLst/>
            <a:gdLst/>
            <a:ahLst/>
            <a:cxnLst/>
            <a:rect l="l" t="t" r="r" b="b"/>
            <a:pathLst>
              <a:path w="445134" h="236220">
                <a:moveTo>
                  <a:pt x="333743" y="0"/>
                </a:moveTo>
                <a:lnTo>
                  <a:pt x="222504" y="0"/>
                </a:lnTo>
                <a:lnTo>
                  <a:pt x="0" y="0"/>
                </a:lnTo>
                <a:lnTo>
                  <a:pt x="0" y="236220"/>
                </a:lnTo>
                <a:lnTo>
                  <a:pt x="222504" y="236220"/>
                </a:lnTo>
                <a:lnTo>
                  <a:pt x="333743" y="236220"/>
                </a:lnTo>
                <a:lnTo>
                  <a:pt x="333743" y="0"/>
                </a:lnTo>
                <a:close/>
              </a:path>
              <a:path w="445134" h="236220">
                <a:moveTo>
                  <a:pt x="445008" y="0"/>
                </a:moveTo>
                <a:lnTo>
                  <a:pt x="333756" y="0"/>
                </a:lnTo>
                <a:lnTo>
                  <a:pt x="333756" y="236220"/>
                </a:lnTo>
                <a:lnTo>
                  <a:pt x="445008" y="236220"/>
                </a:lnTo>
                <a:lnTo>
                  <a:pt x="445008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180692"/>
              </p:ext>
            </p:extLst>
          </p:nvPr>
        </p:nvGraphicFramePr>
        <p:xfrm>
          <a:off x="245600" y="3337038"/>
          <a:ext cx="5923915" cy="932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>
                        <a:lnSpc>
                          <a:spcPts val="1505"/>
                        </a:lnSpc>
                      </a:pPr>
                      <a:r>
                        <a:rPr sz="16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6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input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5"/>
                        </a:lnSpc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sz="1600" b="1" spc="-1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"langage"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505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value</a:t>
                      </a:r>
                      <a:r>
                        <a:rPr sz="16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"c#"</a:t>
                      </a:r>
                      <a:r>
                        <a:rPr sz="1600" b="1" spc="-7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sz="16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"radio"</a:t>
                      </a:r>
                      <a:r>
                        <a:rPr sz="1600" b="1" spc="-7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r>
                        <a:rPr sz="1600" b="1" spc="-20" dirty="0">
                          <a:latin typeface="Consolas"/>
                          <a:cs typeface="Consolas"/>
                        </a:rPr>
                        <a:t>C#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ts val="1670"/>
                        </a:lnSpc>
                      </a:pPr>
                      <a:r>
                        <a:rPr sz="16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6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input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sz="1600" b="1" spc="-1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"langage"</a:t>
                      </a:r>
                      <a:endParaRPr sz="16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value</a:t>
                      </a:r>
                      <a:r>
                        <a:rPr sz="16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"java"</a:t>
                      </a:r>
                      <a:r>
                        <a:rPr sz="1600" b="1" spc="-7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sz="1600" b="1" spc="-1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"radio"/&gt;</a:t>
                      </a:r>
                      <a:r>
                        <a:rPr sz="1600" b="1" spc="-10" dirty="0">
                          <a:latin typeface="Consolas"/>
                          <a:cs typeface="Consolas"/>
                        </a:rPr>
                        <a:t>Java</a:t>
                      </a:r>
                      <a:endParaRPr sz="16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pPr>
                        <a:lnSpc>
                          <a:spcPts val="1664"/>
                        </a:lnSpc>
                      </a:pPr>
                      <a:r>
                        <a:rPr sz="16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6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input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4"/>
                        </a:lnSpc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sz="1600" b="1" spc="-1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"langage"</a:t>
                      </a:r>
                      <a:endParaRPr sz="16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664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value</a:t>
                      </a:r>
                      <a:r>
                        <a:rPr sz="16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"php"</a:t>
                      </a:r>
                      <a:r>
                        <a:rPr sz="1600" b="1" spc="-7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sz="1600" b="1" spc="-1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"radio"/&gt;</a:t>
                      </a:r>
                      <a:r>
                        <a:rPr sz="1600" b="1" spc="-10" dirty="0">
                          <a:latin typeface="Consolas"/>
                          <a:cs typeface="Consolas"/>
                        </a:rPr>
                        <a:t>PHP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lnSpc>
                          <a:spcPts val="1760"/>
                        </a:lnSpc>
                      </a:pPr>
                      <a:r>
                        <a:rPr sz="16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600" spc="-2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p</a:t>
                      </a:r>
                      <a:r>
                        <a:rPr sz="16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6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Boutons</a:t>
            </a:r>
            <a:r>
              <a:rPr spc="-195" dirty="0"/>
              <a:t> </a:t>
            </a:r>
            <a:r>
              <a:rPr spc="-10" dirty="0"/>
              <a:t>radio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30396" y="4526279"/>
            <a:ext cx="7246620" cy="1641475"/>
            <a:chOff x="3930396" y="4526279"/>
            <a:chExt cx="7246620" cy="16414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0396" y="4526279"/>
              <a:ext cx="7246620" cy="16413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5468" y="4721351"/>
              <a:ext cx="6658356" cy="10530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759" y="1603247"/>
            <a:ext cx="11116310" cy="3610610"/>
            <a:chOff x="365759" y="1603247"/>
            <a:chExt cx="11116310" cy="3610610"/>
          </a:xfrm>
        </p:grpSpPr>
        <p:sp>
          <p:nvSpPr>
            <p:cNvPr id="3" name="object 3"/>
            <p:cNvSpPr/>
            <p:nvPr/>
          </p:nvSpPr>
          <p:spPr>
            <a:xfrm>
              <a:off x="370331" y="1607819"/>
              <a:ext cx="11107420" cy="3601720"/>
            </a:xfrm>
            <a:custGeom>
              <a:avLst/>
              <a:gdLst/>
              <a:ahLst/>
              <a:cxnLst/>
              <a:rect l="l" t="t" r="r" b="b"/>
              <a:pathLst>
                <a:path w="11107420" h="3601720">
                  <a:moveTo>
                    <a:pt x="11106912" y="0"/>
                  </a:moveTo>
                  <a:lnTo>
                    <a:pt x="0" y="0"/>
                  </a:lnTo>
                  <a:lnTo>
                    <a:pt x="0" y="3601211"/>
                  </a:lnTo>
                  <a:lnTo>
                    <a:pt x="11106912" y="3601211"/>
                  </a:lnTo>
                  <a:lnTo>
                    <a:pt x="11106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0331" y="1607819"/>
              <a:ext cx="11107420" cy="3601720"/>
            </a:xfrm>
            <a:custGeom>
              <a:avLst/>
              <a:gdLst/>
              <a:ahLst/>
              <a:cxnLst/>
              <a:rect l="l" t="t" r="r" b="b"/>
              <a:pathLst>
                <a:path w="11107420" h="3601720">
                  <a:moveTo>
                    <a:pt x="0" y="3601211"/>
                  </a:moveTo>
                  <a:lnTo>
                    <a:pt x="11106912" y="3601211"/>
                  </a:lnTo>
                  <a:lnTo>
                    <a:pt x="11106912" y="0"/>
                  </a:lnTo>
                  <a:lnTo>
                    <a:pt x="0" y="0"/>
                  </a:lnTo>
                  <a:lnTo>
                    <a:pt x="0" y="36012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1708" y="4862321"/>
              <a:ext cx="501650" cy="268605"/>
            </a:xfrm>
            <a:custGeom>
              <a:avLst/>
              <a:gdLst/>
              <a:ahLst/>
              <a:cxnLst/>
              <a:rect l="l" t="t" r="r" b="b"/>
              <a:pathLst>
                <a:path w="501650" h="268604">
                  <a:moveTo>
                    <a:pt x="501396" y="0"/>
                  </a:moveTo>
                  <a:lnTo>
                    <a:pt x="374904" y="0"/>
                  </a:lnTo>
                  <a:lnTo>
                    <a:pt x="249936" y="0"/>
                  </a:lnTo>
                  <a:lnTo>
                    <a:pt x="0" y="0"/>
                  </a:lnTo>
                  <a:lnTo>
                    <a:pt x="0" y="268224"/>
                  </a:lnTo>
                  <a:lnTo>
                    <a:pt x="249936" y="268224"/>
                  </a:lnTo>
                  <a:lnTo>
                    <a:pt x="374904" y="268224"/>
                  </a:lnTo>
                  <a:lnTo>
                    <a:pt x="501396" y="268224"/>
                  </a:lnTo>
                  <a:lnTo>
                    <a:pt x="501396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49072" y="1579197"/>
            <a:ext cx="10184130" cy="355346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case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cocher</a:t>
            </a:r>
            <a:r>
              <a:rPr sz="2000" spc="-95" dirty="0">
                <a:latin typeface="Verdana"/>
                <a:cs typeface="Verdana"/>
              </a:rPr>
              <a:t> est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effectuée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avec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balise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b="1" i="1" spc="-225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avec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l’attribut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20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ayant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la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latin typeface="Verdana"/>
                <a:cs typeface="Verdana"/>
              </a:rPr>
              <a:t>valeur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440" dirty="0">
                <a:latin typeface="Verdana"/>
                <a:cs typeface="Verdana"/>
              </a:rPr>
              <a:t>«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checkbox</a:t>
            </a:r>
            <a:r>
              <a:rPr sz="2000" b="1" i="1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»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b="1" i="1" spc="-145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2000" b="1" i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valeur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qui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être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envoyée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au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serveur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b="1" i="1" spc="-60" dirty="0">
                <a:solidFill>
                  <a:srgbClr val="FF0000"/>
                </a:solidFill>
                <a:latin typeface="Verdana"/>
                <a:cs typeface="Verdana"/>
              </a:rPr>
              <a:t>checked</a:t>
            </a:r>
            <a:r>
              <a:rPr sz="20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215" dirty="0">
                <a:latin typeface="Verdana"/>
                <a:cs typeface="Verdana"/>
              </a:rPr>
              <a:t>si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bouton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35" dirty="0">
                <a:latin typeface="Verdana"/>
                <a:cs typeface="Verdana"/>
              </a:rPr>
              <a:t>coché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pas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Vos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marques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préférées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: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br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"marque"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"microsoft"</a:t>
            </a:r>
            <a:r>
              <a:rPr sz="18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"checkbox"</a:t>
            </a:r>
            <a:r>
              <a:rPr sz="18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r>
              <a:rPr sz="1800" b="1" spc="-10" dirty="0">
                <a:latin typeface="Consolas"/>
                <a:cs typeface="Consolas"/>
              </a:rPr>
              <a:t>Microsoft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"marque"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"apple"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"checkbox"/&gt;</a:t>
            </a:r>
            <a:r>
              <a:rPr sz="1800" b="1" spc="-10" dirty="0">
                <a:latin typeface="Consolas"/>
                <a:cs typeface="Consolas"/>
              </a:rPr>
              <a:t>Apple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"marque"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"google"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"checkbox"/&gt;</a:t>
            </a:r>
            <a:r>
              <a:rPr sz="1800" b="1" spc="-10" dirty="0">
                <a:latin typeface="Consolas"/>
                <a:cs typeface="Consolas"/>
              </a:rPr>
              <a:t>Google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70" dirty="0"/>
              <a:t> </a:t>
            </a:r>
            <a:r>
              <a:rPr spc="-20" dirty="0"/>
              <a:t>cases</a:t>
            </a:r>
            <a:r>
              <a:rPr spc="-265" dirty="0"/>
              <a:t> </a:t>
            </a:r>
            <a:r>
              <a:rPr spc="280" dirty="0"/>
              <a:t>à</a:t>
            </a:r>
            <a:r>
              <a:rPr spc="-270" dirty="0"/>
              <a:t> </a:t>
            </a:r>
            <a:r>
              <a:rPr spc="100" dirty="0"/>
              <a:t>cocher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38600" y="4767071"/>
            <a:ext cx="6695440" cy="1554480"/>
            <a:chOff x="4038600" y="4767071"/>
            <a:chExt cx="6695440" cy="15544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600" y="4767071"/>
              <a:ext cx="6694932" cy="15544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3671" y="4962143"/>
              <a:ext cx="6106668" cy="9662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6405" y="1441577"/>
            <a:ext cx="11002010" cy="4161154"/>
            <a:chOff x="446405" y="1441577"/>
            <a:chExt cx="11002010" cy="4161154"/>
          </a:xfrm>
        </p:grpSpPr>
        <p:sp>
          <p:nvSpPr>
            <p:cNvPr id="3" name="object 3"/>
            <p:cNvSpPr/>
            <p:nvPr/>
          </p:nvSpPr>
          <p:spPr>
            <a:xfrm>
              <a:off x="449580" y="1444752"/>
              <a:ext cx="10995660" cy="4154804"/>
            </a:xfrm>
            <a:custGeom>
              <a:avLst/>
              <a:gdLst/>
              <a:ahLst/>
              <a:cxnLst/>
              <a:rect l="l" t="t" r="r" b="b"/>
              <a:pathLst>
                <a:path w="10995660" h="4154804">
                  <a:moveTo>
                    <a:pt x="10995660" y="0"/>
                  </a:moveTo>
                  <a:lnTo>
                    <a:pt x="0" y="0"/>
                  </a:lnTo>
                  <a:lnTo>
                    <a:pt x="0" y="4154424"/>
                  </a:lnTo>
                  <a:lnTo>
                    <a:pt x="10995660" y="4154424"/>
                  </a:lnTo>
                  <a:lnTo>
                    <a:pt x="10995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9580" y="1444752"/>
              <a:ext cx="10995660" cy="4154804"/>
            </a:xfrm>
            <a:custGeom>
              <a:avLst/>
              <a:gdLst/>
              <a:ahLst/>
              <a:cxnLst/>
              <a:rect l="l" t="t" r="r" b="b"/>
              <a:pathLst>
                <a:path w="10995660" h="4154804">
                  <a:moveTo>
                    <a:pt x="0" y="4154424"/>
                  </a:moveTo>
                  <a:lnTo>
                    <a:pt x="10995660" y="4154424"/>
                  </a:lnTo>
                  <a:lnTo>
                    <a:pt x="10995660" y="0"/>
                  </a:lnTo>
                  <a:lnTo>
                    <a:pt x="0" y="0"/>
                  </a:lnTo>
                  <a:lnTo>
                    <a:pt x="0" y="4154424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28015" y="1415008"/>
            <a:ext cx="10748010" cy="382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753554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20" dirty="0">
                <a:latin typeface="Verdana"/>
                <a:cs typeface="Verdana"/>
              </a:rPr>
              <a:t>liste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déroulante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définie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balise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FF0000"/>
                </a:solidFill>
                <a:latin typeface="Verdana"/>
                <a:cs typeface="Verdana"/>
              </a:rPr>
              <a:t>select,</a:t>
            </a:r>
            <a:r>
              <a:rPr sz="2000" b="1" i="1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balise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b="1" i="1" spc="-175" dirty="0">
                <a:solidFill>
                  <a:srgbClr val="FF0000"/>
                </a:solidFill>
                <a:latin typeface="Verdana"/>
                <a:cs typeface="Verdana"/>
              </a:rPr>
              <a:t>option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quant-</a:t>
            </a:r>
            <a:r>
              <a:rPr sz="2000" spc="-60" dirty="0">
                <a:latin typeface="Verdana"/>
                <a:cs typeface="Verdana"/>
              </a:rPr>
              <a:t>à-</a:t>
            </a:r>
            <a:r>
              <a:rPr sz="2000" spc="-30" dirty="0">
                <a:latin typeface="Verdana"/>
                <a:cs typeface="Verdana"/>
              </a:rPr>
              <a:t>elle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définit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éléments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cette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liste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b="1" i="1" spc="-145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2000" b="1" i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valeur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qui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être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envoyée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au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serveur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125" dirty="0">
                <a:solidFill>
                  <a:srgbClr val="FF0000"/>
                </a:solidFill>
                <a:latin typeface="Verdana"/>
                <a:cs typeface="Verdana"/>
              </a:rPr>
              <a:t>selected</a:t>
            </a:r>
            <a:r>
              <a:rPr sz="20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l’élément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sélectionné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après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chargement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100" dirty="0">
                <a:latin typeface="Verdana"/>
                <a:cs typeface="Verdana"/>
              </a:rPr>
              <a:t>page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Votre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wilaya</a:t>
            </a:r>
            <a:r>
              <a:rPr sz="1800" spc="-5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d'origine: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br</a:t>
            </a:r>
            <a:r>
              <a:rPr sz="18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sz="180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lang="fr-FR" b="1" spc="-10" dirty="0">
                <a:solidFill>
                  <a:srgbClr val="0000FF"/>
                </a:solidFill>
                <a:latin typeface="Consolas"/>
                <a:cs typeface="Consolas"/>
              </a:rPr>
              <a:t>D</a:t>
            </a:r>
            <a:r>
              <a:rPr lang="fr-FR" sz="1800" b="1" spc="-10" dirty="0">
                <a:solidFill>
                  <a:srgbClr val="0000FF"/>
                </a:solidFill>
                <a:latin typeface="Consolas"/>
                <a:cs typeface="Consolas"/>
              </a:rPr>
              <a:t>épartement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"16"&gt;</a:t>
            </a:r>
            <a:r>
              <a:rPr lang="fr-FR" sz="1800" b="1" spc="-10" dirty="0">
                <a:latin typeface="Consolas"/>
                <a:cs typeface="Consolas"/>
              </a:rPr>
              <a:t>Paris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"17"&gt;</a:t>
            </a:r>
            <a:r>
              <a:rPr lang="fr-FR" sz="1800" b="1" spc="-10" dirty="0">
                <a:solidFill>
                  <a:srgbClr val="0000FF"/>
                </a:solidFill>
                <a:latin typeface="Consolas"/>
                <a:cs typeface="Consolas"/>
              </a:rPr>
              <a:t>Lyon 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"18"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selected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"selected"&gt;</a:t>
            </a:r>
            <a:r>
              <a:rPr lang="fr-FR" sz="1800" b="1" spc="-10" dirty="0" err="1">
                <a:latin typeface="Consolas"/>
                <a:cs typeface="Consolas"/>
              </a:rPr>
              <a:t>yvelines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524" y="5247259"/>
            <a:ext cx="501650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50" dirty="0"/>
              <a:t> </a:t>
            </a:r>
            <a:r>
              <a:rPr spc="-265" dirty="0"/>
              <a:t>listes</a:t>
            </a:r>
            <a:r>
              <a:rPr spc="-225" dirty="0"/>
              <a:t> </a:t>
            </a:r>
            <a:r>
              <a:rPr spc="-35" dirty="0"/>
              <a:t>déroulantes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0311" y="1446275"/>
            <a:ext cx="11269980" cy="4162425"/>
            <a:chOff x="210311" y="1446275"/>
            <a:chExt cx="11269980" cy="4162425"/>
          </a:xfrm>
        </p:grpSpPr>
        <p:sp>
          <p:nvSpPr>
            <p:cNvPr id="3" name="object 3"/>
            <p:cNvSpPr/>
            <p:nvPr/>
          </p:nvSpPr>
          <p:spPr>
            <a:xfrm>
              <a:off x="213359" y="1449323"/>
              <a:ext cx="11264265" cy="4156075"/>
            </a:xfrm>
            <a:custGeom>
              <a:avLst/>
              <a:gdLst/>
              <a:ahLst/>
              <a:cxnLst/>
              <a:rect l="l" t="t" r="r" b="b"/>
              <a:pathLst>
                <a:path w="11264265" h="4156075">
                  <a:moveTo>
                    <a:pt x="11263884" y="0"/>
                  </a:moveTo>
                  <a:lnTo>
                    <a:pt x="0" y="0"/>
                  </a:lnTo>
                  <a:lnTo>
                    <a:pt x="0" y="4155948"/>
                  </a:lnTo>
                  <a:lnTo>
                    <a:pt x="11263884" y="4155948"/>
                  </a:lnTo>
                  <a:lnTo>
                    <a:pt x="11263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3359" y="1449323"/>
              <a:ext cx="11264265" cy="4156075"/>
            </a:xfrm>
            <a:custGeom>
              <a:avLst/>
              <a:gdLst/>
              <a:ahLst/>
              <a:cxnLst/>
              <a:rect l="l" t="t" r="r" b="b"/>
              <a:pathLst>
                <a:path w="11264265" h="4156075">
                  <a:moveTo>
                    <a:pt x="0" y="4155948"/>
                  </a:moveTo>
                  <a:lnTo>
                    <a:pt x="11263884" y="4155948"/>
                  </a:lnTo>
                  <a:lnTo>
                    <a:pt x="11263884" y="0"/>
                  </a:lnTo>
                  <a:lnTo>
                    <a:pt x="0" y="0"/>
                  </a:lnTo>
                  <a:lnTo>
                    <a:pt x="0" y="4155948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1490" y="1420215"/>
            <a:ext cx="10938510" cy="382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8553450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20" dirty="0">
                <a:latin typeface="Verdana"/>
                <a:cs typeface="Verdana"/>
              </a:rPr>
              <a:t>liste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sélection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multiple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définie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balise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FF0000"/>
                </a:solidFill>
                <a:latin typeface="Verdana"/>
                <a:cs typeface="Verdana"/>
              </a:rPr>
              <a:t>select,</a:t>
            </a:r>
            <a:r>
              <a:rPr sz="20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balise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b="1" i="1" spc="-175" dirty="0">
                <a:solidFill>
                  <a:srgbClr val="FF0000"/>
                </a:solidFill>
                <a:latin typeface="Verdana"/>
                <a:cs typeface="Verdana"/>
              </a:rPr>
              <a:t>option</a:t>
            </a:r>
            <a:r>
              <a:rPr sz="2000" b="1" i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quant-</a:t>
            </a:r>
            <a:r>
              <a:rPr sz="2000" spc="-60" dirty="0">
                <a:latin typeface="Verdana"/>
                <a:cs typeface="Verdana"/>
              </a:rPr>
              <a:t>à-</a:t>
            </a:r>
            <a:r>
              <a:rPr sz="2000" spc="-20" dirty="0">
                <a:latin typeface="Verdana"/>
                <a:cs typeface="Verdana"/>
              </a:rPr>
              <a:t>elle </a:t>
            </a:r>
            <a:r>
              <a:rPr sz="2000" spc="-55" dirty="0">
                <a:latin typeface="Verdana"/>
                <a:cs typeface="Verdana"/>
              </a:rPr>
              <a:t>définit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éléments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cette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liste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b="1" i="1" spc="-225" dirty="0">
                <a:solidFill>
                  <a:srgbClr val="FF0000"/>
                </a:solidFill>
                <a:latin typeface="Verdana"/>
                <a:cs typeface="Verdana"/>
              </a:rPr>
              <a:t>size</a:t>
            </a:r>
            <a:r>
              <a:rPr sz="2000" b="1" i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nombre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d’éléments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visibles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simultanément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b="1" i="1" spc="-204" dirty="0">
                <a:solidFill>
                  <a:srgbClr val="FF0000"/>
                </a:solidFill>
                <a:latin typeface="Verdana"/>
                <a:cs typeface="Verdana"/>
              </a:rPr>
              <a:t>multiple</a:t>
            </a:r>
            <a:r>
              <a:rPr sz="2000" b="1" i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que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l’utilisateur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peut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sélectionner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plusieurs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élments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Les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langues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que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vous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parlez: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br</a:t>
            </a:r>
            <a:r>
              <a:rPr sz="18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sz="18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“langue"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multiple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"multiple"&gt;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"ar"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selected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"selected"&gt;</a:t>
            </a:r>
            <a:r>
              <a:rPr lang="fr-FR" b="1" spc="-10" dirty="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r>
              <a:rPr lang="fr-FR" sz="1800" b="1" spc="-10" dirty="0">
                <a:solidFill>
                  <a:srgbClr val="0000FF"/>
                </a:solidFill>
                <a:latin typeface="Consolas"/>
                <a:cs typeface="Consolas"/>
              </a:rPr>
              <a:t>utre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"fr"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selected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"selected"&gt;</a:t>
            </a:r>
            <a:r>
              <a:rPr sz="1800" b="1" spc="-10" dirty="0">
                <a:latin typeface="Consolas"/>
                <a:cs typeface="Consolas"/>
              </a:rPr>
              <a:t>Français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«</a:t>
            </a:r>
            <a:r>
              <a:rPr sz="18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en"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b="1" spc="-10" dirty="0">
                <a:latin typeface="Consolas"/>
                <a:cs typeface="Consolas"/>
              </a:rPr>
              <a:t>Anglais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option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050" y="5252465"/>
            <a:ext cx="501650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60" dirty="0"/>
              <a:t> </a:t>
            </a:r>
            <a:r>
              <a:rPr spc="-265" dirty="0"/>
              <a:t>listes</a:t>
            </a:r>
            <a:r>
              <a:rPr spc="-235" dirty="0"/>
              <a:t> </a:t>
            </a:r>
            <a:r>
              <a:rPr spc="280" dirty="0"/>
              <a:t>à</a:t>
            </a:r>
            <a:r>
              <a:rPr spc="-254" dirty="0"/>
              <a:t> </a:t>
            </a:r>
            <a:r>
              <a:rPr spc="-40" dirty="0"/>
              <a:t>sélection</a:t>
            </a:r>
            <a:r>
              <a:rPr spc="-240" dirty="0"/>
              <a:t> </a:t>
            </a:r>
            <a:r>
              <a:rPr spc="-120" dirty="0"/>
              <a:t>multiples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108" y="1415008"/>
            <a:ext cx="100368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125" dirty="0">
                <a:solidFill>
                  <a:srgbClr val="FF0000"/>
                </a:solidFill>
                <a:latin typeface="Verdana"/>
                <a:cs typeface="Verdana"/>
              </a:rPr>
              <a:t>enctype</a:t>
            </a:r>
            <a:r>
              <a:rPr sz="20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définit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comment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sont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encodées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lorsqu’elles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sont envoyées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au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serveur.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Les </a:t>
            </a:r>
            <a:r>
              <a:rPr sz="2000" spc="-85" dirty="0">
                <a:latin typeface="Verdana"/>
                <a:cs typeface="Verdana"/>
              </a:rPr>
              <a:t>valeurs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suivantes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sont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possibles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15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Encodage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67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94536" y="3532251"/>
          <a:ext cx="9578340" cy="2289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Encodage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 marR="601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application/x-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www-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form-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urlencoded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613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Valeur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défaut.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caractères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encodés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en 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ASCII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et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espaces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remplacés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0" dirty="0">
                          <a:latin typeface="Verdana"/>
                          <a:cs typeface="Verdana"/>
                        </a:rPr>
                        <a:t>+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85" dirty="0">
                          <a:latin typeface="Verdana"/>
                          <a:cs typeface="Verdana"/>
                        </a:rPr>
                        <a:t>multipart/form-</a:t>
                      </a:r>
                      <a:r>
                        <a:rPr sz="1800" spc="50" dirty="0">
                          <a:latin typeface="Verdana"/>
                          <a:cs typeface="Verdana"/>
                        </a:rPr>
                        <a:t>data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11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caractères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ne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pas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encodés.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Utilisé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lorsque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le 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formulaire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inclut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upload.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text/plain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89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caractères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ne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encodés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mais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espaces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sont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remplacés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des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9" dirty="0">
                          <a:latin typeface="Verdana"/>
                          <a:cs typeface="Verdana"/>
                        </a:rPr>
                        <a:t>«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00" dirty="0">
                          <a:latin typeface="Verdana"/>
                          <a:cs typeface="Verdana"/>
                        </a:rPr>
                        <a:t>+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9" dirty="0">
                          <a:latin typeface="Verdana"/>
                          <a:cs typeface="Verdana"/>
                        </a:rPr>
                        <a:t>»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668" y="1379092"/>
            <a:ext cx="11255375" cy="3700779"/>
            <a:chOff x="272668" y="1379092"/>
            <a:chExt cx="11255375" cy="3700779"/>
          </a:xfrm>
        </p:grpSpPr>
        <p:sp>
          <p:nvSpPr>
            <p:cNvPr id="3" name="object 3"/>
            <p:cNvSpPr/>
            <p:nvPr/>
          </p:nvSpPr>
          <p:spPr>
            <a:xfrm>
              <a:off x="275843" y="1382267"/>
              <a:ext cx="11249025" cy="3694429"/>
            </a:xfrm>
            <a:custGeom>
              <a:avLst/>
              <a:gdLst/>
              <a:ahLst/>
              <a:cxnLst/>
              <a:rect l="l" t="t" r="r" b="b"/>
              <a:pathLst>
                <a:path w="11249025" h="3694429">
                  <a:moveTo>
                    <a:pt x="11248644" y="0"/>
                  </a:moveTo>
                  <a:lnTo>
                    <a:pt x="0" y="0"/>
                  </a:lnTo>
                  <a:lnTo>
                    <a:pt x="0" y="3694176"/>
                  </a:lnTo>
                  <a:lnTo>
                    <a:pt x="11248644" y="3694176"/>
                  </a:lnTo>
                  <a:lnTo>
                    <a:pt x="11248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5843" y="1382267"/>
              <a:ext cx="11249025" cy="3694429"/>
            </a:xfrm>
            <a:custGeom>
              <a:avLst/>
              <a:gdLst/>
              <a:ahLst/>
              <a:cxnLst/>
              <a:rect l="l" t="t" r="r" b="b"/>
              <a:pathLst>
                <a:path w="11249025" h="3694429">
                  <a:moveTo>
                    <a:pt x="0" y="3694176"/>
                  </a:moveTo>
                  <a:lnTo>
                    <a:pt x="11248644" y="3694176"/>
                  </a:lnTo>
                  <a:lnTo>
                    <a:pt x="11248644" y="0"/>
                  </a:lnTo>
                  <a:lnTo>
                    <a:pt x="0" y="0"/>
                  </a:lnTo>
                  <a:lnTo>
                    <a:pt x="0" y="3694176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4584" y="1359408"/>
            <a:ext cx="10744835" cy="336169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Verdana"/>
                <a:cs typeface="Verdana"/>
              </a:rPr>
              <a:t>L’upload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fichiers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effectué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b="1" i="1" spc="-210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1800" b="1" i="1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b="1" i="1" spc="-155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1800" b="1" i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ayant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b="1" i="1" spc="-180" dirty="0">
                <a:solidFill>
                  <a:srgbClr val="FF0000"/>
                </a:solidFill>
                <a:latin typeface="Verdana"/>
                <a:cs typeface="Verdana"/>
              </a:rPr>
              <a:t>file</a:t>
            </a:r>
            <a:r>
              <a:rPr sz="1800" b="1" i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9" dirty="0">
                <a:latin typeface="Verdana"/>
                <a:cs typeface="Verdana"/>
              </a:rPr>
              <a:t>»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45" dirty="0">
                <a:latin typeface="Verdana"/>
                <a:cs typeface="Verdana"/>
              </a:rPr>
              <a:t>Le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navigateur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ajoute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automatiquement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le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bouton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parcourir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409" dirty="0">
                <a:latin typeface="Verdana"/>
                <a:cs typeface="Verdana"/>
              </a:rPr>
              <a:t>»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contrôle</a:t>
            </a:r>
            <a:endParaRPr sz="1800">
              <a:latin typeface="Verdana"/>
              <a:cs typeface="Verdana"/>
            </a:endParaRPr>
          </a:p>
          <a:p>
            <a:pPr marL="299085" marR="38544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Pour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pouvoir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faire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des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uploads,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méthode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formulaire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doit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être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obligatoirement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b="1" i="1" spc="-295" dirty="0">
                <a:solidFill>
                  <a:srgbClr val="FF0000"/>
                </a:solidFill>
                <a:latin typeface="Verdana"/>
                <a:cs typeface="Verdana"/>
              </a:rPr>
              <a:t>POST</a:t>
            </a:r>
            <a:r>
              <a:rPr sz="1800" b="1" i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et </a:t>
            </a:r>
            <a:r>
              <a:rPr sz="1800" dirty="0">
                <a:latin typeface="Verdana"/>
                <a:cs typeface="Verdana"/>
              </a:rPr>
              <a:t>enctype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150" dirty="0">
                <a:latin typeface="Verdana"/>
                <a:cs typeface="Verdana"/>
              </a:rPr>
              <a:t>à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b="1" i="1" spc="-225" dirty="0">
                <a:solidFill>
                  <a:srgbClr val="FF0000"/>
                </a:solidFill>
                <a:latin typeface="Verdana"/>
                <a:cs typeface="Verdana"/>
              </a:rPr>
              <a:t>multipart/form-</a:t>
            </a:r>
            <a:r>
              <a:rPr sz="1800" b="1" i="1" spc="-20" dirty="0">
                <a:solidFill>
                  <a:srgbClr val="FF0000"/>
                </a:solidFill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1800" b="1" spc="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enctype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"multipart/form-data"&gt;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olas"/>
                <a:cs typeface="Consolas"/>
              </a:rPr>
              <a:t>Veuillez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inclure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votre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CV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svp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br</a:t>
            </a:r>
            <a:r>
              <a:rPr sz="18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"file"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"cv"</a:t>
            </a:r>
            <a:r>
              <a:rPr sz="18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"ok"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106" y="4728083"/>
            <a:ext cx="878205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Uploader</a:t>
            </a:r>
            <a:r>
              <a:rPr spc="-225" dirty="0"/>
              <a:t> </a:t>
            </a:r>
            <a:r>
              <a:rPr spc="-20" dirty="0"/>
              <a:t>des</a:t>
            </a:r>
            <a:r>
              <a:rPr spc="-240" dirty="0"/>
              <a:t> </a:t>
            </a:r>
            <a:r>
              <a:rPr spc="-125" dirty="0"/>
              <a:t>fichiers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68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01411" y="4002023"/>
            <a:ext cx="6259195" cy="2019300"/>
            <a:chOff x="5201411" y="4002023"/>
            <a:chExt cx="6259195" cy="20193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1411" y="4002023"/>
              <a:ext cx="6259068" cy="2019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6483" y="4197095"/>
              <a:ext cx="5670804" cy="1431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1644" y="1488821"/>
            <a:ext cx="11066145" cy="2868930"/>
            <a:chOff x="461644" y="1488821"/>
            <a:chExt cx="11066145" cy="2868930"/>
          </a:xfrm>
        </p:grpSpPr>
        <p:sp>
          <p:nvSpPr>
            <p:cNvPr id="3" name="object 3"/>
            <p:cNvSpPr/>
            <p:nvPr/>
          </p:nvSpPr>
          <p:spPr>
            <a:xfrm>
              <a:off x="464819" y="1491996"/>
              <a:ext cx="11059795" cy="2862580"/>
            </a:xfrm>
            <a:custGeom>
              <a:avLst/>
              <a:gdLst/>
              <a:ahLst/>
              <a:cxnLst/>
              <a:rect l="l" t="t" r="r" b="b"/>
              <a:pathLst>
                <a:path w="11059795" h="2862579">
                  <a:moveTo>
                    <a:pt x="11059668" y="0"/>
                  </a:moveTo>
                  <a:lnTo>
                    <a:pt x="0" y="0"/>
                  </a:lnTo>
                  <a:lnTo>
                    <a:pt x="0" y="2862072"/>
                  </a:lnTo>
                  <a:lnTo>
                    <a:pt x="11059668" y="2862072"/>
                  </a:lnTo>
                  <a:lnTo>
                    <a:pt x="110596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4819" y="1491996"/>
              <a:ext cx="11059795" cy="2862580"/>
            </a:xfrm>
            <a:custGeom>
              <a:avLst/>
              <a:gdLst/>
              <a:ahLst/>
              <a:cxnLst/>
              <a:rect l="l" t="t" r="r" b="b"/>
              <a:pathLst>
                <a:path w="11059795" h="2862579">
                  <a:moveTo>
                    <a:pt x="0" y="2862072"/>
                  </a:moveTo>
                  <a:lnTo>
                    <a:pt x="11059668" y="2862072"/>
                  </a:lnTo>
                  <a:lnTo>
                    <a:pt x="11059668" y="0"/>
                  </a:lnTo>
                  <a:lnTo>
                    <a:pt x="0" y="0"/>
                  </a:lnTo>
                  <a:lnTo>
                    <a:pt x="0" y="2862072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3559" y="1469749"/>
            <a:ext cx="10165715" cy="25374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45" dirty="0">
                <a:latin typeface="Verdana"/>
                <a:cs typeface="Verdana"/>
              </a:rPr>
              <a:t>Le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bouton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type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image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défini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b="1" i="1" spc="-210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18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b="1" i="1" spc="-155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18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ayant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valeur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409" dirty="0">
                <a:latin typeface="Verdana"/>
                <a:cs typeface="Verdana"/>
              </a:rPr>
              <a:t>«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b="1" i="1" spc="-114" dirty="0">
                <a:solidFill>
                  <a:srgbClr val="FF0000"/>
                </a:solidFill>
                <a:latin typeface="Verdana"/>
                <a:cs typeface="Verdana"/>
              </a:rPr>
              <a:t>image</a:t>
            </a:r>
            <a:r>
              <a:rPr sz="18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9" dirty="0">
                <a:latin typeface="Verdana"/>
                <a:cs typeface="Verdana"/>
              </a:rPr>
              <a:t>»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 marR="9519285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Nom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“nom"</a:t>
            </a:r>
            <a:r>
              <a:rPr sz="18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"image"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src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"Images/bouton.gif"</a:t>
            </a:r>
            <a:r>
              <a:rPr sz="18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298" y="4014470"/>
            <a:ext cx="878205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Boutons</a:t>
            </a:r>
            <a:r>
              <a:rPr spc="-229" dirty="0"/>
              <a:t> </a:t>
            </a:r>
            <a:r>
              <a:rPr spc="195" dirty="0"/>
              <a:t>de</a:t>
            </a:r>
            <a:r>
              <a:rPr spc="-250" dirty="0"/>
              <a:t> </a:t>
            </a:r>
            <a:r>
              <a:rPr dirty="0"/>
              <a:t>type</a:t>
            </a:r>
            <a:r>
              <a:rPr spc="-270" dirty="0"/>
              <a:t> </a:t>
            </a:r>
            <a:r>
              <a:rPr spc="-10" dirty="0"/>
              <a:t>image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69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55820" y="3991355"/>
            <a:ext cx="6403975" cy="2313940"/>
            <a:chOff x="4655820" y="3991355"/>
            <a:chExt cx="6403975" cy="23139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5820" y="3991355"/>
              <a:ext cx="6403848" cy="2313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0892" y="4186427"/>
              <a:ext cx="5815584" cy="17251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544" y="1456944"/>
            <a:ext cx="11050905" cy="3284220"/>
            <a:chOff x="161544" y="1456944"/>
            <a:chExt cx="11050905" cy="3284220"/>
          </a:xfrm>
        </p:grpSpPr>
        <p:sp>
          <p:nvSpPr>
            <p:cNvPr id="3" name="object 3"/>
            <p:cNvSpPr/>
            <p:nvPr/>
          </p:nvSpPr>
          <p:spPr>
            <a:xfrm>
              <a:off x="164592" y="1459992"/>
              <a:ext cx="11044555" cy="3278504"/>
            </a:xfrm>
            <a:custGeom>
              <a:avLst/>
              <a:gdLst/>
              <a:ahLst/>
              <a:cxnLst/>
              <a:rect l="l" t="t" r="r" b="b"/>
              <a:pathLst>
                <a:path w="11044555" h="3278504">
                  <a:moveTo>
                    <a:pt x="11044428" y="0"/>
                  </a:moveTo>
                  <a:lnTo>
                    <a:pt x="0" y="0"/>
                  </a:lnTo>
                  <a:lnTo>
                    <a:pt x="0" y="3278124"/>
                  </a:lnTo>
                  <a:lnTo>
                    <a:pt x="11044428" y="3278124"/>
                  </a:lnTo>
                  <a:lnTo>
                    <a:pt x="11044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4592" y="1459992"/>
              <a:ext cx="11044555" cy="3278504"/>
            </a:xfrm>
            <a:custGeom>
              <a:avLst/>
              <a:gdLst/>
              <a:ahLst/>
              <a:cxnLst/>
              <a:rect l="l" t="t" r="r" b="b"/>
              <a:pathLst>
                <a:path w="11044555" h="3278504">
                  <a:moveTo>
                    <a:pt x="0" y="3278124"/>
                  </a:moveTo>
                  <a:lnTo>
                    <a:pt x="11044428" y="3278124"/>
                  </a:lnTo>
                  <a:lnTo>
                    <a:pt x="11044428" y="0"/>
                  </a:lnTo>
                  <a:lnTo>
                    <a:pt x="0" y="0"/>
                  </a:lnTo>
                  <a:lnTo>
                    <a:pt x="0" y="3278124"/>
                  </a:lnTo>
                  <a:close/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4246" y="1437893"/>
            <a:ext cx="5393690" cy="29489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45" dirty="0">
                <a:latin typeface="Verdana"/>
                <a:cs typeface="Verdana"/>
              </a:rPr>
              <a:t>Le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bouton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 </a:t>
            </a:r>
            <a:r>
              <a:rPr sz="1800" spc="-45" dirty="0">
                <a:latin typeface="Verdana"/>
                <a:cs typeface="Verdana"/>
              </a:rPr>
              <a:t>défini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b="1" i="1" spc="-20" dirty="0">
                <a:solidFill>
                  <a:srgbClr val="FF0000"/>
                </a:solidFill>
                <a:latin typeface="Verdana"/>
                <a:cs typeface="Verdana"/>
              </a:rPr>
              <a:t>button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14" dirty="0">
                <a:latin typeface="Verdana"/>
                <a:cs typeface="Verdana"/>
              </a:rPr>
              <a:t>Un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bouton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transforme </a:t>
            </a:r>
            <a:r>
              <a:rPr sz="1800" spc="-80" dirty="0">
                <a:latin typeface="Verdana"/>
                <a:cs typeface="Verdana"/>
              </a:rPr>
              <a:t>son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contenu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bouton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"post"&gt;</a:t>
            </a:r>
            <a:endParaRPr sz="1800" dirty="0">
              <a:latin typeface="Consolas"/>
              <a:cs typeface="Consolas"/>
            </a:endParaRPr>
          </a:p>
          <a:p>
            <a:pPr marL="12700" marR="4747260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Nom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“nom"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button</a:t>
            </a:r>
            <a:r>
              <a:rPr sz="18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"send"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b="1" spc="-10" dirty="0">
                <a:latin typeface="Consolas"/>
                <a:cs typeface="Consolas"/>
              </a:rPr>
              <a:t>Envoyer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button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755" y="4394327"/>
            <a:ext cx="878205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54" dirty="0"/>
              <a:t> </a:t>
            </a:r>
            <a:r>
              <a:rPr spc="-35" dirty="0"/>
              <a:t>boutons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70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05071" y="4230623"/>
            <a:ext cx="7210425" cy="1918970"/>
            <a:chOff x="4005071" y="4230623"/>
            <a:chExt cx="7210425" cy="191897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5071" y="4230623"/>
              <a:ext cx="7210044" cy="19187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0143" y="4425695"/>
              <a:ext cx="6621780" cy="13304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023" y="1452372"/>
            <a:ext cx="11369040" cy="4395470"/>
            <a:chOff x="192023" y="1452372"/>
            <a:chExt cx="11369040" cy="4395470"/>
          </a:xfrm>
        </p:grpSpPr>
        <p:sp>
          <p:nvSpPr>
            <p:cNvPr id="3" name="object 3"/>
            <p:cNvSpPr/>
            <p:nvPr/>
          </p:nvSpPr>
          <p:spPr>
            <a:xfrm>
              <a:off x="196595" y="1456944"/>
              <a:ext cx="11360150" cy="4386580"/>
            </a:xfrm>
            <a:custGeom>
              <a:avLst/>
              <a:gdLst/>
              <a:ahLst/>
              <a:cxnLst/>
              <a:rect l="l" t="t" r="r" b="b"/>
              <a:pathLst>
                <a:path w="11360150" h="4386580">
                  <a:moveTo>
                    <a:pt x="11359896" y="0"/>
                  </a:moveTo>
                  <a:lnTo>
                    <a:pt x="0" y="0"/>
                  </a:lnTo>
                  <a:lnTo>
                    <a:pt x="0" y="4386072"/>
                  </a:lnTo>
                  <a:lnTo>
                    <a:pt x="11359896" y="4386072"/>
                  </a:lnTo>
                  <a:lnTo>
                    <a:pt x="11359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6595" y="1456944"/>
              <a:ext cx="11360150" cy="4386580"/>
            </a:xfrm>
            <a:custGeom>
              <a:avLst/>
              <a:gdLst/>
              <a:ahLst/>
              <a:cxnLst/>
              <a:rect l="l" t="t" r="r" b="b"/>
              <a:pathLst>
                <a:path w="11360150" h="4386580">
                  <a:moveTo>
                    <a:pt x="0" y="4386072"/>
                  </a:moveTo>
                  <a:lnTo>
                    <a:pt x="11359896" y="4386072"/>
                  </a:lnTo>
                  <a:lnTo>
                    <a:pt x="11359896" y="0"/>
                  </a:lnTo>
                  <a:lnTo>
                    <a:pt x="0" y="0"/>
                  </a:lnTo>
                  <a:lnTo>
                    <a:pt x="0" y="43860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5640" y="1434084"/>
            <a:ext cx="10962640" cy="404749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14" dirty="0">
                <a:latin typeface="Verdana"/>
                <a:cs typeface="Verdana"/>
              </a:rPr>
              <a:t>Un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champ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120" dirty="0">
                <a:latin typeface="Verdana"/>
                <a:cs typeface="Verdana"/>
              </a:rPr>
              <a:t>caché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 </a:t>
            </a:r>
            <a:r>
              <a:rPr sz="1800" spc="-40" dirty="0">
                <a:latin typeface="Verdana"/>
                <a:cs typeface="Verdana"/>
              </a:rPr>
              <a:t>défini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b="1" i="1" spc="-210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18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l’attribut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b="1" i="1" spc="-155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ayant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hidden</a:t>
            </a:r>
            <a:endParaRPr sz="180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20" dirty="0">
                <a:latin typeface="Verdana"/>
                <a:cs typeface="Verdana"/>
              </a:rPr>
              <a:t>Les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champs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55" dirty="0">
                <a:latin typeface="Verdana"/>
                <a:cs typeface="Verdana"/>
              </a:rPr>
              <a:t>cachés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sont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très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importants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car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70" dirty="0">
                <a:latin typeface="Verdana"/>
                <a:cs typeface="Verdana"/>
              </a:rPr>
              <a:t>ils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intègrent </a:t>
            </a:r>
            <a:r>
              <a:rPr sz="1800" spc="-20" dirty="0">
                <a:latin typeface="Verdana"/>
                <a:cs typeface="Verdana"/>
              </a:rPr>
              <a:t>des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informations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qui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doivent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être </a:t>
            </a:r>
            <a:r>
              <a:rPr sz="1800" spc="-80" dirty="0">
                <a:latin typeface="Verdana"/>
                <a:cs typeface="Verdana"/>
              </a:rPr>
              <a:t>visible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150" dirty="0">
                <a:latin typeface="Verdana"/>
                <a:cs typeface="Verdana"/>
              </a:rPr>
              <a:t>à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l’utilisateur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mais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qui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doivent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être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remontées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serveur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b="1" i="1" spc="-145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donne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champ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caché.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seule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60" dirty="0">
                <a:latin typeface="Verdana"/>
                <a:cs typeface="Verdana"/>
              </a:rPr>
              <a:t>façon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voir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voir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105" dirty="0">
                <a:latin typeface="Verdana"/>
                <a:cs typeface="Verdana"/>
              </a:rPr>
              <a:t>code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Verdana"/>
                <a:cs typeface="Verdana"/>
              </a:rPr>
              <a:t>source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"post"&gt;</a:t>
            </a:r>
            <a:endParaRPr sz="1800">
              <a:latin typeface="Consolas"/>
              <a:cs typeface="Consolas"/>
            </a:endParaRPr>
          </a:p>
          <a:p>
            <a:pPr marL="12700" marR="1031621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Nom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"nom"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"hidden"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"id"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"55"/&gt;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button</a:t>
            </a:r>
            <a:r>
              <a:rPr sz="18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"send"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b="1" spc="-10" dirty="0">
                <a:latin typeface="Consolas"/>
                <a:cs typeface="Consolas"/>
              </a:rPr>
              <a:t>Envoyer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b="1" spc="-10" dirty="0">
                <a:solidFill>
                  <a:srgbClr val="A21515"/>
                </a:solidFill>
                <a:latin typeface="Consolas"/>
                <a:cs typeface="Consolas"/>
              </a:rPr>
              <a:t>button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277" y="5488457"/>
            <a:ext cx="878205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175" dirty="0"/>
              <a:t> </a:t>
            </a:r>
            <a:r>
              <a:rPr dirty="0"/>
              <a:t>champs</a:t>
            </a:r>
            <a:r>
              <a:rPr spc="-170" dirty="0"/>
              <a:t> </a:t>
            </a:r>
            <a:r>
              <a:rPr spc="105" dirty="0"/>
              <a:t>cachés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71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15355" y="3334511"/>
            <a:ext cx="6087110" cy="1693545"/>
            <a:chOff x="5515355" y="3334511"/>
            <a:chExt cx="6087110" cy="16935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355" y="3334511"/>
              <a:ext cx="6086856" cy="1693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0427" y="3529583"/>
              <a:ext cx="5498591" cy="1104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081" y="1502473"/>
            <a:ext cx="11368405" cy="3272790"/>
            <a:chOff x="271081" y="1502473"/>
            <a:chExt cx="11368405" cy="3272790"/>
          </a:xfrm>
        </p:grpSpPr>
        <p:sp>
          <p:nvSpPr>
            <p:cNvPr id="3" name="object 3"/>
            <p:cNvSpPr/>
            <p:nvPr/>
          </p:nvSpPr>
          <p:spPr>
            <a:xfrm>
              <a:off x="275843" y="1507236"/>
              <a:ext cx="11358880" cy="3263265"/>
            </a:xfrm>
            <a:custGeom>
              <a:avLst/>
              <a:gdLst/>
              <a:ahLst/>
              <a:cxnLst/>
              <a:rect l="l" t="t" r="r" b="b"/>
              <a:pathLst>
                <a:path w="11358880" h="3263265">
                  <a:moveTo>
                    <a:pt x="11358372" y="0"/>
                  </a:moveTo>
                  <a:lnTo>
                    <a:pt x="0" y="0"/>
                  </a:lnTo>
                  <a:lnTo>
                    <a:pt x="0" y="3262884"/>
                  </a:lnTo>
                  <a:lnTo>
                    <a:pt x="11358372" y="3262884"/>
                  </a:lnTo>
                  <a:lnTo>
                    <a:pt x="11358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5843" y="1507236"/>
              <a:ext cx="11358880" cy="3263265"/>
            </a:xfrm>
            <a:custGeom>
              <a:avLst/>
              <a:gdLst/>
              <a:ahLst/>
              <a:cxnLst/>
              <a:rect l="l" t="t" r="r" b="b"/>
              <a:pathLst>
                <a:path w="11358880" h="3263265">
                  <a:moveTo>
                    <a:pt x="0" y="3262884"/>
                  </a:moveTo>
                  <a:lnTo>
                    <a:pt x="11358372" y="3262884"/>
                  </a:lnTo>
                  <a:lnTo>
                    <a:pt x="11358372" y="0"/>
                  </a:lnTo>
                  <a:lnTo>
                    <a:pt x="0" y="0"/>
                  </a:lnTo>
                  <a:lnTo>
                    <a:pt x="0" y="32628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4584" y="1563707"/>
            <a:ext cx="10100945" cy="31324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55" dirty="0">
                <a:latin typeface="Verdana"/>
                <a:cs typeface="Verdana"/>
              </a:rPr>
              <a:t>On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efface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formulaire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ajoutant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contrôle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b="1" i="1" spc="-225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avec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type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égal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b="1" i="1" spc="-110" dirty="0">
                <a:solidFill>
                  <a:srgbClr val="FF0000"/>
                </a:solidFill>
                <a:latin typeface="Verdana"/>
                <a:cs typeface="Verdana"/>
              </a:rPr>
              <a:t>reset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6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method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sz="16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Nom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16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"required"</a:t>
            </a:r>
            <a:r>
              <a:rPr sz="16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placeholder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"nom"/&gt;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 marR="8744585">
              <a:lnSpc>
                <a:spcPct val="100000"/>
              </a:lnSpc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600" dirty="0">
                <a:latin typeface="Consolas"/>
                <a:cs typeface="Consolas"/>
              </a:rPr>
              <a:t>Spécialité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600" b="1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pattern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"SIT|SIQ|SIL"</a:t>
            </a:r>
            <a:r>
              <a:rPr sz="1600" b="1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"true"</a:t>
            </a:r>
            <a:r>
              <a:rPr sz="1600" b="1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placeholder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"spécialité"</a:t>
            </a:r>
            <a:r>
              <a:rPr sz="1600" b="1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sz="16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"Envoyer"</a:t>
            </a:r>
            <a:r>
              <a:rPr sz="16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6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"reset"</a:t>
            </a:r>
            <a:r>
              <a:rPr sz="16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600" b="1" dirty="0">
                <a:latin typeface="Consolas"/>
                <a:cs typeface="Consolas"/>
              </a:rPr>
              <a:t>=</a:t>
            </a:r>
            <a:r>
              <a:rPr sz="1600" b="1" dirty="0">
                <a:solidFill>
                  <a:srgbClr val="0000FF"/>
                </a:solidFill>
                <a:latin typeface="Consolas"/>
                <a:cs typeface="Consolas"/>
              </a:rPr>
              <a:t>"effacer"</a:t>
            </a:r>
            <a:r>
              <a:rPr sz="16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form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Effacer</a:t>
            </a:r>
            <a:r>
              <a:rPr spc="-270" dirty="0"/>
              <a:t> </a:t>
            </a:r>
            <a:r>
              <a:rPr spc="-100" dirty="0"/>
              <a:t>un</a:t>
            </a:r>
            <a:r>
              <a:rPr spc="-254" dirty="0"/>
              <a:t> </a:t>
            </a:r>
            <a:r>
              <a:rPr spc="-110" dirty="0"/>
              <a:t>formulaire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72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20867" y="3779520"/>
            <a:ext cx="5321935" cy="2179320"/>
            <a:chOff x="5420867" y="3779520"/>
            <a:chExt cx="5321935" cy="21793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0867" y="3779520"/>
              <a:ext cx="5321808" cy="21793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5939" y="3974592"/>
              <a:ext cx="4733544" cy="15910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697" y="1334722"/>
            <a:ext cx="11272520" cy="41408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14" dirty="0">
                <a:latin typeface="Verdana"/>
                <a:cs typeface="Verdana"/>
              </a:rPr>
              <a:t>Les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envoyées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formulaires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doivent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être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validées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pour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veiller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une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certaine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cohérence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intégrité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données</a:t>
            </a:r>
            <a:endParaRPr sz="200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85" dirty="0">
                <a:latin typeface="Verdana"/>
                <a:cs typeface="Verdana"/>
              </a:rPr>
              <a:t>Exemples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champ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obligatoire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(vide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non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accepté),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champ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doit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être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entre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une </a:t>
            </a:r>
            <a:r>
              <a:rPr sz="2000" spc="-50" dirty="0">
                <a:latin typeface="Verdana"/>
                <a:cs typeface="Verdana"/>
              </a:rPr>
              <a:t>valeur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minimale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maximale,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mail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doit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obéir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certain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format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(expression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régulière)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265" dirty="0">
                <a:latin typeface="Verdana"/>
                <a:cs typeface="Verdana"/>
              </a:rPr>
              <a:t>Il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00" dirty="0">
                <a:latin typeface="Verdana"/>
                <a:cs typeface="Verdana"/>
              </a:rPr>
              <a:t>existe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45" dirty="0">
                <a:latin typeface="Verdana"/>
                <a:cs typeface="Verdana"/>
              </a:rPr>
              <a:t>trois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types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100" dirty="0">
                <a:latin typeface="Verdana"/>
                <a:cs typeface="Verdana"/>
              </a:rPr>
              <a:t>de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validation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365" dirty="0">
                <a:latin typeface="Verdana"/>
                <a:cs typeface="Verdana"/>
              </a:rPr>
              <a:t>: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côté</a:t>
            </a:r>
            <a:r>
              <a:rPr sz="20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165" dirty="0">
                <a:solidFill>
                  <a:srgbClr val="FF0000"/>
                </a:solidFill>
                <a:latin typeface="Verdana"/>
                <a:cs typeface="Verdana"/>
              </a:rPr>
              <a:t>client</a:t>
            </a:r>
            <a:r>
              <a:rPr sz="2000" spc="-165" dirty="0">
                <a:latin typeface="Verdana"/>
                <a:cs typeface="Verdana"/>
              </a:rPr>
              <a:t>,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côté</a:t>
            </a:r>
            <a:r>
              <a:rPr sz="20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229" dirty="0">
                <a:solidFill>
                  <a:srgbClr val="FF0000"/>
                </a:solidFill>
                <a:latin typeface="Verdana"/>
                <a:cs typeface="Verdana"/>
              </a:rPr>
              <a:t>serveur</a:t>
            </a:r>
            <a:r>
              <a:rPr sz="2000" b="1" i="1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b="1" i="1" spc="-165" dirty="0">
                <a:solidFill>
                  <a:srgbClr val="FF0000"/>
                </a:solidFill>
                <a:latin typeface="Verdana"/>
                <a:cs typeface="Verdana"/>
              </a:rPr>
              <a:t>validation</a:t>
            </a:r>
            <a:r>
              <a:rPr sz="20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350" dirty="0">
                <a:solidFill>
                  <a:srgbClr val="FF0000"/>
                </a:solidFill>
                <a:latin typeface="Verdana"/>
                <a:cs typeface="Verdana"/>
              </a:rPr>
              <a:t>HTML5</a:t>
            </a:r>
            <a:endParaRPr sz="2000">
              <a:latin typeface="Verdana"/>
              <a:cs typeface="Verdana"/>
            </a:endParaRPr>
          </a:p>
          <a:p>
            <a:pPr marL="299085" marR="265430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validation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90" dirty="0">
                <a:latin typeface="Verdana"/>
                <a:cs typeface="Verdana"/>
              </a:rPr>
              <a:t>côté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serveur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n’effectue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validation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qu’une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fois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les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sont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postées </a:t>
            </a:r>
            <a:r>
              <a:rPr sz="2000" spc="60" dirty="0">
                <a:latin typeface="Verdana"/>
                <a:cs typeface="Verdana"/>
              </a:rPr>
              <a:t>au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serveur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validation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90" dirty="0">
                <a:latin typeface="Verdana"/>
                <a:cs typeface="Verdana"/>
              </a:rPr>
              <a:t>côté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client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effectuée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Javascript</a:t>
            </a:r>
            <a:r>
              <a:rPr sz="2000" spc="-114" dirty="0">
                <a:latin typeface="Verdana"/>
                <a:cs typeface="Verdana"/>
              </a:rPr>
              <a:t> sans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passer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serveur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validation</a:t>
            </a:r>
            <a:r>
              <a:rPr sz="2000" spc="-155" dirty="0">
                <a:latin typeface="Verdana"/>
                <a:cs typeface="Verdana"/>
              </a:rPr>
              <a:t> HTML5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enlève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besoin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d’utiliser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Javascript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pour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valider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Validation</a:t>
            </a:r>
            <a:r>
              <a:rPr spc="-250" dirty="0"/>
              <a:t> </a:t>
            </a:r>
            <a:r>
              <a:rPr spc="-20" dirty="0"/>
              <a:t>des</a:t>
            </a:r>
            <a:r>
              <a:rPr spc="-265" dirty="0"/>
              <a:t> </a:t>
            </a:r>
            <a:r>
              <a:rPr spc="-130" dirty="0"/>
              <a:t>formulaires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60140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Validation</a:t>
            </a:r>
            <a:r>
              <a:rPr spc="-240" dirty="0"/>
              <a:t> </a:t>
            </a:r>
            <a:r>
              <a:rPr spc="-20" dirty="0"/>
              <a:t>des</a:t>
            </a:r>
            <a:r>
              <a:rPr spc="-260" dirty="0"/>
              <a:t> </a:t>
            </a:r>
            <a:r>
              <a:rPr spc="-160" dirty="0"/>
              <a:t>formulaires</a:t>
            </a:r>
            <a:r>
              <a:rPr spc="-220" dirty="0"/>
              <a:t> </a:t>
            </a:r>
            <a:r>
              <a:rPr spc="-495" dirty="0"/>
              <a:t>- </a:t>
            </a:r>
            <a:r>
              <a:rPr spc="-10" dirty="0"/>
              <a:t>Comparaison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74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1062" y="1951863"/>
          <a:ext cx="10572750" cy="426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 </a:t>
                      </a:r>
                      <a:r>
                        <a:rPr sz="1800" b="1" spc="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validation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Inconvénients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Serveur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Garantit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0" dirty="0">
                          <a:latin typeface="Verdana"/>
                          <a:cs typeface="Verdana"/>
                        </a:rPr>
                        <a:t>qu’aucune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donnée incohérente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n’est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intégrée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au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système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Surcharge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serveur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2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Client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207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Décharge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serveur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des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calculs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53210" indent="140335">
                        <a:lnSpc>
                          <a:spcPct val="100000"/>
                        </a:lnSpc>
                        <a:spcBef>
                          <a:spcPts val="330"/>
                        </a:spcBef>
                        <a:buChar char="-"/>
                        <a:tabLst>
                          <a:tab pos="232410" algn="l"/>
                        </a:tabLst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Programmation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supplémentaire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92075" marR="396240" indent="140335">
                        <a:lnSpc>
                          <a:spcPct val="100000"/>
                        </a:lnSpc>
                        <a:buChar char="-"/>
                        <a:tabLst>
                          <a:tab pos="232410" algn="l"/>
                        </a:tabLst>
                      </a:pPr>
                      <a:r>
                        <a:rPr sz="1800" spc="-250" dirty="0">
                          <a:latin typeface="Verdana"/>
                          <a:cs typeface="Verdana"/>
                        </a:rPr>
                        <a:t>Si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elle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est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contournée,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des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données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incohérentes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peuvent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être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envoyées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HTML5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318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Pas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programmation supplémentaire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Décharge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les</a:t>
                      </a:r>
                      <a:r>
                        <a:rPr sz="1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serveur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des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calculs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25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Nécessite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support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HTML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5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1" y="1598675"/>
            <a:ext cx="10896600" cy="4165600"/>
            <a:chOff x="316991" y="1598675"/>
            <a:chExt cx="10896600" cy="4165600"/>
          </a:xfrm>
        </p:grpSpPr>
        <p:sp>
          <p:nvSpPr>
            <p:cNvPr id="3" name="object 3"/>
            <p:cNvSpPr/>
            <p:nvPr/>
          </p:nvSpPr>
          <p:spPr>
            <a:xfrm>
              <a:off x="321563" y="1603247"/>
              <a:ext cx="10887710" cy="4156075"/>
            </a:xfrm>
            <a:custGeom>
              <a:avLst/>
              <a:gdLst/>
              <a:ahLst/>
              <a:cxnLst/>
              <a:rect l="l" t="t" r="r" b="b"/>
              <a:pathLst>
                <a:path w="10887710" h="4156075">
                  <a:moveTo>
                    <a:pt x="10887456" y="0"/>
                  </a:moveTo>
                  <a:lnTo>
                    <a:pt x="0" y="0"/>
                  </a:lnTo>
                  <a:lnTo>
                    <a:pt x="0" y="4155948"/>
                  </a:lnTo>
                  <a:lnTo>
                    <a:pt x="10887456" y="4155948"/>
                  </a:lnTo>
                  <a:lnTo>
                    <a:pt x="10887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1563" y="1603247"/>
              <a:ext cx="10887710" cy="4156075"/>
            </a:xfrm>
            <a:custGeom>
              <a:avLst/>
              <a:gdLst/>
              <a:ahLst/>
              <a:cxnLst/>
              <a:rect l="l" t="t" r="r" b="b"/>
              <a:pathLst>
                <a:path w="10887710" h="4156075">
                  <a:moveTo>
                    <a:pt x="0" y="4155948"/>
                  </a:moveTo>
                  <a:lnTo>
                    <a:pt x="10887456" y="4155948"/>
                  </a:lnTo>
                  <a:lnTo>
                    <a:pt x="10887456" y="0"/>
                  </a:lnTo>
                  <a:lnTo>
                    <a:pt x="0" y="0"/>
                  </a:lnTo>
                  <a:lnTo>
                    <a:pt x="0" y="41559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3600" y="5406135"/>
              <a:ext cx="502920" cy="268605"/>
            </a:xfrm>
            <a:custGeom>
              <a:avLst/>
              <a:gdLst/>
              <a:ahLst/>
              <a:cxnLst/>
              <a:rect l="l" t="t" r="r" b="b"/>
              <a:pathLst>
                <a:path w="502919" h="268604">
                  <a:moveTo>
                    <a:pt x="502920" y="0"/>
                  </a:moveTo>
                  <a:lnTo>
                    <a:pt x="376428" y="0"/>
                  </a:lnTo>
                  <a:lnTo>
                    <a:pt x="249936" y="0"/>
                  </a:lnTo>
                  <a:lnTo>
                    <a:pt x="0" y="0"/>
                  </a:lnTo>
                  <a:lnTo>
                    <a:pt x="0" y="268224"/>
                  </a:lnTo>
                  <a:lnTo>
                    <a:pt x="249936" y="268224"/>
                  </a:lnTo>
                  <a:lnTo>
                    <a:pt x="376428" y="268224"/>
                  </a:lnTo>
                  <a:lnTo>
                    <a:pt x="502920" y="26822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0913" y="1573377"/>
            <a:ext cx="10292715" cy="41033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b="1" i="1" spc="-185" dirty="0">
                <a:solidFill>
                  <a:srgbClr val="FF0000"/>
                </a:solidFill>
                <a:latin typeface="Verdana"/>
                <a:cs typeface="Verdana"/>
              </a:rPr>
              <a:t>required</a:t>
            </a:r>
            <a:r>
              <a:rPr sz="20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que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champ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obligatoire</a:t>
            </a:r>
            <a:endParaRPr sz="2000" dirty="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b="1" i="1" spc="-210" dirty="0">
                <a:solidFill>
                  <a:srgbClr val="FF0000"/>
                </a:solidFill>
                <a:latin typeface="Verdana"/>
                <a:cs typeface="Verdana"/>
              </a:rPr>
              <a:t>pattern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définit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expression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régulière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laquelle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doit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obéir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valeur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du </a:t>
            </a:r>
            <a:r>
              <a:rPr sz="2000" spc="65" dirty="0">
                <a:latin typeface="Verdana"/>
                <a:cs typeface="Verdana"/>
              </a:rPr>
              <a:t>champ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b="1" i="1" spc="-125" dirty="0">
                <a:solidFill>
                  <a:srgbClr val="FF0000"/>
                </a:solidFill>
                <a:latin typeface="Verdana"/>
                <a:cs typeface="Verdana"/>
              </a:rPr>
              <a:t>placeholder</a:t>
            </a:r>
            <a:r>
              <a:rPr sz="20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indication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valeur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entrer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latin typeface="Consolas"/>
                <a:cs typeface="Consolas"/>
              </a:rPr>
              <a:t>Nom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12700" marR="9646285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Nom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"required"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placeholder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"nom"/&gt;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Spécialité</a:t>
            </a:r>
            <a:r>
              <a:rPr sz="1800" spc="-60" dirty="0">
                <a:latin typeface="Consolas"/>
                <a:cs typeface="Consolas"/>
              </a:rPr>
              <a:t> :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b="1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pattern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"SIT|SIQ|SIL"</a:t>
            </a:r>
            <a:r>
              <a:rPr sz="18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"true"</a:t>
            </a:r>
            <a:r>
              <a:rPr sz="18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placeholder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"spécialité"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Validation</a:t>
            </a:r>
            <a:r>
              <a:rPr spc="-204" dirty="0"/>
              <a:t> </a:t>
            </a:r>
            <a:r>
              <a:rPr spc="-275" dirty="0"/>
              <a:t>HTML5</a:t>
            </a:r>
            <a:r>
              <a:rPr spc="-215" dirty="0"/>
              <a:t> </a:t>
            </a:r>
            <a:r>
              <a:rPr spc="-20" dirty="0"/>
              <a:t>des</a:t>
            </a:r>
            <a:r>
              <a:rPr spc="-220" dirty="0"/>
              <a:t> </a:t>
            </a:r>
            <a:r>
              <a:rPr dirty="0"/>
              <a:t>champs</a:t>
            </a:r>
            <a:r>
              <a:rPr spc="-220" dirty="0"/>
              <a:t> </a:t>
            </a:r>
            <a:r>
              <a:rPr spc="-10" dirty="0"/>
              <a:t>texte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21223" y="5263896"/>
            <a:ext cx="5321935" cy="1594485"/>
            <a:chOff x="5221223" y="5263896"/>
            <a:chExt cx="5321935" cy="159448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1223" y="5263896"/>
              <a:ext cx="5321808" cy="15941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6295" y="5458968"/>
              <a:ext cx="4733544" cy="1181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9077" y="1385125"/>
            <a:ext cx="11290300" cy="3517900"/>
            <a:chOff x="239077" y="1385125"/>
            <a:chExt cx="11290300" cy="3517900"/>
          </a:xfrm>
        </p:grpSpPr>
        <p:sp>
          <p:nvSpPr>
            <p:cNvPr id="3" name="object 3"/>
            <p:cNvSpPr/>
            <p:nvPr/>
          </p:nvSpPr>
          <p:spPr>
            <a:xfrm>
              <a:off x="243840" y="1389888"/>
              <a:ext cx="11280775" cy="3508375"/>
            </a:xfrm>
            <a:custGeom>
              <a:avLst/>
              <a:gdLst/>
              <a:ahLst/>
              <a:cxnLst/>
              <a:rect l="l" t="t" r="r" b="b"/>
              <a:pathLst>
                <a:path w="11280775" h="3508375">
                  <a:moveTo>
                    <a:pt x="11280648" y="0"/>
                  </a:moveTo>
                  <a:lnTo>
                    <a:pt x="0" y="0"/>
                  </a:lnTo>
                  <a:lnTo>
                    <a:pt x="0" y="3508248"/>
                  </a:lnTo>
                  <a:lnTo>
                    <a:pt x="11280648" y="3508248"/>
                  </a:lnTo>
                  <a:lnTo>
                    <a:pt x="11280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3840" y="1389888"/>
              <a:ext cx="11280775" cy="3508375"/>
            </a:xfrm>
            <a:custGeom>
              <a:avLst/>
              <a:gdLst/>
              <a:ahLst/>
              <a:cxnLst/>
              <a:rect l="l" t="t" r="r" b="b"/>
              <a:pathLst>
                <a:path w="11280775" h="3508375">
                  <a:moveTo>
                    <a:pt x="0" y="3508248"/>
                  </a:moveTo>
                  <a:lnTo>
                    <a:pt x="11280648" y="3508248"/>
                  </a:lnTo>
                  <a:lnTo>
                    <a:pt x="11280648" y="0"/>
                  </a:lnTo>
                  <a:lnTo>
                    <a:pt x="0" y="0"/>
                  </a:lnTo>
                  <a:lnTo>
                    <a:pt x="0" y="350824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5572" y="4277105"/>
            <a:ext cx="501650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91410" y="379484"/>
            <a:ext cx="69856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Entrée</a:t>
            </a:r>
            <a:r>
              <a:rPr spc="-210" dirty="0"/>
              <a:t> </a:t>
            </a:r>
            <a:r>
              <a:rPr spc="-20" dirty="0"/>
              <a:t>des</a:t>
            </a:r>
            <a:r>
              <a:rPr spc="-220" dirty="0"/>
              <a:t> </a:t>
            </a:r>
            <a:r>
              <a:rPr dirty="0"/>
              <a:t>champs</a:t>
            </a:r>
            <a:r>
              <a:rPr spc="-210" dirty="0"/>
              <a:t> </a:t>
            </a:r>
            <a:r>
              <a:rPr spc="-85" dirty="0"/>
              <a:t>numériques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4784" y="1109285"/>
            <a:ext cx="8600440" cy="2934777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L="337185" indent="-286385">
              <a:lnSpc>
                <a:spcPct val="100000"/>
              </a:lnSpc>
              <a:spcBef>
                <a:spcPts val="1664"/>
              </a:spcBef>
              <a:buFont typeface="Arial MT"/>
              <a:buChar char="•"/>
              <a:tabLst>
                <a:tab pos="337185" algn="l"/>
              </a:tabLst>
            </a:pPr>
            <a:r>
              <a:rPr sz="2000" spc="-150" dirty="0" err="1">
                <a:latin typeface="Verdana"/>
                <a:cs typeface="Verdana"/>
              </a:rPr>
              <a:t>Utiliser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40" dirty="0" err="1">
                <a:latin typeface="Verdana"/>
                <a:cs typeface="Verdana"/>
              </a:rPr>
              <a:t>balise</a:t>
            </a:r>
            <a:r>
              <a:rPr lang="fr-FR" sz="2000" spc="-120" dirty="0">
                <a:latin typeface="Verdana"/>
                <a:cs typeface="Verdana"/>
              </a:rPr>
              <a:t> </a:t>
            </a:r>
            <a:r>
              <a:rPr lang="fr-FR" sz="2000" b="1" spc="-120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lang="fr-FR" sz="2000" spc="-120" dirty="0">
                <a:latin typeface="Verdana"/>
                <a:cs typeface="Verdana"/>
              </a:rPr>
              <a:t> avec l’attribut type : </a:t>
            </a:r>
            <a:r>
              <a:rPr lang="fr-FR" sz="2000" b="1" spc="-120" dirty="0" err="1">
                <a:solidFill>
                  <a:srgbClr val="FF0000"/>
                </a:solidFill>
                <a:latin typeface="Verdana"/>
                <a:cs typeface="Verdana"/>
              </a:rPr>
              <a:t>number</a:t>
            </a:r>
            <a:r>
              <a:rPr lang="fr-FR" sz="2000" spc="-120" dirty="0">
                <a:latin typeface="Verdana"/>
                <a:cs typeface="Verdana"/>
              </a:rPr>
              <a:t>.</a:t>
            </a:r>
            <a:endParaRPr lang="fr-FR" sz="2000" dirty="0">
              <a:latin typeface="Verdana"/>
              <a:cs typeface="Verdana"/>
            </a:endParaRPr>
          </a:p>
          <a:p>
            <a:pPr marL="337185" indent="-286385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337185" algn="l"/>
              </a:tabLst>
            </a:pPr>
            <a:r>
              <a:rPr sz="2000" spc="-120" dirty="0">
                <a:latin typeface="Verdana"/>
                <a:cs typeface="Verdana"/>
              </a:rPr>
              <a:t>Les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attributs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b="1" i="1" spc="-229" dirty="0">
                <a:solidFill>
                  <a:srgbClr val="FF0000"/>
                </a:solidFill>
                <a:latin typeface="Verdana"/>
                <a:cs typeface="Verdana"/>
              </a:rPr>
              <a:t>min</a:t>
            </a:r>
            <a:r>
              <a:rPr sz="20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b="1" i="1" spc="-165" dirty="0">
                <a:solidFill>
                  <a:srgbClr val="FF0000"/>
                </a:solidFill>
                <a:latin typeface="Verdana"/>
                <a:cs typeface="Verdana"/>
              </a:rPr>
              <a:t>max</a:t>
            </a:r>
            <a:r>
              <a:rPr sz="20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définissent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l’intervalle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100" dirty="0">
                <a:latin typeface="Verdana"/>
                <a:cs typeface="Verdana"/>
              </a:rPr>
              <a:t>de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valeur</a:t>
            </a:r>
            <a:endParaRPr sz="2000" dirty="0">
              <a:latin typeface="Verdana"/>
              <a:cs typeface="Verdana"/>
            </a:endParaRPr>
          </a:p>
          <a:p>
            <a:pPr marL="50800" marR="7915909">
              <a:lnSpc>
                <a:spcPct val="100000"/>
              </a:lnSpc>
              <a:spcBef>
                <a:spcPts val="395"/>
              </a:spcBef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Nom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18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"required"/&gt;</a:t>
            </a:r>
            <a:endParaRPr sz="1800" dirty="0">
              <a:latin typeface="Consolas"/>
              <a:cs typeface="Consolas"/>
            </a:endParaRPr>
          </a:p>
          <a:p>
            <a:pPr marL="50800">
              <a:lnSpc>
                <a:spcPct val="100000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50800" marR="7915909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Age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 dirty="0">
              <a:latin typeface="Consolas"/>
              <a:cs typeface="Consolas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"number"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"age"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"true"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min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"18"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max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"35"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76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38728" y="4354067"/>
            <a:ext cx="7656830" cy="2360930"/>
            <a:chOff x="3538728" y="4354067"/>
            <a:chExt cx="7656830" cy="23609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8728" y="4354067"/>
              <a:ext cx="7656576" cy="23606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4549139"/>
              <a:ext cx="7068311" cy="1772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569" y="1534477"/>
            <a:ext cx="10989945" cy="3949065"/>
            <a:chOff x="365569" y="1534477"/>
            <a:chExt cx="10989945" cy="3949065"/>
          </a:xfrm>
        </p:grpSpPr>
        <p:sp>
          <p:nvSpPr>
            <p:cNvPr id="3" name="object 3"/>
            <p:cNvSpPr/>
            <p:nvPr/>
          </p:nvSpPr>
          <p:spPr>
            <a:xfrm>
              <a:off x="370331" y="1539239"/>
              <a:ext cx="10980420" cy="3939540"/>
            </a:xfrm>
            <a:custGeom>
              <a:avLst/>
              <a:gdLst/>
              <a:ahLst/>
              <a:cxnLst/>
              <a:rect l="l" t="t" r="r" b="b"/>
              <a:pathLst>
                <a:path w="10980420" h="3939540">
                  <a:moveTo>
                    <a:pt x="10980420" y="0"/>
                  </a:moveTo>
                  <a:lnTo>
                    <a:pt x="0" y="0"/>
                  </a:lnTo>
                  <a:lnTo>
                    <a:pt x="0" y="3939539"/>
                  </a:lnTo>
                  <a:lnTo>
                    <a:pt x="10980420" y="3939539"/>
                  </a:lnTo>
                  <a:lnTo>
                    <a:pt x="10980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0331" y="1539239"/>
              <a:ext cx="10980420" cy="3939540"/>
            </a:xfrm>
            <a:custGeom>
              <a:avLst/>
              <a:gdLst/>
              <a:ahLst/>
              <a:cxnLst/>
              <a:rect l="l" t="t" r="r" b="b"/>
              <a:pathLst>
                <a:path w="10980420" h="3939540">
                  <a:moveTo>
                    <a:pt x="0" y="3939539"/>
                  </a:moveTo>
                  <a:lnTo>
                    <a:pt x="10980420" y="3939539"/>
                  </a:lnTo>
                  <a:lnTo>
                    <a:pt x="10980420" y="0"/>
                  </a:lnTo>
                  <a:lnTo>
                    <a:pt x="0" y="0"/>
                  </a:lnTo>
                  <a:lnTo>
                    <a:pt x="0" y="39395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9072" y="1496014"/>
            <a:ext cx="8840470" cy="3624579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85" dirty="0">
                <a:latin typeface="Verdana"/>
                <a:cs typeface="Verdana"/>
              </a:rPr>
              <a:t>Utiliser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b="1" i="1" spc="-254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2400" b="1" i="1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avec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l’attribut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type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à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b="1" i="1" spc="-20" dirty="0">
                <a:solidFill>
                  <a:srgbClr val="FF0000"/>
                </a:solidFill>
                <a:latin typeface="Verdana"/>
                <a:cs typeface="Verdana"/>
              </a:rPr>
              <a:t>date</a:t>
            </a:r>
            <a:endParaRPr sz="24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60" dirty="0">
                <a:latin typeface="Verdana"/>
                <a:cs typeface="Verdana"/>
              </a:rPr>
              <a:t>Les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attributs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b="1" i="1" spc="-275" dirty="0">
                <a:solidFill>
                  <a:srgbClr val="FF0000"/>
                </a:solidFill>
                <a:latin typeface="Verdana"/>
                <a:cs typeface="Verdana"/>
              </a:rPr>
              <a:t>min</a:t>
            </a:r>
            <a:r>
              <a:rPr sz="2400" b="1" i="1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b="1" i="1" spc="-200" dirty="0">
                <a:solidFill>
                  <a:srgbClr val="FF0000"/>
                </a:solidFill>
                <a:latin typeface="Verdana"/>
                <a:cs typeface="Verdana"/>
              </a:rPr>
              <a:t>max</a:t>
            </a:r>
            <a:r>
              <a:rPr sz="24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définissent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l’intervalle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valeur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Nom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: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20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20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20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2000" b="1" spc="-10" dirty="0">
                <a:latin typeface="Consolas"/>
                <a:cs typeface="Consolas"/>
              </a:rPr>
              <a:t>=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"required"/&gt;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  <a:p>
            <a:pPr marL="12700" marR="7002780">
              <a:lnSpc>
                <a:spcPct val="100000"/>
              </a:lnSpc>
            </a:pPr>
            <a:r>
              <a:rPr sz="20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2000" dirty="0">
                <a:latin typeface="Consolas"/>
                <a:cs typeface="Consolas"/>
              </a:rPr>
              <a:t>D.Naissance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: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6997700" algn="l"/>
              </a:tabLst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20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"date"</a:t>
            </a:r>
            <a:r>
              <a:rPr sz="20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"dnaiss"</a:t>
            </a:r>
            <a:r>
              <a:rPr sz="20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2000" b="1" spc="-10" dirty="0">
                <a:latin typeface="Consolas"/>
                <a:cs typeface="Consolas"/>
              </a:rPr>
              <a:t>=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"true"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Entrée</a:t>
            </a:r>
            <a:r>
              <a:rPr spc="-225" dirty="0"/>
              <a:t> </a:t>
            </a:r>
            <a:r>
              <a:rPr spc="-20" dirty="0"/>
              <a:t>des</a:t>
            </a:r>
            <a:r>
              <a:rPr spc="-229" dirty="0"/>
              <a:t> </a:t>
            </a:r>
            <a:r>
              <a:rPr dirty="0"/>
              <a:t>champs</a:t>
            </a:r>
            <a:r>
              <a:rPr spc="-220" dirty="0"/>
              <a:t> </a:t>
            </a:r>
            <a:r>
              <a:rPr spc="125" dirty="0"/>
              <a:t>date</a:t>
            </a:r>
            <a:r>
              <a:rPr spc="-220" dirty="0"/>
              <a:t> </a:t>
            </a:r>
            <a:r>
              <a:rPr spc="-305" dirty="0"/>
              <a:t>(HTML5)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77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56659" y="4757928"/>
            <a:ext cx="7579359" cy="2100580"/>
            <a:chOff x="3756659" y="4757928"/>
            <a:chExt cx="7579359" cy="210058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6659" y="4757928"/>
              <a:ext cx="7578852" cy="21000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1731" y="4953000"/>
              <a:ext cx="6990588" cy="1752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6321" y="1519237"/>
            <a:ext cx="11054080" cy="3611245"/>
            <a:chOff x="286321" y="1519237"/>
            <a:chExt cx="11054080" cy="3611245"/>
          </a:xfrm>
        </p:grpSpPr>
        <p:sp>
          <p:nvSpPr>
            <p:cNvPr id="3" name="object 3"/>
            <p:cNvSpPr/>
            <p:nvPr/>
          </p:nvSpPr>
          <p:spPr>
            <a:xfrm>
              <a:off x="291084" y="1524000"/>
              <a:ext cx="11044555" cy="3601720"/>
            </a:xfrm>
            <a:custGeom>
              <a:avLst/>
              <a:gdLst/>
              <a:ahLst/>
              <a:cxnLst/>
              <a:rect l="l" t="t" r="r" b="b"/>
              <a:pathLst>
                <a:path w="11044555" h="3601720">
                  <a:moveTo>
                    <a:pt x="11044428" y="0"/>
                  </a:moveTo>
                  <a:lnTo>
                    <a:pt x="0" y="0"/>
                  </a:lnTo>
                  <a:lnTo>
                    <a:pt x="0" y="3601212"/>
                  </a:lnTo>
                  <a:lnTo>
                    <a:pt x="11044428" y="3601212"/>
                  </a:lnTo>
                  <a:lnTo>
                    <a:pt x="11044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1084" y="1524000"/>
              <a:ext cx="11044555" cy="3601720"/>
            </a:xfrm>
            <a:custGeom>
              <a:avLst/>
              <a:gdLst/>
              <a:ahLst/>
              <a:cxnLst/>
              <a:rect l="l" t="t" r="r" b="b"/>
              <a:pathLst>
                <a:path w="11044555" h="3601720">
                  <a:moveTo>
                    <a:pt x="0" y="3601212"/>
                  </a:moveTo>
                  <a:lnTo>
                    <a:pt x="11044428" y="3601212"/>
                  </a:lnTo>
                  <a:lnTo>
                    <a:pt x="11044428" y="0"/>
                  </a:lnTo>
                  <a:lnTo>
                    <a:pt x="0" y="0"/>
                  </a:lnTo>
                  <a:lnTo>
                    <a:pt x="0" y="36012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70128" y="1590352"/>
            <a:ext cx="7003415" cy="31800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50" dirty="0">
                <a:latin typeface="Verdana"/>
                <a:cs typeface="Verdana"/>
              </a:rPr>
              <a:t>Utiliser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b="1" i="1" spc="-220" dirty="0">
                <a:solidFill>
                  <a:srgbClr val="FF0000"/>
                </a:solidFill>
                <a:latin typeface="Verdana"/>
                <a:cs typeface="Verdana"/>
              </a:rPr>
              <a:t>input</a:t>
            </a:r>
            <a:r>
              <a:rPr sz="20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avec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l’attribut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type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b="1" i="1" spc="-150" dirty="0">
                <a:solidFill>
                  <a:srgbClr val="FF0000"/>
                </a:solidFill>
                <a:latin typeface="Verdana"/>
                <a:cs typeface="Verdana"/>
              </a:rPr>
              <a:t>email</a:t>
            </a:r>
            <a:r>
              <a:rPr sz="20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175" dirty="0">
                <a:latin typeface="Verdana"/>
                <a:cs typeface="Verdana"/>
              </a:rPr>
              <a:t>ou</a:t>
            </a:r>
            <a:r>
              <a:rPr sz="2000" b="1" i="1" spc="-105" dirty="0">
                <a:latin typeface="Verdana"/>
                <a:cs typeface="Verdana"/>
              </a:rPr>
              <a:t> </a:t>
            </a:r>
            <a:r>
              <a:rPr sz="2000" b="1" i="1" spc="-295" dirty="0">
                <a:solidFill>
                  <a:srgbClr val="FF0000"/>
                </a:solidFill>
                <a:latin typeface="Verdana"/>
                <a:cs typeface="Verdana"/>
              </a:rPr>
              <a:t>url</a:t>
            </a:r>
            <a:endParaRPr sz="2000">
              <a:latin typeface="Verdana"/>
              <a:cs typeface="Verdana"/>
            </a:endParaRPr>
          </a:p>
          <a:p>
            <a:pPr marL="12700" marR="6356985">
              <a:lnSpc>
                <a:spcPct val="100000"/>
              </a:lnSpc>
              <a:spcBef>
                <a:spcPts val="390"/>
              </a:spcBef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Nom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sz="18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"login"</a:t>
            </a:r>
            <a:r>
              <a:rPr sz="18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"required"/&gt;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 marR="6230620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 </a:t>
            </a:r>
            <a:r>
              <a:rPr sz="1800" dirty="0">
                <a:latin typeface="Consolas"/>
                <a:cs typeface="Consolas"/>
              </a:rPr>
              <a:t>Mail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6155055" algn="l"/>
              </a:tabLst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"email"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"mail"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"true"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Site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perso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5777865" algn="l"/>
              </a:tabLst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input</a:t>
            </a:r>
            <a:r>
              <a:rPr sz="18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type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"url"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name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"url"</a:t>
            </a:r>
            <a:r>
              <a:rPr sz="18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required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"true"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2879" y="4777485"/>
            <a:ext cx="501650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Entrée</a:t>
            </a:r>
            <a:r>
              <a:rPr spc="-240" dirty="0"/>
              <a:t> </a:t>
            </a:r>
            <a:r>
              <a:rPr spc="195" dirty="0"/>
              <a:t>de</a:t>
            </a:r>
            <a:r>
              <a:rPr spc="-240" dirty="0"/>
              <a:t> </a:t>
            </a:r>
            <a:r>
              <a:rPr dirty="0"/>
              <a:t>champs</a:t>
            </a:r>
            <a:r>
              <a:rPr spc="-240" dirty="0"/>
              <a:t> </a:t>
            </a:r>
            <a:r>
              <a:rPr spc="-110" dirty="0"/>
              <a:t>mail</a:t>
            </a:r>
            <a:r>
              <a:rPr spc="-220" dirty="0"/>
              <a:t> </a:t>
            </a:r>
            <a:r>
              <a:rPr dirty="0"/>
              <a:t>et</a:t>
            </a:r>
            <a:r>
              <a:rPr spc="-240" dirty="0"/>
              <a:t> </a:t>
            </a:r>
            <a:r>
              <a:rPr spc="-325" dirty="0"/>
              <a:t>URL</a:t>
            </a:r>
            <a:r>
              <a:rPr spc="-229" dirty="0"/>
              <a:t> </a:t>
            </a:r>
            <a:r>
              <a:rPr spc="-295" dirty="0"/>
              <a:t>(HTML5)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78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06896" y="4494276"/>
            <a:ext cx="5321935" cy="2131060"/>
            <a:chOff x="6406896" y="4494276"/>
            <a:chExt cx="5321935" cy="21310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6896" y="4494276"/>
              <a:ext cx="5321808" cy="21305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1968" y="4689348"/>
              <a:ext cx="4733544" cy="15422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5850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0" dirty="0"/>
              <a:t>8</a:t>
            </a:r>
            <a:r>
              <a:rPr sz="4000" spc="-305" dirty="0"/>
              <a:t> </a:t>
            </a:r>
            <a:r>
              <a:rPr sz="4000" spc="-710" dirty="0"/>
              <a:t>:</a:t>
            </a:r>
            <a:r>
              <a:rPr sz="4000" spc="-300" dirty="0"/>
              <a:t> </a:t>
            </a:r>
            <a:r>
              <a:rPr sz="4000" spc="-50" dirty="0"/>
              <a:t>Organisation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7093" y="1519237"/>
            <a:ext cx="10847070" cy="3288029"/>
            <a:chOff x="367093" y="1519237"/>
            <a:chExt cx="10847070" cy="3288029"/>
          </a:xfrm>
        </p:grpSpPr>
        <p:sp>
          <p:nvSpPr>
            <p:cNvPr id="3" name="object 3"/>
            <p:cNvSpPr/>
            <p:nvPr/>
          </p:nvSpPr>
          <p:spPr>
            <a:xfrm>
              <a:off x="371856" y="1524000"/>
              <a:ext cx="10837545" cy="3278504"/>
            </a:xfrm>
            <a:custGeom>
              <a:avLst/>
              <a:gdLst/>
              <a:ahLst/>
              <a:cxnLst/>
              <a:rect l="l" t="t" r="r" b="b"/>
              <a:pathLst>
                <a:path w="10837545" h="3278504">
                  <a:moveTo>
                    <a:pt x="10837164" y="0"/>
                  </a:moveTo>
                  <a:lnTo>
                    <a:pt x="0" y="0"/>
                  </a:lnTo>
                  <a:lnTo>
                    <a:pt x="0" y="3278124"/>
                  </a:lnTo>
                  <a:lnTo>
                    <a:pt x="10837164" y="3278124"/>
                  </a:lnTo>
                  <a:lnTo>
                    <a:pt x="10837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1856" y="1524000"/>
              <a:ext cx="10837545" cy="3278504"/>
            </a:xfrm>
            <a:custGeom>
              <a:avLst/>
              <a:gdLst/>
              <a:ahLst/>
              <a:cxnLst/>
              <a:rect l="l" t="t" r="r" b="b"/>
              <a:pathLst>
                <a:path w="10837545" h="3278504">
                  <a:moveTo>
                    <a:pt x="0" y="3278124"/>
                  </a:moveTo>
                  <a:lnTo>
                    <a:pt x="10837164" y="3278124"/>
                  </a:lnTo>
                  <a:lnTo>
                    <a:pt x="10837164" y="0"/>
                  </a:lnTo>
                  <a:lnTo>
                    <a:pt x="0" y="0"/>
                  </a:lnTo>
                  <a:lnTo>
                    <a:pt x="0" y="32781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0484" y="4457445"/>
              <a:ext cx="502920" cy="268605"/>
            </a:xfrm>
            <a:custGeom>
              <a:avLst/>
              <a:gdLst/>
              <a:ahLst/>
              <a:cxnLst/>
              <a:rect l="l" t="t" r="r" b="b"/>
              <a:pathLst>
                <a:path w="502919" h="268604">
                  <a:moveTo>
                    <a:pt x="502920" y="0"/>
                  </a:moveTo>
                  <a:lnTo>
                    <a:pt x="376428" y="0"/>
                  </a:lnTo>
                  <a:lnTo>
                    <a:pt x="251460" y="0"/>
                  </a:lnTo>
                  <a:lnTo>
                    <a:pt x="0" y="0"/>
                  </a:lnTo>
                  <a:lnTo>
                    <a:pt x="0" y="268224"/>
                  </a:lnTo>
                  <a:lnTo>
                    <a:pt x="251460" y="268224"/>
                  </a:lnTo>
                  <a:lnTo>
                    <a:pt x="376428" y="268224"/>
                  </a:lnTo>
                  <a:lnTo>
                    <a:pt x="502920" y="26822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0291" y="1500886"/>
            <a:ext cx="10457815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Pour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un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développeur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web,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il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important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d’ajouter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des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commentaires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dans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son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125" dirty="0">
                <a:latin typeface="Verdana"/>
                <a:cs typeface="Verdana"/>
              </a:rPr>
              <a:t>code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pour </a:t>
            </a:r>
            <a:r>
              <a:rPr sz="1800" spc="-90" dirty="0">
                <a:latin typeface="Verdana"/>
                <a:cs typeface="Verdana"/>
              </a:rPr>
              <a:t>plus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lisibilité</a:t>
            </a:r>
            <a:endParaRPr sz="1800">
              <a:latin typeface="Verdana"/>
              <a:cs typeface="Verdana"/>
            </a:endParaRPr>
          </a:p>
          <a:p>
            <a:pPr marL="299085" marR="451484" indent="-287020">
              <a:lnSpc>
                <a:spcPts val="3240"/>
              </a:lnSpc>
              <a:spcBef>
                <a:spcPts val="2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20" dirty="0">
                <a:latin typeface="Verdana"/>
                <a:cs typeface="Verdana"/>
              </a:rPr>
              <a:t>Les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commentaires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sont </a:t>
            </a:r>
            <a:r>
              <a:rPr sz="1800" dirty="0">
                <a:latin typeface="Verdana"/>
                <a:cs typeface="Verdana"/>
              </a:rPr>
              <a:t>pas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visibles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150" dirty="0">
                <a:latin typeface="Verdana"/>
                <a:cs typeface="Verdana"/>
              </a:rPr>
              <a:t>à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l’affichage,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mais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sont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visibles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lorsque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l’utilisateur </a:t>
            </a:r>
            <a:r>
              <a:rPr sz="1800" dirty="0">
                <a:latin typeface="Verdana"/>
                <a:cs typeface="Verdana"/>
              </a:rPr>
              <a:t>affiche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source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14" dirty="0">
                <a:latin typeface="Verdana"/>
                <a:cs typeface="Verdana"/>
              </a:rPr>
              <a:t>Un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commentaire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ajouté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balise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260" dirty="0">
                <a:latin typeface="Verdana"/>
                <a:cs typeface="Verdana"/>
              </a:rPr>
              <a:t>&lt;!-</a:t>
            </a:r>
            <a:r>
              <a:rPr sz="1800" spc="-225" dirty="0">
                <a:latin typeface="Verdana"/>
                <a:cs typeface="Verdana"/>
              </a:rPr>
              <a:t>-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25" dirty="0">
                <a:latin typeface="Verdana"/>
                <a:cs typeface="Verdana"/>
              </a:rPr>
              <a:t>--</a:t>
            </a:r>
            <a:r>
              <a:rPr sz="1800" spc="-450" dirty="0">
                <a:latin typeface="Verdana"/>
                <a:cs typeface="Verdana"/>
              </a:rPr>
              <a:t>&gt;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- Le premier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paragraphe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est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une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 introduction--</a:t>
            </a:r>
            <a:r>
              <a:rPr sz="1800" spc="-5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1er</a:t>
            </a:r>
            <a:r>
              <a:rPr sz="1800" spc="-5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par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8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Le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deuxième</a:t>
            </a:r>
            <a:r>
              <a:rPr sz="18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raconte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les</a:t>
            </a:r>
            <a:r>
              <a:rPr sz="18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détails--</a:t>
            </a:r>
            <a:r>
              <a:rPr sz="1800" spc="-5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2ème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par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Commentaires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81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17820" y="4145279"/>
            <a:ext cx="6344920" cy="2522220"/>
            <a:chOff x="5417820" y="4145279"/>
            <a:chExt cx="6344920" cy="25222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7820" y="4145279"/>
              <a:ext cx="6344412" cy="25222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2892" y="4340351"/>
              <a:ext cx="5756148" cy="19339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497" y="1531429"/>
            <a:ext cx="11296650" cy="4872990"/>
            <a:chOff x="170497" y="1531429"/>
            <a:chExt cx="11296650" cy="4872990"/>
          </a:xfrm>
        </p:grpSpPr>
        <p:sp>
          <p:nvSpPr>
            <p:cNvPr id="3" name="object 3"/>
            <p:cNvSpPr/>
            <p:nvPr/>
          </p:nvSpPr>
          <p:spPr>
            <a:xfrm>
              <a:off x="175260" y="1536191"/>
              <a:ext cx="11287125" cy="4863465"/>
            </a:xfrm>
            <a:custGeom>
              <a:avLst/>
              <a:gdLst/>
              <a:ahLst/>
              <a:cxnLst/>
              <a:rect l="l" t="t" r="r" b="b"/>
              <a:pathLst>
                <a:path w="11287125" h="4863465">
                  <a:moveTo>
                    <a:pt x="11286744" y="0"/>
                  </a:moveTo>
                  <a:lnTo>
                    <a:pt x="0" y="0"/>
                  </a:lnTo>
                  <a:lnTo>
                    <a:pt x="0" y="4863084"/>
                  </a:lnTo>
                  <a:lnTo>
                    <a:pt x="11286744" y="4863084"/>
                  </a:lnTo>
                  <a:lnTo>
                    <a:pt x="11286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5260" y="1536191"/>
              <a:ext cx="11287125" cy="4863465"/>
            </a:xfrm>
            <a:custGeom>
              <a:avLst/>
              <a:gdLst/>
              <a:ahLst/>
              <a:cxnLst/>
              <a:rect l="l" t="t" r="r" b="b"/>
              <a:pathLst>
                <a:path w="11287125" h="4863465">
                  <a:moveTo>
                    <a:pt x="0" y="4863084"/>
                  </a:moveTo>
                  <a:lnTo>
                    <a:pt x="11286744" y="4863084"/>
                  </a:lnTo>
                  <a:lnTo>
                    <a:pt x="11286744" y="0"/>
                  </a:lnTo>
                  <a:lnTo>
                    <a:pt x="0" y="0"/>
                  </a:lnTo>
                  <a:lnTo>
                    <a:pt x="0" y="48630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3695" y="1506448"/>
            <a:ext cx="10431145" cy="44951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FF0000"/>
                </a:solidFill>
                <a:latin typeface="Verdana"/>
                <a:cs typeface="Verdana"/>
              </a:rPr>
              <a:t>id</a:t>
            </a:r>
            <a:r>
              <a:rPr sz="20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utilisé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pour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identifier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élément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unique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FF0000"/>
                </a:solidFill>
                <a:latin typeface="Verdana"/>
                <a:cs typeface="Verdana"/>
              </a:rPr>
              <a:t>class</a:t>
            </a:r>
            <a:r>
              <a:rPr sz="20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permet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désigner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éléments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ayant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des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points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commun</a:t>
            </a:r>
            <a:endParaRPr sz="20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14" dirty="0">
                <a:latin typeface="Verdana"/>
                <a:cs typeface="Verdana"/>
              </a:rPr>
              <a:t>Les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attributs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FF0000"/>
                </a:solidFill>
                <a:latin typeface="Verdana"/>
                <a:cs typeface="Verdana"/>
              </a:rPr>
              <a:t>id</a:t>
            </a:r>
            <a:r>
              <a:rPr sz="20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FF0000"/>
                </a:solidFill>
                <a:latin typeface="Verdana"/>
                <a:cs typeface="Verdana"/>
              </a:rPr>
              <a:t>class</a:t>
            </a:r>
            <a:r>
              <a:rPr sz="20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sont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très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utiles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pour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utiliser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dans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75" dirty="0">
                <a:latin typeface="Verdana"/>
                <a:cs typeface="Verdana"/>
              </a:rPr>
              <a:t>CSS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Javascript</a:t>
            </a:r>
            <a:endParaRPr sz="2000" dirty="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125" dirty="0">
                <a:latin typeface="Verdana"/>
                <a:cs typeface="Verdana"/>
              </a:rPr>
              <a:t>Un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élément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peut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appartenir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plusieurs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classes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(séparer</a:t>
            </a:r>
            <a:r>
              <a:rPr sz="2000" spc="-110" dirty="0">
                <a:latin typeface="Verdana"/>
                <a:cs typeface="Verdana"/>
              </a:rPr>
              <a:t> les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noms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classe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des </a:t>
            </a:r>
            <a:r>
              <a:rPr sz="2000" spc="-10" dirty="0">
                <a:latin typeface="Verdana"/>
                <a:cs typeface="Verdana"/>
              </a:rPr>
              <a:t>espaces)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id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"p1"</a:t>
            </a:r>
            <a:r>
              <a:rPr sz="20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2000" b="1" spc="-10" dirty="0">
                <a:latin typeface="Consolas"/>
                <a:cs typeface="Consolas"/>
              </a:rPr>
              <a:t>=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"parAvecIndent"&gt;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1er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par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 dirty="0">
              <a:latin typeface="Consolas"/>
              <a:cs typeface="Consolas"/>
            </a:endParaRPr>
          </a:p>
          <a:p>
            <a:pPr marL="12700" marR="8872855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id</a:t>
            </a:r>
            <a:r>
              <a:rPr sz="2000" b="1" spc="-10" dirty="0">
                <a:latin typeface="Consolas"/>
                <a:cs typeface="Consolas"/>
              </a:rPr>
              <a:t>=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"p2"&gt; </a:t>
            </a:r>
            <a:r>
              <a:rPr sz="2000" dirty="0">
                <a:latin typeface="Consolas"/>
                <a:cs typeface="Consolas"/>
              </a:rPr>
              <a:t>2ème </a:t>
            </a:r>
            <a:r>
              <a:rPr sz="2000" spc="-25" dirty="0">
                <a:latin typeface="Consolas"/>
                <a:cs typeface="Consolas"/>
              </a:rPr>
              <a:t>par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id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"p3"</a:t>
            </a:r>
            <a:r>
              <a:rPr sz="20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"parAvecIndent</a:t>
            </a:r>
            <a:r>
              <a:rPr sz="2000" b="1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parEnGras"&gt;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85062" y="6007608"/>
            <a:ext cx="558165" cy="299085"/>
          </a:xfrm>
          <a:custGeom>
            <a:avLst/>
            <a:gdLst/>
            <a:ahLst/>
            <a:cxnLst/>
            <a:rect l="l" t="t" r="r" b="b"/>
            <a:pathLst>
              <a:path w="558164" h="299085">
                <a:moveTo>
                  <a:pt x="557784" y="0"/>
                </a:moveTo>
                <a:lnTo>
                  <a:pt x="417576" y="0"/>
                </a:lnTo>
                <a:lnTo>
                  <a:pt x="278892" y="0"/>
                </a:lnTo>
                <a:lnTo>
                  <a:pt x="0" y="0"/>
                </a:lnTo>
                <a:lnTo>
                  <a:pt x="0" y="298704"/>
                </a:lnTo>
                <a:lnTo>
                  <a:pt x="278892" y="298704"/>
                </a:lnTo>
                <a:lnTo>
                  <a:pt x="417576" y="298704"/>
                </a:lnTo>
                <a:lnTo>
                  <a:pt x="557784" y="298704"/>
                </a:lnTo>
                <a:lnTo>
                  <a:pt x="557784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3695" y="5976620"/>
            <a:ext cx="1702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olas"/>
                <a:cs typeface="Consolas"/>
              </a:rPr>
              <a:t>3eme </a:t>
            </a:r>
            <a:r>
              <a:rPr sz="2000" spc="-10" dirty="0">
                <a:latin typeface="Consolas"/>
                <a:cs typeface="Consolas"/>
              </a:rPr>
              <a:t>par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7785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Identification</a:t>
            </a:r>
            <a:r>
              <a:rPr spc="-250" dirty="0"/>
              <a:t> </a:t>
            </a:r>
            <a:r>
              <a:rPr dirty="0"/>
              <a:t>et</a:t>
            </a:r>
            <a:r>
              <a:rPr spc="-260" dirty="0"/>
              <a:t> </a:t>
            </a:r>
            <a:r>
              <a:rPr spc="-40" dirty="0"/>
              <a:t>regroupement</a:t>
            </a:r>
            <a:r>
              <a:rPr spc="-240" dirty="0"/>
              <a:t> </a:t>
            </a:r>
            <a:r>
              <a:rPr spc="-25" dirty="0"/>
              <a:t>des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71952" y="1195578"/>
            <a:ext cx="2047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>
                <a:solidFill>
                  <a:srgbClr val="178DBA"/>
                </a:solidFill>
                <a:latin typeface="Verdana"/>
                <a:cs typeface="Verdana"/>
              </a:rPr>
              <a:t>éléments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82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1490" y="1320520"/>
            <a:ext cx="10836275" cy="459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662305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40" dirty="0">
                <a:latin typeface="Verdana"/>
                <a:cs typeface="Verdana"/>
              </a:rPr>
              <a:t>Une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métadonnée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donnée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200" dirty="0">
                <a:latin typeface="Verdana"/>
                <a:cs typeface="Verdana"/>
              </a:rPr>
              <a:t>sur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donnée.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En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HTML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métadonnées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sont </a:t>
            </a:r>
            <a:r>
              <a:rPr sz="2000" spc="-55" dirty="0">
                <a:latin typeface="Verdana"/>
                <a:cs typeface="Verdana"/>
              </a:rPr>
              <a:t>définies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20" dirty="0">
                <a:solidFill>
                  <a:srgbClr val="FF0000"/>
                </a:solidFill>
                <a:latin typeface="Verdana"/>
                <a:cs typeface="Verdana"/>
              </a:rPr>
              <a:t>meta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b="1" i="1" spc="-145" dirty="0">
                <a:solidFill>
                  <a:srgbClr val="FF0000"/>
                </a:solidFill>
                <a:latin typeface="Verdana"/>
                <a:cs typeface="Verdana"/>
              </a:rPr>
              <a:t>name</a:t>
            </a:r>
            <a:r>
              <a:rPr sz="2000" b="1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définit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nom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métadonnée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b="1" i="1" spc="-165" dirty="0">
                <a:solidFill>
                  <a:srgbClr val="FF0000"/>
                </a:solidFill>
                <a:latin typeface="Verdana"/>
                <a:cs typeface="Verdana"/>
              </a:rPr>
              <a:t>content</a:t>
            </a:r>
            <a:r>
              <a:rPr sz="20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définit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valeur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métadonnée</a:t>
            </a:r>
            <a:endParaRPr sz="200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b="1" i="1" spc="-225" dirty="0">
                <a:solidFill>
                  <a:srgbClr val="FF0000"/>
                </a:solidFill>
                <a:latin typeface="Verdana"/>
                <a:cs typeface="Verdana"/>
              </a:rPr>
              <a:t>http-</a:t>
            </a:r>
            <a:r>
              <a:rPr sz="2000" b="1" i="1" spc="-160" dirty="0">
                <a:solidFill>
                  <a:srgbClr val="FF0000"/>
                </a:solidFill>
                <a:latin typeface="Verdana"/>
                <a:cs typeface="Verdana"/>
              </a:rPr>
              <a:t>equiv</a:t>
            </a:r>
            <a:r>
              <a:rPr sz="20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fournit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entête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http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traitant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informations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spéciales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fournies </a:t>
            </a:r>
            <a:r>
              <a:rPr sz="2000" spc="-20" dirty="0">
                <a:latin typeface="Verdana"/>
                <a:cs typeface="Verdana"/>
              </a:rPr>
              <a:t>dans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b="1" i="1" spc="-25" dirty="0">
                <a:solidFill>
                  <a:srgbClr val="FF0000"/>
                </a:solidFill>
                <a:latin typeface="Verdana"/>
                <a:cs typeface="Verdana"/>
              </a:rPr>
              <a:t>content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40" dirty="0">
                <a:latin typeface="Verdana"/>
                <a:cs typeface="Verdana"/>
              </a:rPr>
              <a:t>Une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métadonnée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définie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b="1" i="1" spc="-145" dirty="0">
                <a:solidFill>
                  <a:srgbClr val="FF0000"/>
                </a:solidFill>
                <a:latin typeface="Verdana"/>
                <a:cs typeface="Verdana"/>
              </a:rPr>
              <a:t>name</a:t>
            </a:r>
            <a:r>
              <a:rPr sz="2000" b="1" i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195" dirty="0">
                <a:solidFill>
                  <a:srgbClr val="FF0000"/>
                </a:solidFill>
                <a:latin typeface="Verdana"/>
                <a:cs typeface="Verdana"/>
              </a:rPr>
              <a:t>OU</a:t>
            </a:r>
            <a:r>
              <a:rPr sz="2000" b="1" i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i="1" spc="-225" dirty="0">
                <a:solidFill>
                  <a:srgbClr val="FF0000"/>
                </a:solidFill>
                <a:latin typeface="Verdana"/>
                <a:cs typeface="Verdana"/>
              </a:rPr>
              <a:t>http-</a:t>
            </a:r>
            <a:r>
              <a:rPr sz="2000" b="1" i="1" spc="-10" dirty="0">
                <a:solidFill>
                  <a:srgbClr val="FF0000"/>
                </a:solidFill>
                <a:latin typeface="Verdana"/>
                <a:cs typeface="Verdana"/>
              </a:rPr>
              <a:t>equiv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14" dirty="0">
                <a:latin typeface="Verdana"/>
                <a:cs typeface="Verdana"/>
              </a:rPr>
              <a:t>Les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métadonnées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sont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ajoutée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l’entête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(head)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sont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affichée.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Elles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sont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sz="2000" spc="100" dirty="0">
                <a:latin typeface="Verdana"/>
                <a:cs typeface="Verdana"/>
              </a:rPr>
              <a:t>accédées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robots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affichant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source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95" dirty="0">
                <a:latin typeface="Verdana"/>
                <a:cs typeface="Verdana"/>
              </a:rPr>
              <a:t>L’utilisateur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peut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définir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50" dirty="0">
                <a:latin typeface="Verdana"/>
                <a:cs typeface="Verdana"/>
              </a:rPr>
              <a:t>ses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propres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métadonnées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54" dirty="0"/>
              <a:t> </a:t>
            </a:r>
            <a:r>
              <a:rPr spc="-10" dirty="0"/>
              <a:t>métadonnées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Quelques</a:t>
            </a:r>
            <a:r>
              <a:rPr spc="-270" dirty="0"/>
              <a:t> </a:t>
            </a:r>
            <a:r>
              <a:rPr spc="-10" dirty="0"/>
              <a:t>métadonnées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15788" y="1976310"/>
            <a:ext cx="6109335" cy="4430395"/>
            <a:chOff x="5415788" y="1976310"/>
            <a:chExt cx="6109335" cy="4430395"/>
          </a:xfrm>
        </p:grpSpPr>
        <p:sp>
          <p:nvSpPr>
            <p:cNvPr id="5" name="object 5"/>
            <p:cNvSpPr/>
            <p:nvPr/>
          </p:nvSpPr>
          <p:spPr>
            <a:xfrm>
              <a:off x="5415788" y="1976310"/>
              <a:ext cx="6109335" cy="567055"/>
            </a:xfrm>
            <a:custGeom>
              <a:avLst/>
              <a:gdLst/>
              <a:ahLst/>
              <a:cxnLst/>
              <a:rect l="l" t="t" r="r" b="b"/>
              <a:pathLst>
                <a:path w="6109334" h="567055">
                  <a:moveTo>
                    <a:pt x="6108827" y="0"/>
                  </a:moveTo>
                  <a:lnTo>
                    <a:pt x="0" y="0"/>
                  </a:lnTo>
                  <a:lnTo>
                    <a:pt x="0" y="566864"/>
                  </a:lnTo>
                  <a:lnTo>
                    <a:pt x="6108827" y="566864"/>
                  </a:lnTo>
                  <a:lnTo>
                    <a:pt x="6108827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5788" y="2543187"/>
              <a:ext cx="6109335" cy="658495"/>
            </a:xfrm>
            <a:custGeom>
              <a:avLst/>
              <a:gdLst/>
              <a:ahLst/>
              <a:cxnLst/>
              <a:rect l="l" t="t" r="r" b="b"/>
              <a:pathLst>
                <a:path w="6109334" h="658494">
                  <a:moveTo>
                    <a:pt x="6108827" y="0"/>
                  </a:moveTo>
                  <a:lnTo>
                    <a:pt x="0" y="0"/>
                  </a:lnTo>
                  <a:lnTo>
                    <a:pt x="0" y="657974"/>
                  </a:lnTo>
                  <a:lnTo>
                    <a:pt x="6108827" y="657974"/>
                  </a:lnTo>
                  <a:lnTo>
                    <a:pt x="610882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5788" y="3201174"/>
              <a:ext cx="6109335" cy="658495"/>
            </a:xfrm>
            <a:custGeom>
              <a:avLst/>
              <a:gdLst/>
              <a:ahLst/>
              <a:cxnLst/>
              <a:rect l="l" t="t" r="r" b="b"/>
              <a:pathLst>
                <a:path w="6109334" h="658495">
                  <a:moveTo>
                    <a:pt x="6108827" y="0"/>
                  </a:moveTo>
                  <a:lnTo>
                    <a:pt x="0" y="0"/>
                  </a:lnTo>
                  <a:lnTo>
                    <a:pt x="0" y="657974"/>
                  </a:lnTo>
                  <a:lnTo>
                    <a:pt x="6108827" y="657974"/>
                  </a:lnTo>
                  <a:lnTo>
                    <a:pt x="6108827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5788" y="3859212"/>
              <a:ext cx="6109335" cy="567055"/>
            </a:xfrm>
            <a:custGeom>
              <a:avLst/>
              <a:gdLst/>
              <a:ahLst/>
              <a:cxnLst/>
              <a:rect l="l" t="t" r="r" b="b"/>
              <a:pathLst>
                <a:path w="6109334" h="567054">
                  <a:moveTo>
                    <a:pt x="6108827" y="0"/>
                  </a:moveTo>
                  <a:lnTo>
                    <a:pt x="0" y="0"/>
                  </a:lnTo>
                  <a:lnTo>
                    <a:pt x="0" y="566864"/>
                  </a:lnTo>
                  <a:lnTo>
                    <a:pt x="6108827" y="566864"/>
                  </a:lnTo>
                  <a:lnTo>
                    <a:pt x="610882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15788" y="4426077"/>
              <a:ext cx="6109335" cy="731520"/>
            </a:xfrm>
            <a:custGeom>
              <a:avLst/>
              <a:gdLst/>
              <a:ahLst/>
              <a:cxnLst/>
              <a:rect l="l" t="t" r="r" b="b"/>
              <a:pathLst>
                <a:path w="6109334" h="731520">
                  <a:moveTo>
                    <a:pt x="6108827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6108827" y="731520"/>
                  </a:lnTo>
                  <a:lnTo>
                    <a:pt x="6108827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15788" y="5157546"/>
              <a:ext cx="6109335" cy="591185"/>
            </a:xfrm>
            <a:custGeom>
              <a:avLst/>
              <a:gdLst/>
              <a:ahLst/>
              <a:cxnLst/>
              <a:rect l="l" t="t" r="r" b="b"/>
              <a:pathLst>
                <a:path w="6109334" h="591185">
                  <a:moveTo>
                    <a:pt x="6108827" y="0"/>
                  </a:moveTo>
                  <a:lnTo>
                    <a:pt x="0" y="0"/>
                  </a:lnTo>
                  <a:lnTo>
                    <a:pt x="0" y="590638"/>
                  </a:lnTo>
                  <a:lnTo>
                    <a:pt x="6108827" y="590638"/>
                  </a:lnTo>
                  <a:lnTo>
                    <a:pt x="610882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5788" y="5748184"/>
              <a:ext cx="6109335" cy="658495"/>
            </a:xfrm>
            <a:custGeom>
              <a:avLst/>
              <a:gdLst/>
              <a:ahLst/>
              <a:cxnLst/>
              <a:rect l="l" t="t" r="r" b="b"/>
              <a:pathLst>
                <a:path w="6109334" h="658495">
                  <a:moveTo>
                    <a:pt x="6108827" y="0"/>
                  </a:moveTo>
                  <a:lnTo>
                    <a:pt x="0" y="0"/>
                  </a:lnTo>
                  <a:lnTo>
                    <a:pt x="0" y="657974"/>
                  </a:lnTo>
                  <a:lnTo>
                    <a:pt x="6108827" y="657974"/>
                  </a:lnTo>
                  <a:lnTo>
                    <a:pt x="6108827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07228" y="2026665"/>
              <a:ext cx="5710555" cy="2870835"/>
            </a:xfrm>
            <a:custGeom>
              <a:avLst/>
              <a:gdLst/>
              <a:ahLst/>
              <a:cxnLst/>
              <a:rect l="l" t="t" r="r" b="b"/>
              <a:pathLst>
                <a:path w="5710555" h="2870835">
                  <a:moveTo>
                    <a:pt x="490728" y="2448179"/>
                  </a:moveTo>
                  <a:lnTo>
                    <a:pt x="97536" y="2448179"/>
                  </a:lnTo>
                  <a:lnTo>
                    <a:pt x="0" y="2448179"/>
                  </a:lnTo>
                  <a:lnTo>
                    <a:pt x="0" y="2656967"/>
                  </a:lnTo>
                  <a:lnTo>
                    <a:pt x="97536" y="2656967"/>
                  </a:lnTo>
                  <a:lnTo>
                    <a:pt x="490728" y="2656967"/>
                  </a:lnTo>
                  <a:lnTo>
                    <a:pt x="490728" y="2448179"/>
                  </a:lnTo>
                  <a:close/>
                </a:path>
                <a:path w="5710555" h="2870835">
                  <a:moveTo>
                    <a:pt x="490728" y="1882775"/>
                  </a:moveTo>
                  <a:lnTo>
                    <a:pt x="97536" y="1882775"/>
                  </a:lnTo>
                  <a:lnTo>
                    <a:pt x="0" y="1882775"/>
                  </a:lnTo>
                  <a:lnTo>
                    <a:pt x="0" y="2091563"/>
                  </a:lnTo>
                  <a:lnTo>
                    <a:pt x="97536" y="2091563"/>
                  </a:lnTo>
                  <a:lnTo>
                    <a:pt x="490728" y="2091563"/>
                  </a:lnTo>
                  <a:lnTo>
                    <a:pt x="490728" y="1882775"/>
                  </a:lnTo>
                  <a:close/>
                </a:path>
                <a:path w="5710555" h="2870835">
                  <a:moveTo>
                    <a:pt x="490728" y="1223264"/>
                  </a:moveTo>
                  <a:lnTo>
                    <a:pt x="97536" y="1223264"/>
                  </a:lnTo>
                  <a:lnTo>
                    <a:pt x="0" y="1223264"/>
                  </a:lnTo>
                  <a:lnTo>
                    <a:pt x="0" y="1432052"/>
                  </a:lnTo>
                  <a:lnTo>
                    <a:pt x="97536" y="1432052"/>
                  </a:lnTo>
                  <a:lnTo>
                    <a:pt x="490728" y="1432052"/>
                  </a:lnTo>
                  <a:lnTo>
                    <a:pt x="490728" y="1223264"/>
                  </a:lnTo>
                  <a:close/>
                </a:path>
                <a:path w="5710555" h="2870835">
                  <a:moveTo>
                    <a:pt x="490728" y="565277"/>
                  </a:moveTo>
                  <a:lnTo>
                    <a:pt x="97536" y="565277"/>
                  </a:lnTo>
                  <a:lnTo>
                    <a:pt x="0" y="565277"/>
                  </a:lnTo>
                  <a:lnTo>
                    <a:pt x="0" y="774065"/>
                  </a:lnTo>
                  <a:lnTo>
                    <a:pt x="97536" y="774065"/>
                  </a:lnTo>
                  <a:lnTo>
                    <a:pt x="490728" y="774065"/>
                  </a:lnTo>
                  <a:lnTo>
                    <a:pt x="490728" y="565277"/>
                  </a:lnTo>
                  <a:close/>
                </a:path>
                <a:path w="5710555" h="2870835">
                  <a:moveTo>
                    <a:pt x="982967" y="2448179"/>
                  </a:moveTo>
                  <a:lnTo>
                    <a:pt x="589788" y="2448179"/>
                  </a:lnTo>
                  <a:lnTo>
                    <a:pt x="589788" y="2656967"/>
                  </a:lnTo>
                  <a:lnTo>
                    <a:pt x="982967" y="2656967"/>
                  </a:lnTo>
                  <a:lnTo>
                    <a:pt x="982967" y="2448179"/>
                  </a:lnTo>
                  <a:close/>
                </a:path>
                <a:path w="5710555" h="2870835">
                  <a:moveTo>
                    <a:pt x="982967" y="1882775"/>
                  </a:moveTo>
                  <a:lnTo>
                    <a:pt x="589788" y="1882775"/>
                  </a:lnTo>
                  <a:lnTo>
                    <a:pt x="589788" y="2091563"/>
                  </a:lnTo>
                  <a:lnTo>
                    <a:pt x="982967" y="2091563"/>
                  </a:lnTo>
                  <a:lnTo>
                    <a:pt x="982967" y="1882775"/>
                  </a:lnTo>
                  <a:close/>
                </a:path>
                <a:path w="5710555" h="2870835">
                  <a:moveTo>
                    <a:pt x="982967" y="1223264"/>
                  </a:moveTo>
                  <a:lnTo>
                    <a:pt x="589788" y="1223264"/>
                  </a:lnTo>
                  <a:lnTo>
                    <a:pt x="589788" y="1432052"/>
                  </a:lnTo>
                  <a:lnTo>
                    <a:pt x="982967" y="1432052"/>
                  </a:lnTo>
                  <a:lnTo>
                    <a:pt x="982967" y="1223264"/>
                  </a:lnTo>
                  <a:close/>
                </a:path>
                <a:path w="5710555" h="2870835">
                  <a:moveTo>
                    <a:pt x="982967" y="565277"/>
                  </a:moveTo>
                  <a:lnTo>
                    <a:pt x="589788" y="565277"/>
                  </a:lnTo>
                  <a:lnTo>
                    <a:pt x="589788" y="774065"/>
                  </a:lnTo>
                  <a:lnTo>
                    <a:pt x="982967" y="774065"/>
                  </a:lnTo>
                  <a:lnTo>
                    <a:pt x="982967" y="565277"/>
                  </a:lnTo>
                  <a:close/>
                </a:path>
                <a:path w="5710555" h="2870835">
                  <a:moveTo>
                    <a:pt x="982967" y="0"/>
                  </a:moveTo>
                  <a:lnTo>
                    <a:pt x="589788" y="0"/>
                  </a:lnTo>
                  <a:lnTo>
                    <a:pt x="97536" y="0"/>
                  </a:lnTo>
                  <a:lnTo>
                    <a:pt x="0" y="0"/>
                  </a:lnTo>
                  <a:lnTo>
                    <a:pt x="0" y="208788"/>
                  </a:lnTo>
                  <a:lnTo>
                    <a:pt x="97536" y="208788"/>
                  </a:lnTo>
                  <a:lnTo>
                    <a:pt x="589788" y="208788"/>
                  </a:lnTo>
                  <a:lnTo>
                    <a:pt x="982967" y="208788"/>
                  </a:lnTo>
                  <a:lnTo>
                    <a:pt x="982967" y="0"/>
                  </a:lnTo>
                  <a:close/>
                </a:path>
                <a:path w="5710555" h="2870835">
                  <a:moveTo>
                    <a:pt x="1770875" y="2448179"/>
                  </a:moveTo>
                  <a:lnTo>
                    <a:pt x="1673352" y="2448179"/>
                  </a:lnTo>
                  <a:lnTo>
                    <a:pt x="1574292" y="2448179"/>
                  </a:lnTo>
                  <a:lnTo>
                    <a:pt x="1082040" y="2448179"/>
                  </a:lnTo>
                  <a:lnTo>
                    <a:pt x="982980" y="2448179"/>
                  </a:lnTo>
                  <a:lnTo>
                    <a:pt x="982980" y="2656967"/>
                  </a:lnTo>
                  <a:lnTo>
                    <a:pt x="1082040" y="2656967"/>
                  </a:lnTo>
                  <a:lnTo>
                    <a:pt x="1574292" y="2656967"/>
                  </a:lnTo>
                  <a:lnTo>
                    <a:pt x="1673352" y="2656967"/>
                  </a:lnTo>
                  <a:lnTo>
                    <a:pt x="1770875" y="2656967"/>
                  </a:lnTo>
                  <a:lnTo>
                    <a:pt x="1770875" y="2448179"/>
                  </a:lnTo>
                  <a:close/>
                </a:path>
                <a:path w="5710555" h="2870835">
                  <a:moveTo>
                    <a:pt x="1770875" y="1882775"/>
                  </a:moveTo>
                  <a:lnTo>
                    <a:pt x="1673352" y="1882775"/>
                  </a:lnTo>
                  <a:lnTo>
                    <a:pt x="1574292" y="1882775"/>
                  </a:lnTo>
                  <a:lnTo>
                    <a:pt x="1082040" y="1882775"/>
                  </a:lnTo>
                  <a:lnTo>
                    <a:pt x="982980" y="1882775"/>
                  </a:lnTo>
                  <a:lnTo>
                    <a:pt x="982980" y="2091563"/>
                  </a:lnTo>
                  <a:lnTo>
                    <a:pt x="1082040" y="2091563"/>
                  </a:lnTo>
                  <a:lnTo>
                    <a:pt x="1574292" y="2091563"/>
                  </a:lnTo>
                  <a:lnTo>
                    <a:pt x="1673352" y="2091563"/>
                  </a:lnTo>
                  <a:lnTo>
                    <a:pt x="1770875" y="2091563"/>
                  </a:lnTo>
                  <a:lnTo>
                    <a:pt x="1770875" y="1882775"/>
                  </a:lnTo>
                  <a:close/>
                </a:path>
                <a:path w="5710555" h="2870835">
                  <a:moveTo>
                    <a:pt x="2362200" y="1438148"/>
                  </a:moveTo>
                  <a:lnTo>
                    <a:pt x="0" y="1438148"/>
                  </a:lnTo>
                  <a:lnTo>
                    <a:pt x="0" y="1646936"/>
                  </a:lnTo>
                  <a:lnTo>
                    <a:pt x="2362200" y="1646936"/>
                  </a:lnTo>
                  <a:lnTo>
                    <a:pt x="2362200" y="1438148"/>
                  </a:lnTo>
                  <a:close/>
                </a:path>
                <a:path w="5710555" h="2870835">
                  <a:moveTo>
                    <a:pt x="2362200" y="780161"/>
                  </a:moveTo>
                  <a:lnTo>
                    <a:pt x="0" y="780161"/>
                  </a:lnTo>
                  <a:lnTo>
                    <a:pt x="0" y="988949"/>
                  </a:lnTo>
                  <a:lnTo>
                    <a:pt x="2362200" y="988949"/>
                  </a:lnTo>
                  <a:lnTo>
                    <a:pt x="2362200" y="780161"/>
                  </a:lnTo>
                  <a:close/>
                </a:path>
                <a:path w="5710555" h="2870835">
                  <a:moveTo>
                    <a:pt x="2558796" y="2661539"/>
                  </a:moveTo>
                  <a:lnTo>
                    <a:pt x="393192" y="2661539"/>
                  </a:lnTo>
                  <a:lnTo>
                    <a:pt x="294132" y="2661539"/>
                  </a:lnTo>
                  <a:lnTo>
                    <a:pt x="0" y="2661539"/>
                  </a:lnTo>
                  <a:lnTo>
                    <a:pt x="0" y="2870327"/>
                  </a:lnTo>
                  <a:lnTo>
                    <a:pt x="294132" y="2870327"/>
                  </a:lnTo>
                  <a:lnTo>
                    <a:pt x="393192" y="2870327"/>
                  </a:lnTo>
                  <a:lnTo>
                    <a:pt x="2558796" y="2870327"/>
                  </a:lnTo>
                  <a:lnTo>
                    <a:pt x="2558796" y="2661539"/>
                  </a:lnTo>
                  <a:close/>
                </a:path>
                <a:path w="5710555" h="2870835">
                  <a:moveTo>
                    <a:pt x="2755379" y="0"/>
                  </a:moveTo>
                  <a:lnTo>
                    <a:pt x="2657856" y="0"/>
                  </a:lnTo>
                  <a:lnTo>
                    <a:pt x="1967484" y="0"/>
                  </a:lnTo>
                  <a:lnTo>
                    <a:pt x="1082040" y="0"/>
                  </a:lnTo>
                  <a:lnTo>
                    <a:pt x="982980" y="0"/>
                  </a:lnTo>
                  <a:lnTo>
                    <a:pt x="982980" y="208788"/>
                  </a:lnTo>
                  <a:lnTo>
                    <a:pt x="1082040" y="208788"/>
                  </a:lnTo>
                  <a:lnTo>
                    <a:pt x="1967484" y="208788"/>
                  </a:lnTo>
                  <a:lnTo>
                    <a:pt x="2657856" y="208788"/>
                  </a:lnTo>
                  <a:lnTo>
                    <a:pt x="2755379" y="208788"/>
                  </a:lnTo>
                  <a:lnTo>
                    <a:pt x="2755379" y="0"/>
                  </a:lnTo>
                  <a:close/>
                </a:path>
                <a:path w="5710555" h="2870835">
                  <a:moveTo>
                    <a:pt x="2953499" y="1223264"/>
                  </a:moveTo>
                  <a:lnTo>
                    <a:pt x="2854452" y="1223264"/>
                  </a:lnTo>
                  <a:lnTo>
                    <a:pt x="2165604" y="1223264"/>
                  </a:lnTo>
                  <a:lnTo>
                    <a:pt x="1082040" y="1223264"/>
                  </a:lnTo>
                  <a:lnTo>
                    <a:pt x="982980" y="1223264"/>
                  </a:lnTo>
                  <a:lnTo>
                    <a:pt x="982980" y="1432052"/>
                  </a:lnTo>
                  <a:lnTo>
                    <a:pt x="1082040" y="1432052"/>
                  </a:lnTo>
                  <a:lnTo>
                    <a:pt x="2165604" y="1432052"/>
                  </a:lnTo>
                  <a:lnTo>
                    <a:pt x="2854452" y="1432052"/>
                  </a:lnTo>
                  <a:lnTo>
                    <a:pt x="2953499" y="1432052"/>
                  </a:lnTo>
                  <a:lnTo>
                    <a:pt x="2953499" y="1223264"/>
                  </a:lnTo>
                  <a:close/>
                </a:path>
                <a:path w="5710555" h="2870835">
                  <a:moveTo>
                    <a:pt x="3247631" y="565277"/>
                  </a:moveTo>
                  <a:lnTo>
                    <a:pt x="3150108" y="565277"/>
                  </a:lnTo>
                  <a:lnTo>
                    <a:pt x="2459736" y="565277"/>
                  </a:lnTo>
                  <a:lnTo>
                    <a:pt x="1082040" y="565277"/>
                  </a:lnTo>
                  <a:lnTo>
                    <a:pt x="982980" y="565277"/>
                  </a:lnTo>
                  <a:lnTo>
                    <a:pt x="982980" y="774065"/>
                  </a:lnTo>
                  <a:lnTo>
                    <a:pt x="1082040" y="774065"/>
                  </a:lnTo>
                  <a:lnTo>
                    <a:pt x="2459736" y="774065"/>
                  </a:lnTo>
                  <a:lnTo>
                    <a:pt x="3150108" y="774065"/>
                  </a:lnTo>
                  <a:lnTo>
                    <a:pt x="3247631" y="774065"/>
                  </a:lnTo>
                  <a:lnTo>
                    <a:pt x="3247631" y="565277"/>
                  </a:lnTo>
                  <a:close/>
                </a:path>
                <a:path w="5710555" h="2870835">
                  <a:moveTo>
                    <a:pt x="3444227" y="2448179"/>
                  </a:moveTo>
                  <a:lnTo>
                    <a:pt x="3346704" y="2448179"/>
                  </a:lnTo>
                  <a:lnTo>
                    <a:pt x="2657856" y="2448179"/>
                  </a:lnTo>
                  <a:lnTo>
                    <a:pt x="2459736" y="2448179"/>
                  </a:lnTo>
                  <a:lnTo>
                    <a:pt x="1770888" y="2448179"/>
                  </a:lnTo>
                  <a:lnTo>
                    <a:pt x="1770888" y="2656967"/>
                  </a:lnTo>
                  <a:lnTo>
                    <a:pt x="2459736" y="2656967"/>
                  </a:lnTo>
                  <a:lnTo>
                    <a:pt x="2657856" y="2656967"/>
                  </a:lnTo>
                  <a:lnTo>
                    <a:pt x="3346704" y="2656967"/>
                  </a:lnTo>
                  <a:lnTo>
                    <a:pt x="3444227" y="2656967"/>
                  </a:lnTo>
                  <a:lnTo>
                    <a:pt x="3444227" y="2448179"/>
                  </a:lnTo>
                  <a:close/>
                </a:path>
                <a:path w="5710555" h="2870835">
                  <a:moveTo>
                    <a:pt x="3444227" y="1882775"/>
                  </a:moveTo>
                  <a:lnTo>
                    <a:pt x="3346704" y="1882775"/>
                  </a:lnTo>
                  <a:lnTo>
                    <a:pt x="2657856" y="1882775"/>
                  </a:lnTo>
                  <a:lnTo>
                    <a:pt x="2459736" y="1882775"/>
                  </a:lnTo>
                  <a:lnTo>
                    <a:pt x="1770888" y="1882775"/>
                  </a:lnTo>
                  <a:lnTo>
                    <a:pt x="1770888" y="2091563"/>
                  </a:lnTo>
                  <a:lnTo>
                    <a:pt x="2459736" y="2091563"/>
                  </a:lnTo>
                  <a:lnTo>
                    <a:pt x="2657856" y="2091563"/>
                  </a:lnTo>
                  <a:lnTo>
                    <a:pt x="3346704" y="2091563"/>
                  </a:lnTo>
                  <a:lnTo>
                    <a:pt x="3444227" y="2091563"/>
                  </a:lnTo>
                  <a:lnTo>
                    <a:pt x="3444227" y="1882775"/>
                  </a:lnTo>
                  <a:close/>
                </a:path>
                <a:path w="5710555" h="2870835">
                  <a:moveTo>
                    <a:pt x="3938016" y="2448179"/>
                  </a:moveTo>
                  <a:lnTo>
                    <a:pt x="3444240" y="2448179"/>
                  </a:lnTo>
                  <a:lnTo>
                    <a:pt x="3444240" y="2656967"/>
                  </a:lnTo>
                  <a:lnTo>
                    <a:pt x="3938016" y="2656967"/>
                  </a:lnTo>
                  <a:lnTo>
                    <a:pt x="3938016" y="2448179"/>
                  </a:lnTo>
                  <a:close/>
                </a:path>
                <a:path w="5710555" h="2870835">
                  <a:moveTo>
                    <a:pt x="4134612" y="1882775"/>
                  </a:moveTo>
                  <a:lnTo>
                    <a:pt x="3444240" y="1882775"/>
                  </a:lnTo>
                  <a:lnTo>
                    <a:pt x="3444240" y="2091563"/>
                  </a:lnTo>
                  <a:lnTo>
                    <a:pt x="4134612" y="2091563"/>
                  </a:lnTo>
                  <a:lnTo>
                    <a:pt x="4134612" y="1882775"/>
                  </a:lnTo>
                  <a:close/>
                </a:path>
                <a:path w="5710555" h="2870835">
                  <a:moveTo>
                    <a:pt x="4331208" y="0"/>
                  </a:moveTo>
                  <a:lnTo>
                    <a:pt x="2755392" y="0"/>
                  </a:lnTo>
                  <a:lnTo>
                    <a:pt x="2755392" y="208788"/>
                  </a:lnTo>
                  <a:lnTo>
                    <a:pt x="4331208" y="208788"/>
                  </a:lnTo>
                  <a:lnTo>
                    <a:pt x="4331208" y="0"/>
                  </a:lnTo>
                  <a:close/>
                </a:path>
                <a:path w="5710555" h="2870835">
                  <a:moveTo>
                    <a:pt x="5020056" y="1223264"/>
                  </a:moveTo>
                  <a:lnTo>
                    <a:pt x="3739896" y="1223264"/>
                  </a:lnTo>
                  <a:lnTo>
                    <a:pt x="2953512" y="1223264"/>
                  </a:lnTo>
                  <a:lnTo>
                    <a:pt x="2953512" y="1432052"/>
                  </a:lnTo>
                  <a:lnTo>
                    <a:pt x="3739896" y="1432052"/>
                  </a:lnTo>
                  <a:lnTo>
                    <a:pt x="5020056" y="1432052"/>
                  </a:lnTo>
                  <a:lnTo>
                    <a:pt x="5020056" y="1223264"/>
                  </a:lnTo>
                  <a:close/>
                </a:path>
                <a:path w="5710555" h="2870835">
                  <a:moveTo>
                    <a:pt x="5611368" y="1223264"/>
                  </a:moveTo>
                  <a:lnTo>
                    <a:pt x="5119116" y="1223264"/>
                  </a:lnTo>
                  <a:lnTo>
                    <a:pt x="5119116" y="1432052"/>
                  </a:lnTo>
                  <a:lnTo>
                    <a:pt x="5611368" y="1432052"/>
                  </a:lnTo>
                  <a:lnTo>
                    <a:pt x="5611368" y="1223264"/>
                  </a:lnTo>
                  <a:close/>
                </a:path>
                <a:path w="5710555" h="2870835">
                  <a:moveTo>
                    <a:pt x="5710428" y="565277"/>
                  </a:moveTo>
                  <a:lnTo>
                    <a:pt x="3247644" y="565277"/>
                  </a:lnTo>
                  <a:lnTo>
                    <a:pt x="3247644" y="774065"/>
                  </a:lnTo>
                  <a:lnTo>
                    <a:pt x="5710428" y="774065"/>
                  </a:lnTo>
                  <a:lnTo>
                    <a:pt x="5710428" y="565277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07228" y="4903088"/>
              <a:ext cx="688975" cy="208915"/>
            </a:xfrm>
            <a:custGeom>
              <a:avLst/>
              <a:gdLst/>
              <a:ahLst/>
              <a:cxnLst/>
              <a:rect l="l" t="t" r="r" b="b"/>
              <a:pathLst>
                <a:path w="688975" h="208914">
                  <a:moveTo>
                    <a:pt x="688848" y="0"/>
                  </a:moveTo>
                  <a:lnTo>
                    <a:pt x="589788" y="0"/>
                  </a:lnTo>
                  <a:lnTo>
                    <a:pt x="196596" y="0"/>
                  </a:lnTo>
                  <a:lnTo>
                    <a:pt x="0" y="0"/>
                  </a:lnTo>
                  <a:lnTo>
                    <a:pt x="0" y="208788"/>
                  </a:lnTo>
                  <a:lnTo>
                    <a:pt x="196596" y="208788"/>
                  </a:lnTo>
                  <a:lnTo>
                    <a:pt x="589788" y="208788"/>
                  </a:lnTo>
                  <a:lnTo>
                    <a:pt x="688848" y="208788"/>
                  </a:lnTo>
                  <a:lnTo>
                    <a:pt x="688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07228" y="5207888"/>
              <a:ext cx="5808345" cy="799465"/>
            </a:xfrm>
            <a:custGeom>
              <a:avLst/>
              <a:gdLst/>
              <a:ahLst/>
              <a:cxnLst/>
              <a:rect l="l" t="t" r="r" b="b"/>
              <a:pathLst>
                <a:path w="5808345" h="799464">
                  <a:moveTo>
                    <a:pt x="490728" y="590600"/>
                  </a:moveTo>
                  <a:lnTo>
                    <a:pt x="97536" y="590600"/>
                  </a:lnTo>
                  <a:lnTo>
                    <a:pt x="0" y="590600"/>
                  </a:lnTo>
                  <a:lnTo>
                    <a:pt x="0" y="799376"/>
                  </a:lnTo>
                  <a:lnTo>
                    <a:pt x="97536" y="799376"/>
                  </a:lnTo>
                  <a:lnTo>
                    <a:pt x="490728" y="799376"/>
                  </a:lnTo>
                  <a:lnTo>
                    <a:pt x="490728" y="590600"/>
                  </a:lnTo>
                  <a:close/>
                </a:path>
                <a:path w="5808345" h="799464">
                  <a:moveTo>
                    <a:pt x="490728" y="0"/>
                  </a:moveTo>
                  <a:lnTo>
                    <a:pt x="97536" y="0"/>
                  </a:lnTo>
                  <a:lnTo>
                    <a:pt x="0" y="0"/>
                  </a:lnTo>
                  <a:lnTo>
                    <a:pt x="0" y="208788"/>
                  </a:lnTo>
                  <a:lnTo>
                    <a:pt x="97536" y="208788"/>
                  </a:lnTo>
                  <a:lnTo>
                    <a:pt x="490728" y="208788"/>
                  </a:lnTo>
                  <a:lnTo>
                    <a:pt x="490728" y="0"/>
                  </a:lnTo>
                  <a:close/>
                </a:path>
                <a:path w="5808345" h="799464">
                  <a:moveTo>
                    <a:pt x="982967" y="590600"/>
                  </a:moveTo>
                  <a:lnTo>
                    <a:pt x="589788" y="590600"/>
                  </a:lnTo>
                  <a:lnTo>
                    <a:pt x="589788" y="799376"/>
                  </a:lnTo>
                  <a:lnTo>
                    <a:pt x="982967" y="799376"/>
                  </a:lnTo>
                  <a:lnTo>
                    <a:pt x="982967" y="590600"/>
                  </a:lnTo>
                  <a:close/>
                </a:path>
                <a:path w="5808345" h="799464">
                  <a:moveTo>
                    <a:pt x="982967" y="0"/>
                  </a:moveTo>
                  <a:lnTo>
                    <a:pt x="589788" y="0"/>
                  </a:lnTo>
                  <a:lnTo>
                    <a:pt x="589788" y="208788"/>
                  </a:lnTo>
                  <a:lnTo>
                    <a:pt x="982967" y="208788"/>
                  </a:lnTo>
                  <a:lnTo>
                    <a:pt x="982967" y="0"/>
                  </a:lnTo>
                  <a:close/>
                </a:path>
                <a:path w="5808345" h="799464">
                  <a:moveTo>
                    <a:pt x="1770875" y="0"/>
                  </a:moveTo>
                  <a:lnTo>
                    <a:pt x="1673352" y="0"/>
                  </a:lnTo>
                  <a:lnTo>
                    <a:pt x="1574292" y="0"/>
                  </a:lnTo>
                  <a:lnTo>
                    <a:pt x="1082040" y="0"/>
                  </a:lnTo>
                  <a:lnTo>
                    <a:pt x="982980" y="0"/>
                  </a:lnTo>
                  <a:lnTo>
                    <a:pt x="982980" y="208788"/>
                  </a:lnTo>
                  <a:lnTo>
                    <a:pt x="1082040" y="208788"/>
                  </a:lnTo>
                  <a:lnTo>
                    <a:pt x="1574292" y="208788"/>
                  </a:lnTo>
                  <a:lnTo>
                    <a:pt x="1673352" y="208788"/>
                  </a:lnTo>
                  <a:lnTo>
                    <a:pt x="1770875" y="208788"/>
                  </a:lnTo>
                  <a:lnTo>
                    <a:pt x="1770875" y="0"/>
                  </a:lnTo>
                  <a:close/>
                </a:path>
                <a:path w="5808345" h="799464">
                  <a:moveTo>
                    <a:pt x="3444227" y="590600"/>
                  </a:moveTo>
                  <a:lnTo>
                    <a:pt x="3444227" y="590600"/>
                  </a:lnTo>
                  <a:lnTo>
                    <a:pt x="982980" y="590600"/>
                  </a:lnTo>
                  <a:lnTo>
                    <a:pt x="982980" y="799376"/>
                  </a:lnTo>
                  <a:lnTo>
                    <a:pt x="3444227" y="799376"/>
                  </a:lnTo>
                  <a:lnTo>
                    <a:pt x="3444227" y="590600"/>
                  </a:lnTo>
                  <a:close/>
                </a:path>
                <a:path w="5808345" h="799464">
                  <a:moveTo>
                    <a:pt x="3642347" y="0"/>
                  </a:moveTo>
                  <a:lnTo>
                    <a:pt x="3642347" y="0"/>
                  </a:lnTo>
                  <a:lnTo>
                    <a:pt x="1770888" y="0"/>
                  </a:lnTo>
                  <a:lnTo>
                    <a:pt x="1770888" y="208788"/>
                  </a:lnTo>
                  <a:lnTo>
                    <a:pt x="3642347" y="208788"/>
                  </a:lnTo>
                  <a:lnTo>
                    <a:pt x="3642347" y="0"/>
                  </a:lnTo>
                  <a:close/>
                </a:path>
                <a:path w="5808345" h="799464">
                  <a:moveTo>
                    <a:pt x="4725924" y="0"/>
                  </a:moveTo>
                  <a:lnTo>
                    <a:pt x="3739896" y="0"/>
                  </a:lnTo>
                  <a:lnTo>
                    <a:pt x="3642360" y="0"/>
                  </a:lnTo>
                  <a:lnTo>
                    <a:pt x="3642360" y="208788"/>
                  </a:lnTo>
                  <a:lnTo>
                    <a:pt x="3739896" y="208788"/>
                  </a:lnTo>
                  <a:lnTo>
                    <a:pt x="4725924" y="208788"/>
                  </a:lnTo>
                  <a:lnTo>
                    <a:pt x="4725924" y="0"/>
                  </a:lnTo>
                  <a:close/>
                </a:path>
                <a:path w="5808345" h="799464">
                  <a:moveTo>
                    <a:pt x="5807964" y="590600"/>
                  </a:moveTo>
                  <a:lnTo>
                    <a:pt x="3444240" y="590600"/>
                  </a:lnTo>
                  <a:lnTo>
                    <a:pt x="3444240" y="799376"/>
                  </a:lnTo>
                  <a:lnTo>
                    <a:pt x="5807964" y="799376"/>
                  </a:lnTo>
                  <a:lnTo>
                    <a:pt x="5807964" y="59060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18744" y="1403096"/>
          <a:ext cx="11200765" cy="4994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Métadonnée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Exemple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53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author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Donne</a:t>
                      </a:r>
                      <a:r>
                        <a:rPr sz="14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l’auteur</a:t>
                      </a:r>
                      <a:r>
                        <a:rPr sz="14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7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4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4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60" dirty="0">
                          <a:latin typeface="Verdana"/>
                          <a:cs typeface="Verdana"/>
                        </a:rPr>
                        <a:t>page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meta</a:t>
                      </a:r>
                      <a:r>
                        <a:rPr sz="1400" spc="-5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"author"</a:t>
                      </a:r>
                      <a:r>
                        <a:rPr sz="1400" b="1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content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“Mohamed</a:t>
                      </a:r>
                      <a:r>
                        <a:rPr sz="1400" b="1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Dib"</a:t>
                      </a:r>
                      <a:r>
                        <a:rPr sz="1400" b="1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Donne</a:t>
                      </a:r>
                      <a:r>
                        <a:rPr sz="14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un</a:t>
                      </a:r>
                      <a:r>
                        <a:rPr sz="14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65" dirty="0">
                          <a:latin typeface="Verdana"/>
                          <a:cs typeface="Verdana"/>
                        </a:rPr>
                        <a:t>résumé</a:t>
                      </a:r>
                      <a:r>
                        <a:rPr sz="14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40" dirty="0">
                          <a:latin typeface="Verdana"/>
                          <a:cs typeface="Verdana"/>
                        </a:rPr>
                        <a:t>sur</a:t>
                      </a:r>
                      <a:r>
                        <a:rPr sz="14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4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60" dirty="0">
                          <a:latin typeface="Verdana"/>
                          <a:cs typeface="Verdana"/>
                        </a:rPr>
                        <a:t>page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99415">
                        <a:lnSpc>
                          <a:spcPct val="100699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meta</a:t>
                      </a:r>
                      <a:r>
                        <a:rPr sz="1400" spc="-4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"description"</a:t>
                      </a:r>
                      <a:r>
                        <a:rPr sz="1400" b="1" spc="-4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content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"Un</a:t>
                      </a:r>
                      <a:r>
                        <a:rPr sz="1400" b="1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article</a:t>
                      </a:r>
                      <a:r>
                        <a:rPr sz="1400" b="1" spc="-4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sur</a:t>
                      </a:r>
                      <a:r>
                        <a:rPr sz="1400" b="1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quelques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nouveautés</a:t>
                      </a:r>
                      <a:r>
                        <a:rPr sz="1400" b="1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sur</a:t>
                      </a:r>
                      <a:r>
                        <a:rPr sz="1400" b="1" spc="-3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HTML5"</a:t>
                      </a:r>
                      <a:r>
                        <a:rPr sz="1400" b="1" spc="-3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keywords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5" dirty="0">
                          <a:latin typeface="Verdana"/>
                          <a:cs typeface="Verdana"/>
                        </a:rPr>
                        <a:t>Mots</a:t>
                      </a:r>
                      <a:r>
                        <a:rPr sz="14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clé</a:t>
                      </a:r>
                      <a:r>
                        <a:rPr sz="14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70" dirty="0">
                          <a:latin typeface="Verdana"/>
                          <a:cs typeface="Verdana"/>
                        </a:rPr>
                        <a:t>relatifs</a:t>
                      </a:r>
                      <a:r>
                        <a:rPr sz="14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114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4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4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60" dirty="0">
                          <a:latin typeface="Verdana"/>
                          <a:cs typeface="Verdana"/>
                        </a:rPr>
                        <a:t>page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meta</a:t>
                      </a:r>
                      <a:r>
                        <a:rPr sz="1400" spc="-6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"keywords"</a:t>
                      </a:r>
                      <a:r>
                        <a:rPr sz="1400" b="1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content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"HTML5,</a:t>
                      </a:r>
                      <a:r>
                        <a:rPr sz="1400" b="1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developpement</a:t>
                      </a:r>
                      <a:r>
                        <a:rPr sz="1400" b="1" spc="-5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web,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formation,</a:t>
                      </a:r>
                      <a:r>
                        <a:rPr sz="1400" b="1" spc="-9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nouveauté"</a:t>
                      </a:r>
                      <a:r>
                        <a:rPr sz="1400" b="1" spc="-7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refresh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45" dirty="0">
                          <a:latin typeface="Verdana"/>
                          <a:cs typeface="Verdana"/>
                        </a:rPr>
                        <a:t>Rafraîchissement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auttomatique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meta</a:t>
                      </a:r>
                      <a:r>
                        <a:rPr sz="1400" spc="-9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http-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equiv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"refresh"</a:t>
                      </a:r>
                      <a:r>
                        <a:rPr sz="1400" b="1" spc="-8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content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"30"</a:t>
                      </a:r>
                      <a:r>
                        <a:rPr sz="1400" b="1" spc="-9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refresh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25" dirty="0">
                          <a:latin typeface="Verdana"/>
                          <a:cs typeface="Verdana"/>
                        </a:rPr>
                        <a:t>Redirection</a:t>
                      </a:r>
                      <a:r>
                        <a:rPr sz="14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 dirty="0">
                          <a:latin typeface="Verdana"/>
                          <a:cs typeface="Verdana"/>
                        </a:rPr>
                        <a:t>après</a:t>
                      </a:r>
                      <a:r>
                        <a:rPr sz="14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4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secondes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697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u="heavy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u="heavy" dirty="0">
                          <a:solidFill>
                            <a:srgbClr val="A21515"/>
                          </a:solidFill>
                          <a:uFill>
                            <a:solidFill>
                              <a:srgbClr val="A21515"/>
                            </a:solidFill>
                          </a:uFill>
                          <a:latin typeface="Consolas"/>
                          <a:cs typeface="Consolas"/>
                        </a:rPr>
                        <a:t>meta</a:t>
                      </a:r>
                      <a:r>
                        <a:rPr sz="1400" spc="-4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http-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equiv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</a:rPr>
                        <a:t>"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refresh"</a:t>
                      </a:r>
                      <a:r>
                        <a:rPr sz="1400" b="1" spc="-3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u="sng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Consolas"/>
                          <a:cs typeface="Consolas"/>
                        </a:rPr>
                        <a:t>content</a:t>
                      </a: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</a:rPr>
                        <a:t>"30"</a:t>
                      </a:r>
                      <a:r>
                        <a:rPr sz="14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Consolas"/>
                          <a:cs typeface="Consolas"/>
                        </a:rPr>
                        <a:t>url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</a:rPr>
                        <a:t>"http:/w</a:t>
                      </a:r>
                      <a:r>
                        <a:rPr sz="14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  <a:hlinkClick r:id="rId2"/>
                        </a:rPr>
                        <a:t>www.esi.dz</a:t>
                      </a:r>
                      <a:r>
                        <a:rPr sz="14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</a:rPr>
                        <a:t>"</a:t>
                      </a:r>
                      <a:r>
                        <a:rPr sz="1400" b="1" u="sng" spc="-13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u="sng" spc="-2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nsolas"/>
                          <a:cs typeface="Consolas"/>
                        </a:rPr>
                        <a:t>/&gt;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4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head</a:t>
                      </a:r>
                      <a:r>
                        <a:rPr sz="14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pragma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Empêche</a:t>
                      </a:r>
                      <a:r>
                        <a:rPr sz="14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le</a:t>
                      </a:r>
                      <a:r>
                        <a:rPr sz="14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navigateur</a:t>
                      </a:r>
                      <a:r>
                        <a:rPr sz="14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75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4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mettre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la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spc="85" dirty="0">
                          <a:latin typeface="Verdana"/>
                          <a:cs typeface="Verdana"/>
                        </a:rPr>
                        <a:t>page</a:t>
                      </a:r>
                      <a:r>
                        <a:rPr sz="14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en</a:t>
                      </a:r>
                      <a:r>
                        <a:rPr sz="14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90" dirty="0">
                          <a:latin typeface="Verdana"/>
                          <a:cs typeface="Verdana"/>
                        </a:rPr>
                        <a:t>cache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620260" algn="l"/>
                        </a:tabLst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meta</a:t>
                      </a:r>
                      <a:r>
                        <a:rPr sz="14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http-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equiv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"pragma"</a:t>
                      </a:r>
                      <a:r>
                        <a:rPr sz="1400" b="1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content</a:t>
                      </a:r>
                      <a:r>
                        <a:rPr sz="1400" b="1" spc="-1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"no-cache"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sz="14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expires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03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40" dirty="0">
                          <a:latin typeface="Verdana"/>
                          <a:cs typeface="Verdana"/>
                        </a:rPr>
                        <a:t>Indique</a:t>
                      </a:r>
                      <a:r>
                        <a:rPr sz="14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l’expiration</a:t>
                      </a:r>
                      <a:r>
                        <a:rPr sz="14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et</a:t>
                      </a:r>
                      <a:r>
                        <a:rPr sz="14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force</a:t>
                      </a:r>
                      <a:r>
                        <a:rPr sz="14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le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navigateur</a:t>
                      </a:r>
                      <a:r>
                        <a:rPr sz="14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114" dirty="0">
                          <a:latin typeface="Verdana"/>
                          <a:cs typeface="Verdana"/>
                        </a:rPr>
                        <a:t>à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recharger</a:t>
                      </a:r>
                      <a:r>
                        <a:rPr sz="14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la</a:t>
                      </a:r>
                      <a:r>
                        <a:rPr sz="14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60" dirty="0">
                          <a:latin typeface="Verdana"/>
                          <a:cs typeface="Verdana"/>
                        </a:rPr>
                        <a:t>page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meta</a:t>
                      </a:r>
                      <a:r>
                        <a:rPr sz="1400" spc="-3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http-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equiv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"Expires"</a:t>
                      </a:r>
                      <a:r>
                        <a:rPr sz="14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content</a:t>
                      </a:r>
                      <a:r>
                        <a:rPr sz="14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"03</a:t>
                      </a:r>
                      <a:r>
                        <a:rPr sz="1400" b="1" spc="-4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Jun</a:t>
                      </a:r>
                      <a:r>
                        <a:rPr sz="1400" b="1" spc="-3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2013</a:t>
                      </a:r>
                      <a:r>
                        <a:rPr sz="1400" b="1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14:30:00"/&gt;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997955" y="2591942"/>
            <a:ext cx="99060" cy="208915"/>
          </a:xfrm>
          <a:custGeom>
            <a:avLst/>
            <a:gdLst/>
            <a:ahLst/>
            <a:cxnLst/>
            <a:rect l="l" t="t" r="r" b="b"/>
            <a:pathLst>
              <a:path w="99060" h="208914">
                <a:moveTo>
                  <a:pt x="99060" y="0"/>
                </a:moveTo>
                <a:lnTo>
                  <a:pt x="0" y="0"/>
                </a:lnTo>
                <a:lnTo>
                  <a:pt x="0" y="208787"/>
                </a:lnTo>
                <a:lnTo>
                  <a:pt x="99060" y="208787"/>
                </a:lnTo>
                <a:lnTo>
                  <a:pt x="99060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97955" y="3249929"/>
            <a:ext cx="99060" cy="208915"/>
          </a:xfrm>
          <a:custGeom>
            <a:avLst/>
            <a:gdLst/>
            <a:ahLst/>
            <a:cxnLst/>
            <a:rect l="l" t="t" r="r" b="b"/>
            <a:pathLst>
              <a:path w="99060" h="208914">
                <a:moveTo>
                  <a:pt x="99060" y="0"/>
                </a:moveTo>
                <a:lnTo>
                  <a:pt x="0" y="0"/>
                </a:lnTo>
                <a:lnTo>
                  <a:pt x="0" y="208787"/>
                </a:lnTo>
                <a:lnTo>
                  <a:pt x="99060" y="208787"/>
                </a:lnTo>
                <a:lnTo>
                  <a:pt x="99060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27283" y="3249929"/>
            <a:ext cx="99060" cy="208915"/>
          </a:xfrm>
          <a:custGeom>
            <a:avLst/>
            <a:gdLst/>
            <a:ahLst/>
            <a:cxnLst/>
            <a:rect l="l" t="t" r="r" b="b"/>
            <a:pathLst>
              <a:path w="99059" h="208914">
                <a:moveTo>
                  <a:pt x="99059" y="0"/>
                </a:moveTo>
                <a:lnTo>
                  <a:pt x="0" y="0"/>
                </a:lnTo>
                <a:lnTo>
                  <a:pt x="0" y="208787"/>
                </a:lnTo>
                <a:lnTo>
                  <a:pt x="99059" y="208787"/>
                </a:lnTo>
                <a:lnTo>
                  <a:pt x="99059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97955" y="3909440"/>
            <a:ext cx="99060" cy="208915"/>
          </a:xfrm>
          <a:custGeom>
            <a:avLst/>
            <a:gdLst/>
            <a:ahLst/>
            <a:cxnLst/>
            <a:rect l="l" t="t" r="r" b="b"/>
            <a:pathLst>
              <a:path w="99060" h="208914">
                <a:moveTo>
                  <a:pt x="99060" y="0"/>
                </a:moveTo>
                <a:lnTo>
                  <a:pt x="0" y="0"/>
                </a:lnTo>
                <a:lnTo>
                  <a:pt x="0" y="208787"/>
                </a:lnTo>
                <a:lnTo>
                  <a:pt x="99060" y="208787"/>
                </a:lnTo>
                <a:lnTo>
                  <a:pt x="99060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97955" y="4474845"/>
            <a:ext cx="99060" cy="208915"/>
          </a:xfrm>
          <a:custGeom>
            <a:avLst/>
            <a:gdLst/>
            <a:ahLst/>
            <a:cxnLst/>
            <a:rect l="l" t="t" r="r" b="b"/>
            <a:pathLst>
              <a:path w="99060" h="208914">
                <a:moveTo>
                  <a:pt x="99060" y="0"/>
                </a:moveTo>
                <a:lnTo>
                  <a:pt x="0" y="0"/>
                </a:lnTo>
                <a:lnTo>
                  <a:pt x="0" y="208787"/>
                </a:lnTo>
                <a:lnTo>
                  <a:pt x="99060" y="208787"/>
                </a:lnTo>
                <a:lnTo>
                  <a:pt x="99060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66023" y="4688204"/>
            <a:ext cx="97790" cy="208915"/>
          </a:xfrm>
          <a:custGeom>
            <a:avLst/>
            <a:gdLst/>
            <a:ahLst/>
            <a:cxnLst/>
            <a:rect l="l" t="t" r="r" b="b"/>
            <a:pathLst>
              <a:path w="97790" h="208914">
                <a:moveTo>
                  <a:pt x="97535" y="0"/>
                </a:moveTo>
                <a:lnTo>
                  <a:pt x="0" y="0"/>
                </a:lnTo>
                <a:lnTo>
                  <a:pt x="0" y="208788"/>
                </a:lnTo>
                <a:lnTo>
                  <a:pt x="97535" y="208788"/>
                </a:lnTo>
                <a:lnTo>
                  <a:pt x="97535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97955" y="5207889"/>
            <a:ext cx="99060" cy="208915"/>
          </a:xfrm>
          <a:custGeom>
            <a:avLst/>
            <a:gdLst/>
            <a:ahLst/>
            <a:cxnLst/>
            <a:rect l="l" t="t" r="r" b="b"/>
            <a:pathLst>
              <a:path w="99060" h="208914">
                <a:moveTo>
                  <a:pt x="99060" y="0"/>
                </a:moveTo>
                <a:lnTo>
                  <a:pt x="0" y="0"/>
                </a:lnTo>
                <a:lnTo>
                  <a:pt x="0" y="208788"/>
                </a:lnTo>
                <a:lnTo>
                  <a:pt x="99060" y="208788"/>
                </a:lnTo>
                <a:lnTo>
                  <a:pt x="99060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97955" y="5798477"/>
            <a:ext cx="99060" cy="208915"/>
          </a:xfrm>
          <a:custGeom>
            <a:avLst/>
            <a:gdLst/>
            <a:ahLst/>
            <a:cxnLst/>
            <a:rect l="l" t="t" r="r" b="b"/>
            <a:pathLst>
              <a:path w="99060" h="208914">
                <a:moveTo>
                  <a:pt x="99060" y="0"/>
                </a:moveTo>
                <a:lnTo>
                  <a:pt x="0" y="0"/>
                </a:lnTo>
                <a:lnTo>
                  <a:pt x="0" y="208788"/>
                </a:lnTo>
                <a:lnTo>
                  <a:pt x="99060" y="208788"/>
                </a:lnTo>
                <a:lnTo>
                  <a:pt x="99060" y="0"/>
                </a:lnTo>
                <a:close/>
              </a:path>
            </a:pathLst>
          </a:custGeom>
          <a:solidFill>
            <a:srgbClr val="E8F1F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6419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54" dirty="0"/>
              <a:t> </a:t>
            </a:r>
            <a:r>
              <a:rPr sz="4000" spc="-330" dirty="0"/>
              <a:t>9</a:t>
            </a:r>
            <a:r>
              <a:rPr sz="4000" spc="-265" dirty="0"/>
              <a:t> </a:t>
            </a:r>
            <a:r>
              <a:rPr sz="4000" spc="-710" dirty="0"/>
              <a:t>:</a:t>
            </a:r>
            <a:r>
              <a:rPr sz="4000" spc="-265" dirty="0"/>
              <a:t> </a:t>
            </a:r>
            <a:r>
              <a:rPr sz="4000" dirty="0"/>
              <a:t>Audio</a:t>
            </a:r>
            <a:r>
              <a:rPr sz="4000" spc="-229" dirty="0"/>
              <a:t> </a:t>
            </a:r>
            <a:r>
              <a:rPr sz="4000" dirty="0"/>
              <a:t>et</a:t>
            </a:r>
            <a:r>
              <a:rPr sz="4000" spc="-260" dirty="0"/>
              <a:t> </a:t>
            </a:r>
            <a:r>
              <a:rPr sz="4000" spc="50" dirty="0"/>
              <a:t>Vidéo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5978" y="1559133"/>
            <a:ext cx="11052810" cy="3867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46685" indent="-287020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340" dirty="0">
                <a:latin typeface="Verdana"/>
                <a:cs typeface="Verdana"/>
              </a:rPr>
              <a:t>Il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existe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trois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moyens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d’insérer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vidéo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425" dirty="0">
                <a:latin typeface="Verdana"/>
                <a:cs typeface="Verdana"/>
              </a:rPr>
              <a:t>:</a:t>
            </a:r>
            <a:r>
              <a:rPr sz="2400" spc="-165" dirty="0">
                <a:latin typeface="Verdana"/>
                <a:cs typeface="Verdana"/>
              </a:rPr>
              <a:t> utiliser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b="1" i="1" spc="-204" dirty="0">
                <a:solidFill>
                  <a:srgbClr val="FF0000"/>
                </a:solidFill>
                <a:latin typeface="Verdana"/>
                <a:cs typeface="Verdana"/>
              </a:rPr>
              <a:t>service</a:t>
            </a:r>
            <a:r>
              <a:rPr sz="24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i="1" spc="-160" dirty="0">
                <a:solidFill>
                  <a:srgbClr val="FF0000"/>
                </a:solidFill>
                <a:latin typeface="Verdana"/>
                <a:cs typeface="Verdana"/>
              </a:rPr>
              <a:t>vidéo</a:t>
            </a:r>
            <a:r>
              <a:rPr sz="24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dédié </a:t>
            </a:r>
            <a:r>
              <a:rPr sz="2400" spc="-60" dirty="0">
                <a:latin typeface="Verdana"/>
                <a:cs typeface="Verdana"/>
              </a:rPr>
              <a:t>(par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exemple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youtube),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65" dirty="0">
                <a:latin typeface="Verdana"/>
                <a:cs typeface="Verdana"/>
              </a:rPr>
              <a:t>utiliser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des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b="1" i="1" spc="-240" dirty="0">
                <a:solidFill>
                  <a:srgbClr val="FF0000"/>
                </a:solidFill>
                <a:latin typeface="Verdana"/>
                <a:cs typeface="Verdana"/>
              </a:rPr>
              <a:t>plugins</a:t>
            </a:r>
            <a:r>
              <a:rPr sz="2400" b="1" i="1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(Flash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60" dirty="0">
                <a:latin typeface="Verdana"/>
                <a:cs typeface="Verdana"/>
              </a:rPr>
              <a:t>Silverlight)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utiliser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HTML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5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video</a:t>
            </a:r>
            <a:endParaRPr sz="2400">
              <a:latin typeface="Verdana"/>
              <a:cs typeface="Verdana"/>
            </a:endParaRPr>
          </a:p>
          <a:p>
            <a:pPr marL="299085" marR="59880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6475095" algn="l"/>
              </a:tabLst>
            </a:pPr>
            <a:r>
              <a:rPr sz="2400" dirty="0">
                <a:latin typeface="Verdana"/>
                <a:cs typeface="Verdana"/>
              </a:rPr>
              <a:t>L’avantage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d’utiliser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service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vidéo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est</a:t>
            </a:r>
            <a:r>
              <a:rPr sz="2400" dirty="0">
                <a:latin typeface="Verdana"/>
                <a:cs typeface="Verdana"/>
              </a:rPr>
              <a:t>	</a:t>
            </a:r>
            <a:r>
              <a:rPr sz="2400" spc="55" dirty="0">
                <a:latin typeface="Verdana"/>
                <a:cs typeface="Verdana"/>
              </a:rPr>
              <a:t>que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l’on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soucie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des </a:t>
            </a:r>
            <a:r>
              <a:rPr sz="2400" spc="-60" dirty="0">
                <a:latin typeface="Verdana"/>
                <a:cs typeface="Verdana"/>
              </a:rPr>
              <a:t>détails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techniques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tels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que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l’hébergement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90" dirty="0">
                <a:latin typeface="Verdana"/>
                <a:cs typeface="Verdana"/>
              </a:rPr>
              <a:t>l’encodage</a:t>
            </a:r>
            <a:endParaRPr sz="24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30" dirty="0">
                <a:latin typeface="Verdana"/>
                <a:cs typeface="Verdana"/>
              </a:rPr>
              <a:t>L’inconvénient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que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vidéo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accessible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dehors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du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site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qu’on</a:t>
            </a:r>
            <a:endParaRPr sz="24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445"/>
              </a:spcBef>
            </a:pPr>
            <a:r>
              <a:rPr sz="2400" spc="-55" dirty="0">
                <a:latin typeface="Verdana"/>
                <a:cs typeface="Verdana"/>
              </a:rPr>
              <a:t>n’est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pas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à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l’abri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publicité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d’annonces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intruses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Ajouter</a:t>
            </a:r>
            <a:r>
              <a:rPr spc="-210" dirty="0"/>
              <a:t> </a:t>
            </a:r>
            <a:r>
              <a:rPr dirty="0"/>
              <a:t>une</a:t>
            </a:r>
            <a:r>
              <a:rPr spc="-220" dirty="0"/>
              <a:t> </a:t>
            </a:r>
            <a:r>
              <a:rPr dirty="0"/>
              <a:t>vidéo</a:t>
            </a:r>
            <a:r>
              <a:rPr spc="-220" dirty="0"/>
              <a:t> </a:t>
            </a:r>
            <a:r>
              <a:rPr spc="280" dirty="0"/>
              <a:t>à</a:t>
            </a:r>
            <a:r>
              <a:rPr spc="-215" dirty="0"/>
              <a:t> </a:t>
            </a:r>
            <a:r>
              <a:rPr spc="-150" dirty="0"/>
              <a:t>son</a:t>
            </a:r>
            <a:r>
              <a:rPr spc="-200" dirty="0"/>
              <a:t> site</a:t>
            </a:r>
            <a:r>
              <a:rPr spc="-225" dirty="0"/>
              <a:t> </a:t>
            </a:r>
            <a:r>
              <a:rPr spc="114" dirty="0"/>
              <a:t>web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86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396" y="1307718"/>
            <a:ext cx="11036300" cy="441579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75" dirty="0">
                <a:latin typeface="Verdana"/>
                <a:cs typeface="Verdana"/>
              </a:rPr>
              <a:t>HTML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5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a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introduit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le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support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vidéo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avec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nouvelle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balise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Verdana"/>
                <a:cs typeface="Verdana"/>
              </a:rPr>
              <a:t>video</a:t>
            </a:r>
            <a:endParaRPr sz="2400">
              <a:latin typeface="Verdana"/>
              <a:cs typeface="Verdana"/>
            </a:endParaRPr>
          </a:p>
          <a:p>
            <a:pPr marL="299085" marR="1333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i="1" spc="-170" dirty="0">
                <a:solidFill>
                  <a:srgbClr val="FF0000"/>
                </a:solidFill>
                <a:latin typeface="Verdana"/>
                <a:cs typeface="Verdana"/>
              </a:rPr>
              <a:t>video</a:t>
            </a:r>
            <a:r>
              <a:rPr sz="24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n’est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supportée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que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navigateurs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récents,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pour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les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anciens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il </a:t>
            </a:r>
            <a:r>
              <a:rPr sz="2400" spc="-30" dirty="0">
                <a:latin typeface="Verdana"/>
                <a:cs typeface="Verdana"/>
              </a:rPr>
              <a:t>faut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passer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d’autres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techniques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comme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Flash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Silverlight</a:t>
            </a:r>
            <a:endParaRPr sz="2400">
              <a:latin typeface="Verdana"/>
              <a:cs typeface="Verdana"/>
            </a:endParaRPr>
          </a:p>
          <a:p>
            <a:pPr marL="299085" marR="269875" indent="-287020">
              <a:lnSpc>
                <a:spcPct val="1501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i="1" spc="-170" dirty="0">
                <a:solidFill>
                  <a:srgbClr val="FF0000"/>
                </a:solidFill>
                <a:latin typeface="Verdana"/>
                <a:cs typeface="Verdana"/>
              </a:rPr>
              <a:t>video</a:t>
            </a:r>
            <a:r>
              <a:rPr sz="2400" b="1" i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offre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solution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native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55" dirty="0">
                <a:latin typeface="Verdana"/>
                <a:cs typeface="Verdana"/>
              </a:rPr>
              <a:t>(sans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passer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un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plugin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un </a:t>
            </a:r>
            <a:r>
              <a:rPr sz="2400" dirty="0">
                <a:latin typeface="Verdana"/>
                <a:cs typeface="Verdana"/>
              </a:rPr>
              <a:t>composant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externe)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permettant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d’intégrer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de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vidéo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114" dirty="0">
                <a:latin typeface="Verdana"/>
                <a:cs typeface="Verdana"/>
              </a:rPr>
              <a:t>page </a:t>
            </a:r>
            <a:r>
              <a:rPr sz="2400" spc="65" dirty="0">
                <a:latin typeface="Verdana"/>
                <a:cs typeface="Verdana"/>
              </a:rPr>
              <a:t>web</a:t>
            </a:r>
            <a:endParaRPr sz="2400">
              <a:latin typeface="Verdana"/>
              <a:cs typeface="Verdana"/>
            </a:endParaRPr>
          </a:p>
          <a:p>
            <a:pPr marL="299085" marR="5080" indent="-287020">
              <a:lnSpc>
                <a:spcPts val="4320"/>
              </a:lnSpc>
              <a:spcBef>
                <a:spcPts val="18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i="1" spc="-170" dirty="0">
                <a:solidFill>
                  <a:srgbClr val="FF0000"/>
                </a:solidFill>
                <a:latin typeface="Verdana"/>
                <a:cs typeface="Verdana"/>
              </a:rPr>
              <a:t>video</a:t>
            </a:r>
            <a:r>
              <a:rPr sz="2400" b="1" i="1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est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l’une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plus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grandes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balises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à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succès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dans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80" dirty="0">
                <a:latin typeface="Verdana"/>
                <a:cs typeface="Verdana"/>
              </a:rPr>
              <a:t>HTML5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vu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que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des </a:t>
            </a:r>
            <a:r>
              <a:rPr sz="2400" spc="-130" dirty="0">
                <a:latin typeface="Verdana"/>
                <a:cs typeface="Verdana"/>
              </a:rPr>
              <a:t>dispostifs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populaires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70" dirty="0">
                <a:latin typeface="Verdana"/>
                <a:cs typeface="Verdana"/>
              </a:rPr>
              <a:t>comme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iPhone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et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iPad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supportent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pas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le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Flash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185" dirty="0"/>
              <a:t> </a:t>
            </a:r>
            <a:r>
              <a:rPr dirty="0"/>
              <a:t>vidéo</a:t>
            </a:r>
            <a:r>
              <a:rPr spc="-185" dirty="0"/>
              <a:t> </a:t>
            </a:r>
            <a:r>
              <a:rPr dirty="0"/>
              <a:t>en</a:t>
            </a:r>
            <a:r>
              <a:rPr spc="-185" dirty="0"/>
              <a:t> </a:t>
            </a:r>
            <a:r>
              <a:rPr spc="-285" dirty="0"/>
              <a:t>HTML5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87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409044"/>
            <a:ext cx="10642600" cy="455231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0" dirty="0">
                <a:latin typeface="Verdana"/>
                <a:cs typeface="Verdana"/>
              </a:rPr>
              <a:t>L’ajout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114" dirty="0">
                <a:latin typeface="Verdana"/>
                <a:cs typeface="Verdana"/>
              </a:rPr>
              <a:t>d’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fait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ajoutant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video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b="1" i="1" spc="-175" dirty="0">
                <a:solidFill>
                  <a:srgbClr val="FF0000"/>
                </a:solidFill>
                <a:latin typeface="Verdana"/>
                <a:cs typeface="Verdana"/>
              </a:rPr>
              <a:t>src</a:t>
            </a:r>
            <a:r>
              <a:rPr sz="18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source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(url)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vidéo</a:t>
            </a:r>
            <a:endParaRPr sz="1800" dirty="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b="1" i="1" spc="-130" dirty="0">
                <a:solidFill>
                  <a:srgbClr val="FF0000"/>
                </a:solidFill>
                <a:latin typeface="Verdana"/>
                <a:cs typeface="Verdana"/>
              </a:rPr>
              <a:t>prelaod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le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pré-</a:t>
            </a:r>
            <a:r>
              <a:rPr sz="1800" dirty="0">
                <a:latin typeface="Verdana"/>
                <a:cs typeface="Verdana"/>
              </a:rPr>
              <a:t>chargement.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valeur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b="1" i="1" spc="-150" dirty="0">
                <a:solidFill>
                  <a:srgbClr val="FF0000"/>
                </a:solidFill>
                <a:latin typeface="Verdana"/>
                <a:cs typeface="Verdana"/>
              </a:rPr>
              <a:t>none</a:t>
            </a:r>
            <a:r>
              <a:rPr sz="18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n’est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pas </a:t>
            </a:r>
            <a:r>
              <a:rPr sz="1800" spc="45" dirty="0">
                <a:latin typeface="Verdana"/>
                <a:cs typeface="Verdana"/>
              </a:rPr>
              <a:t>chargée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quand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100" dirty="0">
                <a:latin typeface="Verdana"/>
                <a:cs typeface="Verdana"/>
              </a:rPr>
              <a:t>page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chargée.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valeur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b="1" i="1" spc="-130" dirty="0">
                <a:solidFill>
                  <a:srgbClr val="FF0000"/>
                </a:solidFill>
                <a:latin typeface="Verdana"/>
                <a:cs typeface="Verdana"/>
              </a:rPr>
              <a:t>metadata</a:t>
            </a:r>
            <a:r>
              <a:rPr sz="1800" b="1" i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seulement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les </a:t>
            </a:r>
            <a:r>
              <a:rPr sz="1800" dirty="0">
                <a:latin typeface="Verdana"/>
                <a:cs typeface="Verdana"/>
              </a:rPr>
              <a:t>métadonnées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sont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chargées.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valeur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b="1" i="1" spc="-160" dirty="0">
                <a:solidFill>
                  <a:srgbClr val="FF0000"/>
                </a:solidFill>
                <a:latin typeface="Verdana"/>
                <a:cs typeface="Verdana"/>
              </a:rPr>
              <a:t>auto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indique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est </a:t>
            </a:r>
            <a:r>
              <a:rPr sz="1800" spc="45" dirty="0">
                <a:latin typeface="Verdana"/>
                <a:cs typeface="Verdana"/>
              </a:rPr>
              <a:t>chargée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avec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40" dirty="0">
                <a:latin typeface="Verdana"/>
                <a:cs typeface="Verdana"/>
              </a:rPr>
              <a:t>page.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 </a:t>
            </a:r>
            <a:r>
              <a:rPr sz="1800" b="1" i="1" spc="-180" dirty="0">
                <a:solidFill>
                  <a:srgbClr val="FF0000"/>
                </a:solidFill>
                <a:latin typeface="Verdana"/>
                <a:cs typeface="Verdana"/>
              </a:rPr>
              <a:t>controls</a:t>
            </a:r>
            <a:r>
              <a:rPr sz="1800" b="1" i="1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les </a:t>
            </a:r>
            <a:r>
              <a:rPr sz="1800" spc="-40" dirty="0">
                <a:latin typeface="Verdana"/>
                <a:cs typeface="Verdana"/>
              </a:rPr>
              <a:t>contrôles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lecture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sont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affichés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b="1" i="1" spc="-140" dirty="0">
                <a:solidFill>
                  <a:srgbClr val="FF0000"/>
                </a:solidFill>
                <a:latin typeface="Verdana"/>
                <a:cs typeface="Verdana"/>
              </a:rPr>
              <a:t>autoplay</a:t>
            </a:r>
            <a:r>
              <a:rPr sz="1800" b="1" i="1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lance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dès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qu’elle</a:t>
            </a:r>
            <a:r>
              <a:rPr sz="1800" spc="-100" dirty="0">
                <a:latin typeface="Verdana"/>
                <a:cs typeface="Verdana"/>
              </a:rPr>
              <a:t> est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35" dirty="0">
                <a:latin typeface="Verdana"/>
                <a:cs typeface="Verdana"/>
              </a:rPr>
              <a:t>chargée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b="1" i="1" spc="-190" dirty="0">
                <a:solidFill>
                  <a:srgbClr val="FF0000"/>
                </a:solidFill>
                <a:latin typeface="Verdana"/>
                <a:cs typeface="Verdana"/>
              </a:rPr>
              <a:t>poster</a:t>
            </a:r>
            <a:r>
              <a:rPr sz="18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image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affichée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lorsque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charge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20" dirty="0">
                <a:latin typeface="Verdana"/>
                <a:cs typeface="Verdana"/>
              </a:rPr>
              <a:t>Les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attributs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b="1" i="1" spc="-175" dirty="0">
                <a:solidFill>
                  <a:srgbClr val="FF0000"/>
                </a:solidFill>
                <a:latin typeface="Verdana"/>
                <a:cs typeface="Verdana"/>
              </a:rPr>
              <a:t>height</a:t>
            </a:r>
            <a:r>
              <a:rPr sz="1800" b="1" i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et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b="1" i="1" spc="-225" dirty="0">
                <a:solidFill>
                  <a:srgbClr val="FF0000"/>
                </a:solidFill>
                <a:latin typeface="Verdana"/>
                <a:cs typeface="Verdana"/>
              </a:rPr>
              <a:t>width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indiquent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taille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75" dirty="0">
                <a:latin typeface="Verdana"/>
                <a:cs typeface="Verdana"/>
              </a:rPr>
              <a:t>sur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80" dirty="0">
                <a:latin typeface="Verdana"/>
                <a:cs typeface="Verdana"/>
              </a:rPr>
              <a:t>page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b="1" i="1" spc="-114" dirty="0">
                <a:solidFill>
                  <a:srgbClr val="FF0000"/>
                </a:solidFill>
                <a:latin typeface="Verdana"/>
                <a:cs typeface="Verdana"/>
              </a:rPr>
              <a:t>loop</a:t>
            </a:r>
            <a:r>
              <a:rPr sz="1800" b="1" i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tourne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boucle</a:t>
            </a:r>
            <a:endParaRPr sz="1800" dirty="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60" dirty="0">
                <a:latin typeface="Verdana"/>
                <a:cs typeface="Verdana"/>
              </a:rPr>
              <a:t>L’attribut </a:t>
            </a:r>
            <a:r>
              <a:rPr sz="1800" b="1" i="1" spc="-175" dirty="0">
                <a:solidFill>
                  <a:srgbClr val="FF0000"/>
                </a:solidFill>
                <a:latin typeface="Verdana"/>
                <a:cs typeface="Verdana"/>
              </a:rPr>
              <a:t>muted</a:t>
            </a:r>
            <a:r>
              <a:rPr sz="18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vidéo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se </a:t>
            </a:r>
            <a:r>
              <a:rPr sz="1800" spc="-125" dirty="0">
                <a:latin typeface="Verdana"/>
                <a:cs typeface="Verdana"/>
              </a:rPr>
              <a:t>lit </a:t>
            </a:r>
            <a:r>
              <a:rPr sz="1800" spc="-105" dirty="0">
                <a:latin typeface="Verdana"/>
                <a:cs typeface="Verdana"/>
              </a:rPr>
              <a:t>sans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le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son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60" dirty="0"/>
              <a:t> </a:t>
            </a:r>
            <a:r>
              <a:rPr spc="-60" dirty="0"/>
              <a:t>balise</a:t>
            </a:r>
            <a:r>
              <a:rPr spc="-254" dirty="0"/>
              <a:t> </a:t>
            </a:r>
            <a:r>
              <a:rPr spc="-20" dirty="0"/>
              <a:t>video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0977" y="1816417"/>
            <a:ext cx="11218545" cy="2041525"/>
            <a:chOff x="200977" y="1816417"/>
            <a:chExt cx="11218545" cy="2041525"/>
          </a:xfrm>
        </p:grpSpPr>
        <p:sp>
          <p:nvSpPr>
            <p:cNvPr id="3" name="object 3"/>
            <p:cNvSpPr/>
            <p:nvPr/>
          </p:nvSpPr>
          <p:spPr>
            <a:xfrm>
              <a:off x="205739" y="1821179"/>
              <a:ext cx="11209020" cy="2032000"/>
            </a:xfrm>
            <a:custGeom>
              <a:avLst/>
              <a:gdLst/>
              <a:ahLst/>
              <a:cxnLst/>
              <a:rect l="l" t="t" r="r" b="b"/>
              <a:pathLst>
                <a:path w="11209020" h="2032000">
                  <a:moveTo>
                    <a:pt x="11209020" y="0"/>
                  </a:moveTo>
                  <a:lnTo>
                    <a:pt x="0" y="0"/>
                  </a:lnTo>
                  <a:lnTo>
                    <a:pt x="0" y="2031492"/>
                  </a:lnTo>
                  <a:lnTo>
                    <a:pt x="11209020" y="2031492"/>
                  </a:lnTo>
                  <a:lnTo>
                    <a:pt x="11209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5739" y="1821179"/>
              <a:ext cx="11209020" cy="2032000"/>
            </a:xfrm>
            <a:custGeom>
              <a:avLst/>
              <a:gdLst/>
              <a:ahLst/>
              <a:cxnLst/>
              <a:rect l="l" t="t" r="r" b="b"/>
              <a:pathLst>
                <a:path w="11209020" h="2032000">
                  <a:moveTo>
                    <a:pt x="0" y="2031492"/>
                  </a:moveTo>
                  <a:lnTo>
                    <a:pt x="11209020" y="2031492"/>
                  </a:lnTo>
                  <a:lnTo>
                    <a:pt x="11209020" y="0"/>
                  </a:lnTo>
                  <a:lnTo>
                    <a:pt x="0" y="0"/>
                  </a:lnTo>
                  <a:lnTo>
                    <a:pt x="0" y="20314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3870" y="1892173"/>
            <a:ext cx="10554970" cy="1209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5" dirty="0">
                <a:latin typeface="Verdana"/>
                <a:cs typeface="Verdana"/>
              </a:rPr>
              <a:t>Ci-</a:t>
            </a:r>
            <a:r>
              <a:rPr sz="1800" spc="-80" dirty="0">
                <a:latin typeface="Verdana"/>
                <a:cs typeface="Verdana"/>
              </a:rPr>
              <a:t>dessous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un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exemple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125" dirty="0">
                <a:latin typeface="Verdana"/>
                <a:cs typeface="Verdana"/>
              </a:rPr>
              <a:t>code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HTML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d’une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vidéo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sz="1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800" u="heavy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video</a:t>
            </a:r>
            <a:r>
              <a:rPr sz="1800" spc="-9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src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8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video/movie.theora.ogv"</a:t>
            </a:r>
            <a:r>
              <a:rPr sz="1800" b="1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width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8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"400"</a:t>
            </a:r>
            <a:r>
              <a:rPr sz="1800" b="1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 </a:t>
            </a:r>
            <a:r>
              <a:rPr sz="1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height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8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"400"</a:t>
            </a:r>
            <a:r>
              <a:rPr sz="1800" b="1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 </a:t>
            </a:r>
            <a:r>
              <a:rPr sz="1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preload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8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"auto"</a:t>
            </a:r>
            <a:r>
              <a:rPr sz="1800" b="1" u="sng" spc="-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 </a:t>
            </a: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controls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autoplay</a:t>
            </a:r>
            <a:r>
              <a:rPr sz="18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800" dirty="0">
                <a:latin typeface="Consolas"/>
                <a:cs typeface="Consolas"/>
              </a:rPr>
              <a:t>Elle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est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belle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la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nature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481" y="3108832"/>
            <a:ext cx="1003300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video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</a:t>
            </a:r>
            <a:r>
              <a:rPr spc="-220" dirty="0"/>
              <a:t> </a:t>
            </a:r>
            <a:r>
              <a:rPr spc="-60" dirty="0"/>
              <a:t>balise</a:t>
            </a:r>
            <a:r>
              <a:rPr spc="-210" dirty="0"/>
              <a:t> </a:t>
            </a:r>
            <a:r>
              <a:rPr dirty="0"/>
              <a:t>video</a:t>
            </a:r>
            <a:r>
              <a:rPr spc="-215" dirty="0"/>
              <a:t> </a:t>
            </a:r>
            <a:r>
              <a:rPr spc="-445" dirty="0"/>
              <a:t>-</a:t>
            </a:r>
            <a:r>
              <a:rPr spc="-200" dirty="0"/>
              <a:t> </a:t>
            </a:r>
            <a:r>
              <a:rPr spc="-70" dirty="0"/>
              <a:t>Exemple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89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8467" y="2753867"/>
            <a:ext cx="4097020" cy="3820795"/>
            <a:chOff x="5268467" y="2753867"/>
            <a:chExt cx="4097020" cy="38207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8467" y="2753867"/>
              <a:ext cx="4096512" cy="38206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3539" y="2948939"/>
              <a:ext cx="3508248" cy="32324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027" y="1473708"/>
            <a:ext cx="11273155" cy="3949065"/>
            <a:chOff x="224027" y="1473708"/>
            <a:chExt cx="11273155" cy="3949065"/>
          </a:xfrm>
        </p:grpSpPr>
        <p:sp>
          <p:nvSpPr>
            <p:cNvPr id="3" name="object 3"/>
            <p:cNvSpPr/>
            <p:nvPr/>
          </p:nvSpPr>
          <p:spPr>
            <a:xfrm>
              <a:off x="228599" y="1478280"/>
              <a:ext cx="11264265" cy="3939540"/>
            </a:xfrm>
            <a:custGeom>
              <a:avLst/>
              <a:gdLst/>
              <a:ahLst/>
              <a:cxnLst/>
              <a:rect l="l" t="t" r="r" b="b"/>
              <a:pathLst>
                <a:path w="11264265" h="3939540">
                  <a:moveTo>
                    <a:pt x="11263884" y="0"/>
                  </a:moveTo>
                  <a:lnTo>
                    <a:pt x="0" y="0"/>
                  </a:lnTo>
                  <a:lnTo>
                    <a:pt x="0" y="3939540"/>
                  </a:lnTo>
                  <a:lnTo>
                    <a:pt x="11263884" y="3939540"/>
                  </a:lnTo>
                  <a:lnTo>
                    <a:pt x="11263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599" y="1478280"/>
              <a:ext cx="11264265" cy="3939540"/>
            </a:xfrm>
            <a:custGeom>
              <a:avLst/>
              <a:gdLst/>
              <a:ahLst/>
              <a:cxnLst/>
              <a:rect l="l" t="t" r="r" b="b"/>
              <a:pathLst>
                <a:path w="11264265" h="3939540">
                  <a:moveTo>
                    <a:pt x="0" y="3939540"/>
                  </a:moveTo>
                  <a:lnTo>
                    <a:pt x="11263884" y="3939540"/>
                  </a:lnTo>
                  <a:lnTo>
                    <a:pt x="11263884" y="0"/>
                  </a:lnTo>
                  <a:lnTo>
                    <a:pt x="0" y="0"/>
                  </a:lnTo>
                  <a:lnTo>
                    <a:pt x="0" y="393954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9811" y="3621531"/>
              <a:ext cx="140335" cy="22860"/>
            </a:xfrm>
            <a:custGeom>
              <a:avLst/>
              <a:gdLst/>
              <a:ahLst/>
              <a:cxnLst/>
              <a:rect l="l" t="t" r="r" b="b"/>
              <a:pathLst>
                <a:path w="140334" h="22860">
                  <a:moveTo>
                    <a:pt x="140207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207" y="22860"/>
                  </a:lnTo>
                  <a:lnTo>
                    <a:pt x="14020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0019" y="3621531"/>
              <a:ext cx="978535" cy="22860"/>
            </a:xfrm>
            <a:custGeom>
              <a:avLst/>
              <a:gdLst/>
              <a:ahLst/>
              <a:cxnLst/>
              <a:rect l="l" t="t" r="r" b="b"/>
              <a:pathLst>
                <a:path w="978535" h="22860">
                  <a:moveTo>
                    <a:pt x="978407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978407" y="22860"/>
                  </a:lnTo>
                  <a:lnTo>
                    <a:pt x="978407" y="0"/>
                  </a:lnTo>
                  <a:close/>
                </a:path>
              </a:pathLst>
            </a:custGeom>
            <a:solidFill>
              <a:srgbClr val="A2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38402" y="3621531"/>
              <a:ext cx="698500" cy="22860"/>
            </a:xfrm>
            <a:custGeom>
              <a:avLst/>
              <a:gdLst/>
              <a:ahLst/>
              <a:cxnLst/>
              <a:rect l="l" t="t" r="r" b="b"/>
              <a:pathLst>
                <a:path w="698500" h="22860">
                  <a:moveTo>
                    <a:pt x="697991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697991" y="22860"/>
                  </a:lnTo>
                  <a:lnTo>
                    <a:pt x="69799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6394" y="3621531"/>
              <a:ext cx="140335" cy="22860"/>
            </a:xfrm>
            <a:custGeom>
              <a:avLst/>
              <a:gdLst/>
              <a:ahLst/>
              <a:cxnLst/>
              <a:rect l="l" t="t" r="r" b="b"/>
              <a:pathLst>
                <a:path w="140335" h="22860">
                  <a:moveTo>
                    <a:pt x="140207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207" y="22860"/>
                  </a:lnTo>
                  <a:lnTo>
                    <a:pt x="1402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76601" y="3621531"/>
              <a:ext cx="838200" cy="22860"/>
            </a:xfrm>
            <a:custGeom>
              <a:avLst/>
              <a:gdLst/>
              <a:ahLst/>
              <a:cxnLst/>
              <a:rect l="l" t="t" r="r" b="b"/>
              <a:pathLst>
                <a:path w="838200" h="22860">
                  <a:moveTo>
                    <a:pt x="83820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838200" y="2286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4801" y="3621531"/>
              <a:ext cx="836930" cy="22860"/>
            </a:xfrm>
            <a:custGeom>
              <a:avLst/>
              <a:gdLst/>
              <a:ahLst/>
              <a:cxnLst/>
              <a:rect l="l" t="t" r="r" b="b"/>
              <a:pathLst>
                <a:path w="836929" h="22860">
                  <a:moveTo>
                    <a:pt x="836676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836676" y="22860"/>
                  </a:lnTo>
                  <a:lnTo>
                    <a:pt x="83667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51477" y="3621531"/>
              <a:ext cx="140335" cy="22860"/>
            </a:xfrm>
            <a:custGeom>
              <a:avLst/>
              <a:gdLst/>
              <a:ahLst/>
              <a:cxnLst/>
              <a:rect l="l" t="t" r="r" b="b"/>
              <a:pathLst>
                <a:path w="140335" h="22860">
                  <a:moveTo>
                    <a:pt x="140208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208" y="22860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1686" y="3621531"/>
              <a:ext cx="836930" cy="22860"/>
            </a:xfrm>
            <a:custGeom>
              <a:avLst/>
              <a:gdLst/>
              <a:ahLst/>
              <a:cxnLst/>
              <a:rect l="l" t="t" r="r" b="b"/>
              <a:pathLst>
                <a:path w="836929" h="22860">
                  <a:moveTo>
                    <a:pt x="836676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836676" y="22860"/>
                  </a:lnTo>
                  <a:lnTo>
                    <a:pt x="83667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28362" y="3621531"/>
              <a:ext cx="978535" cy="22860"/>
            </a:xfrm>
            <a:custGeom>
              <a:avLst/>
              <a:gdLst/>
              <a:ahLst/>
              <a:cxnLst/>
              <a:rect l="l" t="t" r="r" b="b"/>
              <a:pathLst>
                <a:path w="978535" h="22860">
                  <a:moveTo>
                    <a:pt x="978408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978408" y="22860"/>
                  </a:lnTo>
                  <a:lnTo>
                    <a:pt x="9784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6769" y="3621531"/>
              <a:ext cx="140335" cy="22860"/>
            </a:xfrm>
            <a:custGeom>
              <a:avLst/>
              <a:gdLst/>
              <a:ahLst/>
              <a:cxnLst/>
              <a:rect l="l" t="t" r="r" b="b"/>
              <a:pathLst>
                <a:path w="140335" h="22860">
                  <a:moveTo>
                    <a:pt x="140208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40208" y="22860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6977" y="3621531"/>
              <a:ext cx="977265" cy="22860"/>
            </a:xfrm>
            <a:custGeom>
              <a:avLst/>
              <a:gdLst/>
              <a:ahLst/>
              <a:cxnLst/>
              <a:rect l="l" t="t" r="r" b="b"/>
              <a:pathLst>
                <a:path w="977265" h="22860">
                  <a:moveTo>
                    <a:pt x="97688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976883" y="22860"/>
                  </a:lnTo>
                  <a:lnTo>
                    <a:pt x="97688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23861" y="3621531"/>
              <a:ext cx="1257300" cy="22860"/>
            </a:xfrm>
            <a:custGeom>
              <a:avLst/>
              <a:gdLst/>
              <a:ahLst/>
              <a:cxnLst/>
              <a:rect l="l" t="t" r="r" b="b"/>
              <a:pathLst>
                <a:path w="1257300" h="22860">
                  <a:moveTo>
                    <a:pt x="0" y="22860"/>
                  </a:moveTo>
                  <a:lnTo>
                    <a:pt x="1257300" y="22860"/>
                  </a:lnTo>
                  <a:lnTo>
                    <a:pt x="125730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7035" y="1447983"/>
            <a:ext cx="10704830" cy="312420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balise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video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peut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supporter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plusieurs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sources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pour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permettre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au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maximum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de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sz="2000" spc="-45" dirty="0">
                <a:latin typeface="Verdana"/>
                <a:cs typeface="Verdana"/>
              </a:rPr>
              <a:t>navigateurs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0" dirty="0">
                <a:latin typeface="Verdana"/>
                <a:cs typeface="Verdana"/>
              </a:rPr>
              <a:t> visualiser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vidéo.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Pour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ce,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b="1" i="1" spc="-165" dirty="0">
                <a:solidFill>
                  <a:srgbClr val="FF0000"/>
                </a:solidFill>
                <a:latin typeface="Verdana"/>
                <a:cs typeface="Verdana"/>
              </a:rPr>
              <a:t>source</a:t>
            </a:r>
            <a:r>
              <a:rPr sz="2000" b="1" i="1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est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utilisée</a:t>
            </a:r>
            <a:endParaRPr sz="20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b="1" i="1" spc="-170" dirty="0">
                <a:solidFill>
                  <a:srgbClr val="FF0000"/>
                </a:solidFill>
                <a:latin typeface="Verdana"/>
                <a:cs typeface="Verdana"/>
              </a:rPr>
              <a:t>source</a:t>
            </a:r>
            <a:r>
              <a:rPr sz="2000" b="1" i="1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indique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source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vidéo,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L’attribut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b="1" i="1" spc="-204" dirty="0">
                <a:solidFill>
                  <a:srgbClr val="FF0000"/>
                </a:solidFill>
                <a:latin typeface="Verdana"/>
                <a:cs typeface="Verdana"/>
              </a:rPr>
              <a:t>src</a:t>
            </a:r>
            <a:r>
              <a:rPr sz="20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l’url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source.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sz="2000" spc="-65" dirty="0">
                <a:latin typeface="Verdana"/>
                <a:cs typeface="Verdana"/>
              </a:rPr>
              <a:t>L’attribut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2000" b="1" i="1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indique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le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type.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1130935" algn="l"/>
              </a:tabLst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video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	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width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"400"</a:t>
            </a:r>
            <a:r>
              <a:rPr sz="20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height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"400"</a:t>
            </a:r>
            <a:r>
              <a:rPr sz="20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preload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"auto"</a:t>
            </a:r>
            <a:r>
              <a:rPr sz="20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controls</a:t>
            </a:r>
            <a:r>
              <a:rPr sz="20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nsolas"/>
                <a:cs typeface="Consolas"/>
              </a:rPr>
              <a:t>autoplay</a:t>
            </a:r>
            <a:r>
              <a:rPr sz="20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source</a:t>
            </a:r>
            <a:r>
              <a:rPr sz="2000" u="heavy" spc="-7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src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video/movie.theora.ogv"</a:t>
            </a:r>
            <a:r>
              <a:rPr sz="20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type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20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video/ogg"/&gt;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source</a:t>
            </a:r>
            <a:r>
              <a:rPr sz="2000" u="heavy" spc="-7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src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video/movie.webmvp8.webm"</a:t>
            </a:r>
            <a:r>
              <a:rPr sz="2000" b="1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type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20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video/webM"/&gt;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source</a:t>
            </a:r>
            <a:r>
              <a:rPr sz="2000" u="heavy" spc="-7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src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"video/movie.mp4"</a:t>
            </a:r>
            <a:r>
              <a:rPr sz="2000" b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 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type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20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"video/mp4"/&gt;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9811" y="4578603"/>
            <a:ext cx="1130300" cy="29908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60"/>
              </a:lnSpc>
            </a:pP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video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Une</a:t>
            </a:r>
            <a:r>
              <a:rPr spc="-195" dirty="0"/>
              <a:t> </a:t>
            </a:r>
            <a:r>
              <a:rPr dirty="0"/>
              <a:t>vidéo</a:t>
            </a:r>
            <a:r>
              <a:rPr spc="-185" dirty="0"/>
              <a:t> </a:t>
            </a:r>
            <a:r>
              <a:rPr spc="185" dirty="0"/>
              <a:t>avec</a:t>
            </a:r>
            <a:r>
              <a:rPr spc="-190" dirty="0"/>
              <a:t> </a:t>
            </a:r>
            <a:r>
              <a:rPr spc="-210" dirty="0"/>
              <a:t>plusieurs</a:t>
            </a:r>
            <a:r>
              <a:rPr spc="-175" dirty="0"/>
              <a:t> </a:t>
            </a:r>
            <a:r>
              <a:rPr spc="-100" dirty="0"/>
              <a:t>formats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90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7847" y="1463039"/>
            <a:ext cx="11154410" cy="2308860"/>
            <a:chOff x="307847" y="1463039"/>
            <a:chExt cx="11154410" cy="2308860"/>
          </a:xfrm>
        </p:grpSpPr>
        <p:sp>
          <p:nvSpPr>
            <p:cNvPr id="3" name="object 3"/>
            <p:cNvSpPr/>
            <p:nvPr/>
          </p:nvSpPr>
          <p:spPr>
            <a:xfrm>
              <a:off x="307847" y="1463039"/>
              <a:ext cx="11154410" cy="2308860"/>
            </a:xfrm>
            <a:custGeom>
              <a:avLst/>
              <a:gdLst/>
              <a:ahLst/>
              <a:cxnLst/>
              <a:rect l="l" t="t" r="r" b="b"/>
              <a:pathLst>
                <a:path w="11154410" h="2308860">
                  <a:moveTo>
                    <a:pt x="11154156" y="0"/>
                  </a:moveTo>
                  <a:lnTo>
                    <a:pt x="0" y="0"/>
                  </a:lnTo>
                  <a:lnTo>
                    <a:pt x="0" y="2308860"/>
                  </a:lnTo>
                  <a:lnTo>
                    <a:pt x="11154156" y="2308860"/>
                  </a:lnTo>
                  <a:lnTo>
                    <a:pt x="111541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29205" y="3436619"/>
              <a:ext cx="1003300" cy="268605"/>
            </a:xfrm>
            <a:custGeom>
              <a:avLst/>
              <a:gdLst/>
              <a:ahLst/>
              <a:cxnLst/>
              <a:rect l="l" t="t" r="r" b="b"/>
              <a:pathLst>
                <a:path w="1003300" h="268604">
                  <a:moveTo>
                    <a:pt x="1002779" y="0"/>
                  </a:moveTo>
                  <a:lnTo>
                    <a:pt x="877824" y="0"/>
                  </a:lnTo>
                  <a:lnTo>
                    <a:pt x="249936" y="0"/>
                  </a:lnTo>
                  <a:lnTo>
                    <a:pt x="0" y="0"/>
                  </a:lnTo>
                  <a:lnTo>
                    <a:pt x="0" y="268224"/>
                  </a:lnTo>
                  <a:lnTo>
                    <a:pt x="249936" y="268224"/>
                  </a:lnTo>
                  <a:lnTo>
                    <a:pt x="877824" y="268224"/>
                  </a:lnTo>
                  <a:lnTo>
                    <a:pt x="1002779" y="268224"/>
                  </a:lnTo>
                  <a:lnTo>
                    <a:pt x="1002779" y="0"/>
                  </a:lnTo>
                  <a:close/>
                </a:path>
              </a:pathLst>
            </a:custGeom>
            <a:solidFill>
              <a:srgbClr val="E8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7847" y="1463039"/>
            <a:ext cx="11154410" cy="230886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90805" marR="568960">
              <a:lnSpc>
                <a:spcPts val="3240"/>
              </a:lnSpc>
              <a:spcBef>
                <a:spcPts val="204"/>
              </a:spcBef>
            </a:pPr>
            <a:r>
              <a:rPr sz="1800" dirty="0">
                <a:latin typeface="Verdana"/>
                <a:cs typeface="Verdana"/>
              </a:rPr>
              <a:t>Comme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pour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balise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b="1" i="1" spc="-130" dirty="0">
                <a:solidFill>
                  <a:srgbClr val="FF0000"/>
                </a:solidFill>
                <a:latin typeface="Verdana"/>
                <a:cs typeface="Verdana"/>
              </a:rPr>
              <a:t>video</a:t>
            </a:r>
            <a:r>
              <a:rPr sz="1800" spc="-130" dirty="0">
                <a:latin typeface="Verdana"/>
                <a:cs typeface="Verdana"/>
              </a:rPr>
              <a:t>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utilisant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source,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peut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mettre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plusieurs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sources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audio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pour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le </a:t>
            </a:r>
            <a:r>
              <a:rPr sz="1800" dirty="0">
                <a:latin typeface="Verdana"/>
                <a:cs typeface="Verdana"/>
              </a:rPr>
              <a:t>même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lecteur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utilisant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même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balise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source</a:t>
            </a:r>
            <a:endParaRPr sz="1800">
              <a:latin typeface="Verdana"/>
              <a:cs typeface="Verdana"/>
            </a:endParaRPr>
          </a:p>
          <a:p>
            <a:pPr marL="90805">
              <a:lnSpc>
                <a:spcPct val="100000"/>
              </a:lnSpc>
              <a:spcBef>
                <a:spcPts val="50"/>
              </a:spcBef>
              <a:tabLst>
                <a:tab pos="1093470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800" u="sng" spc="-10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audio</a:t>
            </a:r>
            <a:r>
              <a:rPr sz="1800" u="sng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	</a:t>
            </a:r>
            <a:r>
              <a:rPr sz="1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controls</a:t>
            </a:r>
            <a:r>
              <a:rPr sz="1800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autoplay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8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""&gt;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source</a:t>
            </a:r>
            <a:r>
              <a:rPr sz="1800" u="heavy" spc="-8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8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src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8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"audio/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yann.theora.ogv"</a:t>
            </a:r>
            <a:r>
              <a:rPr sz="1800" b="1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source</a:t>
            </a:r>
            <a:r>
              <a:rPr sz="1800" u="heavy" spc="-6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8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src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sz="18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"audio/yann.mp3"</a:t>
            </a:r>
            <a:r>
              <a:rPr sz="1800" b="1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 </a:t>
            </a:r>
            <a:r>
              <a:rPr sz="1800" b="1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Consolas"/>
                <a:cs typeface="Consolas"/>
              </a:rPr>
              <a:t>Lecteur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audio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audio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Utiliser</a:t>
            </a:r>
            <a:r>
              <a:rPr spc="-204" dirty="0"/>
              <a:t> </a:t>
            </a:r>
            <a:r>
              <a:rPr spc="-200" dirty="0"/>
              <a:t>plusieurs</a:t>
            </a:r>
            <a:r>
              <a:rPr spc="-240" dirty="0"/>
              <a:t> </a:t>
            </a:r>
            <a:r>
              <a:rPr spc="-155" dirty="0"/>
              <a:t>formats</a:t>
            </a:r>
            <a:r>
              <a:rPr spc="-220" dirty="0"/>
              <a:t> </a:t>
            </a:r>
            <a:r>
              <a:rPr spc="35" dirty="0"/>
              <a:t>audio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91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540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8270" y="2849625"/>
            <a:ext cx="7793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Section</a:t>
            </a:r>
            <a:r>
              <a:rPr sz="4000" spc="-290" dirty="0"/>
              <a:t> </a:t>
            </a:r>
            <a:r>
              <a:rPr sz="4000" spc="-335" dirty="0"/>
              <a:t>10</a:t>
            </a:r>
            <a:r>
              <a:rPr sz="4000" spc="-310" dirty="0"/>
              <a:t> </a:t>
            </a:r>
            <a:r>
              <a:rPr sz="4000" spc="-710" dirty="0"/>
              <a:t>:</a:t>
            </a:r>
            <a:r>
              <a:rPr sz="4000" spc="-285" dirty="0"/>
              <a:t> </a:t>
            </a:r>
            <a:r>
              <a:rPr sz="4000" spc="-40" dirty="0"/>
              <a:t>Nouveautés</a:t>
            </a:r>
            <a:r>
              <a:rPr sz="4000" spc="-270" dirty="0"/>
              <a:t> </a:t>
            </a:r>
            <a:r>
              <a:rPr sz="4000" spc="-305" dirty="0"/>
              <a:t>HTML</a:t>
            </a:r>
            <a:r>
              <a:rPr sz="4000" spc="-285" dirty="0"/>
              <a:t> </a:t>
            </a:r>
            <a:r>
              <a:rPr sz="4000" spc="-380" dirty="0"/>
              <a:t>5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3036" y="325627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93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734" y="1611862"/>
            <a:ext cx="11046460" cy="322707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spc="-220" dirty="0">
                <a:latin typeface="Verdana"/>
                <a:cs typeface="Verdana"/>
              </a:rPr>
              <a:t>HTML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5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introduit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un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certain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nombre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de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balises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et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d’attributs</a:t>
            </a:r>
            <a:endParaRPr sz="2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spc="-220" dirty="0">
                <a:latin typeface="Verdana"/>
                <a:cs typeface="Verdana"/>
              </a:rPr>
              <a:t>HTML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5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met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100" dirty="0">
                <a:latin typeface="Verdana"/>
                <a:cs typeface="Verdana"/>
              </a:rPr>
              <a:t>l’accent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spc="-285" dirty="0">
                <a:latin typeface="Verdana"/>
                <a:cs typeface="Verdana"/>
              </a:rPr>
              <a:t>sur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l’aspect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sémantique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des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éléments</a:t>
            </a:r>
            <a:endParaRPr sz="2800">
              <a:latin typeface="Verdana"/>
              <a:cs typeface="Verdana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dirty="0">
                <a:latin typeface="Verdana"/>
                <a:cs typeface="Verdana"/>
              </a:rPr>
              <a:t>Au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moment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d’écrire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ces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diapos,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les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navigateurs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implémentent </a:t>
            </a:r>
            <a:r>
              <a:rPr sz="2800" spc="-60" dirty="0">
                <a:latin typeface="Verdana"/>
                <a:cs typeface="Verdana"/>
              </a:rPr>
              <a:t>certains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éléments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220" dirty="0">
                <a:latin typeface="Verdana"/>
                <a:cs typeface="Verdana"/>
              </a:rPr>
              <a:t>HTML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5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différemment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(parfois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pas </a:t>
            </a:r>
            <a:r>
              <a:rPr sz="2800" spc="-10" dirty="0">
                <a:latin typeface="Verdana"/>
                <a:cs typeface="Verdana"/>
              </a:rPr>
              <a:t>implémentés)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36" y="1530096"/>
            <a:ext cx="11318875" cy="206248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434340" indent="-342900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434340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balise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FF0000"/>
                </a:solidFill>
                <a:latin typeface="Verdana"/>
                <a:cs typeface="Verdana"/>
              </a:rPr>
              <a:t>article</a:t>
            </a:r>
            <a:r>
              <a:rPr sz="20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représente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contenu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indépendant</a:t>
            </a:r>
            <a:endParaRPr sz="2000">
              <a:latin typeface="Verdana"/>
              <a:cs typeface="Verdana"/>
            </a:endParaRPr>
          </a:p>
          <a:p>
            <a:pPr marL="43434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34340" algn="l"/>
              </a:tabLst>
            </a:pPr>
            <a:r>
              <a:rPr sz="2000" spc="190" dirty="0">
                <a:latin typeface="Verdana"/>
                <a:cs typeface="Verdana"/>
              </a:rPr>
              <a:t>Ça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peut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être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post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blog,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article,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contribution,…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000">
              <a:latin typeface="Verdana"/>
              <a:cs typeface="Verdana"/>
            </a:endParaRPr>
          </a:p>
          <a:p>
            <a:pPr marL="9144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article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Les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langages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programmation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Il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y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dans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la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vie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nombreux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langages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programmation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tels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que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C#,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PHP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ou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C++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696" y="3289046"/>
            <a:ext cx="1123950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9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article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 </a:t>
            </a:r>
            <a:r>
              <a:rPr spc="-110" dirty="0"/>
              <a:t>articles</a:t>
            </a:r>
            <a:r>
              <a:rPr spc="-210" dirty="0"/>
              <a:t> </a:t>
            </a:r>
            <a:r>
              <a:rPr spc="-295" dirty="0"/>
              <a:t>(HTML5)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1959" y="3608832"/>
            <a:ext cx="11214100" cy="1967864"/>
            <a:chOff x="441959" y="3608832"/>
            <a:chExt cx="11214100" cy="196786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959" y="3608832"/>
              <a:ext cx="11213592" cy="19674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031" y="3803904"/>
              <a:ext cx="10625328" cy="13792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415" y="1589532"/>
            <a:ext cx="11122660" cy="3671570"/>
            <a:chOff x="280415" y="1589532"/>
            <a:chExt cx="11122660" cy="3671570"/>
          </a:xfrm>
        </p:grpSpPr>
        <p:sp>
          <p:nvSpPr>
            <p:cNvPr id="3" name="object 3"/>
            <p:cNvSpPr/>
            <p:nvPr/>
          </p:nvSpPr>
          <p:spPr>
            <a:xfrm>
              <a:off x="284987" y="1594104"/>
              <a:ext cx="11113135" cy="3662679"/>
            </a:xfrm>
            <a:custGeom>
              <a:avLst/>
              <a:gdLst/>
              <a:ahLst/>
              <a:cxnLst/>
              <a:rect l="l" t="t" r="r" b="b"/>
              <a:pathLst>
                <a:path w="11113135" h="3662679">
                  <a:moveTo>
                    <a:pt x="11113008" y="0"/>
                  </a:moveTo>
                  <a:lnTo>
                    <a:pt x="0" y="0"/>
                  </a:lnTo>
                  <a:lnTo>
                    <a:pt x="0" y="3662172"/>
                  </a:lnTo>
                  <a:lnTo>
                    <a:pt x="11113008" y="3662172"/>
                  </a:lnTo>
                  <a:lnTo>
                    <a:pt x="11113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987" y="1594104"/>
              <a:ext cx="11113135" cy="3662679"/>
            </a:xfrm>
            <a:custGeom>
              <a:avLst/>
              <a:gdLst/>
              <a:ahLst/>
              <a:cxnLst/>
              <a:rect l="l" t="t" r="r" b="b"/>
              <a:pathLst>
                <a:path w="11113135" h="3662679">
                  <a:moveTo>
                    <a:pt x="0" y="3662172"/>
                  </a:moveTo>
                  <a:lnTo>
                    <a:pt x="11113008" y="3662172"/>
                  </a:lnTo>
                  <a:lnTo>
                    <a:pt x="11113008" y="0"/>
                  </a:lnTo>
                  <a:lnTo>
                    <a:pt x="0" y="0"/>
                  </a:lnTo>
                  <a:lnTo>
                    <a:pt x="0" y="36621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3423" y="1549989"/>
            <a:ext cx="10691495" cy="338391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Verdana"/>
                <a:cs typeface="Verdana"/>
              </a:rPr>
              <a:t>La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balise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b="1" i="1" spc="-200" dirty="0">
                <a:solidFill>
                  <a:srgbClr val="FF0000"/>
                </a:solidFill>
                <a:latin typeface="Verdana"/>
                <a:cs typeface="Verdana"/>
              </a:rPr>
              <a:t>section</a:t>
            </a:r>
            <a:r>
              <a:rPr sz="24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représente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section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(un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chapitre,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entête,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pied,…)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50" dirty="0">
                <a:latin typeface="Verdana"/>
                <a:cs typeface="Verdana"/>
              </a:rPr>
              <a:t>Une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section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peut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subdiviser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un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article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article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section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Comment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devenir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programmeur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Il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faut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aimer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l'informatique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et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surtout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développement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section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section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Quel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langage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choisir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?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En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fonction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ses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moyens,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son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feeling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et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son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contexte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!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section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059" y="4937125"/>
            <a:ext cx="1123950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article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4339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54" dirty="0"/>
              <a:t> </a:t>
            </a:r>
            <a:r>
              <a:rPr spc="-165" dirty="0"/>
              <a:t>sections(HTML5)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96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46420" y="4622290"/>
            <a:ext cx="5417820" cy="2235835"/>
            <a:chOff x="5646420" y="4622290"/>
            <a:chExt cx="5417820" cy="223583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6420" y="4622290"/>
              <a:ext cx="5417820" cy="22357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1492" y="4817363"/>
              <a:ext cx="4829556" cy="16855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1168" y="1525524"/>
            <a:ext cx="11375390" cy="4257040"/>
            <a:chOff x="201168" y="1525524"/>
            <a:chExt cx="11375390" cy="4257040"/>
          </a:xfrm>
        </p:grpSpPr>
        <p:sp>
          <p:nvSpPr>
            <p:cNvPr id="3" name="object 3"/>
            <p:cNvSpPr/>
            <p:nvPr/>
          </p:nvSpPr>
          <p:spPr>
            <a:xfrm>
              <a:off x="205740" y="1530096"/>
              <a:ext cx="11366500" cy="4247515"/>
            </a:xfrm>
            <a:custGeom>
              <a:avLst/>
              <a:gdLst/>
              <a:ahLst/>
              <a:cxnLst/>
              <a:rect l="l" t="t" r="r" b="b"/>
              <a:pathLst>
                <a:path w="11366500" h="4247515">
                  <a:moveTo>
                    <a:pt x="11365992" y="0"/>
                  </a:moveTo>
                  <a:lnTo>
                    <a:pt x="0" y="0"/>
                  </a:lnTo>
                  <a:lnTo>
                    <a:pt x="0" y="4247388"/>
                  </a:lnTo>
                  <a:lnTo>
                    <a:pt x="11365992" y="4247388"/>
                  </a:lnTo>
                  <a:lnTo>
                    <a:pt x="11365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5740" y="1530096"/>
              <a:ext cx="11366500" cy="4247515"/>
            </a:xfrm>
            <a:custGeom>
              <a:avLst/>
              <a:gdLst/>
              <a:ahLst/>
              <a:cxnLst/>
              <a:rect l="l" t="t" r="r" b="b"/>
              <a:pathLst>
                <a:path w="11366500" h="4247515">
                  <a:moveTo>
                    <a:pt x="0" y="4247388"/>
                  </a:moveTo>
                  <a:lnTo>
                    <a:pt x="11365992" y="4247388"/>
                  </a:lnTo>
                  <a:lnTo>
                    <a:pt x="11365992" y="0"/>
                  </a:lnTo>
                  <a:lnTo>
                    <a:pt x="0" y="0"/>
                  </a:lnTo>
                  <a:lnTo>
                    <a:pt x="0" y="424738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4479" y="1500606"/>
            <a:ext cx="11127105" cy="41414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Avant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40" dirty="0">
                <a:latin typeface="Verdana"/>
                <a:cs typeface="Verdana"/>
              </a:rPr>
              <a:t>HTML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75" dirty="0">
                <a:latin typeface="Verdana"/>
                <a:cs typeface="Verdana"/>
              </a:rPr>
              <a:t>5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80" dirty="0">
                <a:latin typeface="Verdana"/>
                <a:cs typeface="Verdana"/>
              </a:rPr>
              <a:t>,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120" dirty="0">
                <a:latin typeface="Verdana"/>
                <a:cs typeface="Verdana"/>
              </a:rPr>
              <a:t> utilisait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uniquement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les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div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pour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gérer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disposition</a:t>
            </a:r>
            <a:endParaRPr sz="2000">
              <a:latin typeface="Verdana"/>
              <a:cs typeface="Verdana"/>
            </a:endParaRPr>
          </a:p>
          <a:p>
            <a:pPr marL="355600" marR="19812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spc="-145" dirty="0">
                <a:latin typeface="Verdana"/>
                <a:cs typeface="Verdana"/>
              </a:rPr>
              <a:t>HTML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75" dirty="0">
                <a:latin typeface="Verdana"/>
                <a:cs typeface="Verdana"/>
              </a:rPr>
              <a:t>5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introduit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nouveaux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éléments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connotation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sémantique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définissant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la </a:t>
            </a:r>
            <a:r>
              <a:rPr sz="2000" spc="-75" dirty="0">
                <a:latin typeface="Verdana"/>
                <a:cs typeface="Verdana"/>
              </a:rPr>
              <a:t>disposition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document,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article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d’une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page.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270" dirty="0">
                <a:latin typeface="Verdana"/>
                <a:cs typeface="Verdana"/>
              </a:rPr>
              <a:t>Il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s’agit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b="1" i="1" spc="-150" dirty="0">
                <a:solidFill>
                  <a:srgbClr val="FF0000"/>
                </a:solidFill>
                <a:latin typeface="Verdana"/>
                <a:cs typeface="Verdana"/>
              </a:rPr>
              <a:t>aside</a:t>
            </a:r>
            <a:r>
              <a:rPr sz="2000" spc="-150" dirty="0">
                <a:latin typeface="Verdana"/>
                <a:cs typeface="Verdana"/>
              </a:rPr>
              <a:t>,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FF0000"/>
                </a:solidFill>
                <a:latin typeface="Verdana"/>
                <a:cs typeface="Verdana"/>
              </a:rPr>
              <a:t>nav</a:t>
            </a:r>
            <a:r>
              <a:rPr sz="2000" spc="-160" dirty="0">
                <a:latin typeface="Verdana"/>
                <a:cs typeface="Verdana"/>
              </a:rPr>
              <a:t>,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b="1" i="1" spc="-70" dirty="0">
                <a:solidFill>
                  <a:srgbClr val="FF0000"/>
                </a:solidFill>
                <a:latin typeface="Verdana"/>
                <a:cs typeface="Verdana"/>
              </a:rPr>
              <a:t>header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et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b="1" i="1" spc="-45" dirty="0">
                <a:solidFill>
                  <a:srgbClr val="FF0000"/>
                </a:solidFill>
                <a:latin typeface="Verdana"/>
                <a:cs typeface="Verdana"/>
              </a:rPr>
              <a:t>footer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b="1" i="1" spc="-140" dirty="0">
                <a:solidFill>
                  <a:srgbClr val="FF0000"/>
                </a:solidFill>
                <a:latin typeface="Verdana"/>
                <a:cs typeface="Verdana"/>
              </a:rPr>
              <a:t>header</a:t>
            </a:r>
            <a:r>
              <a:rPr sz="2000" b="1" i="1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représente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l’entête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b="1" i="1" spc="-210" dirty="0">
                <a:solidFill>
                  <a:srgbClr val="FF0000"/>
                </a:solidFill>
                <a:latin typeface="Verdana"/>
                <a:cs typeface="Verdana"/>
              </a:rPr>
              <a:t>footer</a:t>
            </a:r>
            <a:r>
              <a:rPr sz="2000" b="1" i="1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pied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FF0000"/>
                </a:solidFill>
                <a:latin typeface="Verdana"/>
                <a:cs typeface="Verdana"/>
              </a:rPr>
              <a:t>nav</a:t>
            </a:r>
            <a:r>
              <a:rPr sz="20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représente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zone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105" dirty="0">
                <a:latin typeface="Verdana"/>
                <a:cs typeface="Verdana"/>
              </a:rPr>
              <a:t>de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navigation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qui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contient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liens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menant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vers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des </a:t>
            </a:r>
            <a:r>
              <a:rPr sz="2000" spc="-75" dirty="0">
                <a:latin typeface="Verdana"/>
                <a:cs typeface="Verdana"/>
              </a:rPr>
              <a:t>endroits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site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latin typeface="Verdana"/>
                <a:cs typeface="Verdana"/>
              </a:rPr>
              <a:t>La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balise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b="1" i="1" spc="-140" dirty="0">
                <a:solidFill>
                  <a:srgbClr val="FF0000"/>
                </a:solidFill>
                <a:latin typeface="Verdana"/>
                <a:cs typeface="Verdana"/>
              </a:rPr>
              <a:t>aside</a:t>
            </a:r>
            <a:r>
              <a:rPr sz="2000" b="1" i="1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représente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un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contenu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à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80" dirty="0">
                <a:latin typeface="Verdana"/>
                <a:cs typeface="Verdana"/>
              </a:rPr>
              <a:t>côté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contenu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principal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mais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qui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une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certaine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relation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90" dirty="0">
                <a:latin typeface="Verdana"/>
                <a:cs typeface="Verdana"/>
              </a:rPr>
              <a:t>avec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8485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45" dirty="0"/>
              <a:t> </a:t>
            </a:r>
            <a:r>
              <a:rPr spc="-100" dirty="0"/>
              <a:t>éléments</a:t>
            </a:r>
            <a:r>
              <a:rPr spc="-229" dirty="0"/>
              <a:t> </a:t>
            </a:r>
            <a:r>
              <a:rPr spc="195" dirty="0"/>
              <a:t>de</a:t>
            </a:r>
            <a:r>
              <a:rPr spc="-250" dirty="0"/>
              <a:t> </a:t>
            </a:r>
            <a:r>
              <a:rPr spc="-85" dirty="0"/>
              <a:t>gestion</a:t>
            </a:r>
            <a:r>
              <a:rPr spc="-210" dirty="0"/>
              <a:t> </a:t>
            </a:r>
            <a:r>
              <a:rPr spc="195" dirty="0"/>
              <a:t>de</a:t>
            </a:r>
            <a:r>
              <a:rPr spc="-250" dirty="0"/>
              <a:t> </a:t>
            </a:r>
            <a:r>
              <a:rPr spc="-85" dirty="0"/>
              <a:t>disposition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71952" y="1195578"/>
            <a:ext cx="1755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85" dirty="0">
                <a:solidFill>
                  <a:srgbClr val="178DBA"/>
                </a:solidFill>
                <a:latin typeface="Verdana"/>
                <a:cs typeface="Verdana"/>
              </a:rPr>
              <a:t>(HTML5)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97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8033" y="1398841"/>
            <a:ext cx="11355705" cy="4903470"/>
            <a:chOff x="268033" y="1398841"/>
            <a:chExt cx="11355705" cy="4903470"/>
          </a:xfrm>
        </p:grpSpPr>
        <p:sp>
          <p:nvSpPr>
            <p:cNvPr id="3" name="object 3"/>
            <p:cNvSpPr/>
            <p:nvPr/>
          </p:nvSpPr>
          <p:spPr>
            <a:xfrm>
              <a:off x="272795" y="1403603"/>
              <a:ext cx="11346180" cy="4893945"/>
            </a:xfrm>
            <a:custGeom>
              <a:avLst/>
              <a:gdLst/>
              <a:ahLst/>
              <a:cxnLst/>
              <a:rect l="l" t="t" r="r" b="b"/>
              <a:pathLst>
                <a:path w="11346180" h="4893945">
                  <a:moveTo>
                    <a:pt x="11346180" y="0"/>
                  </a:moveTo>
                  <a:lnTo>
                    <a:pt x="0" y="0"/>
                  </a:lnTo>
                  <a:lnTo>
                    <a:pt x="0" y="4893564"/>
                  </a:lnTo>
                  <a:lnTo>
                    <a:pt x="11346180" y="4893564"/>
                  </a:lnTo>
                  <a:lnTo>
                    <a:pt x="113461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2795" y="1403603"/>
              <a:ext cx="11346180" cy="4893945"/>
            </a:xfrm>
            <a:custGeom>
              <a:avLst/>
              <a:gdLst/>
              <a:ahLst/>
              <a:cxnLst/>
              <a:rect l="l" t="t" r="r" b="b"/>
              <a:pathLst>
                <a:path w="11346180" h="4893945">
                  <a:moveTo>
                    <a:pt x="0" y="4893564"/>
                  </a:moveTo>
                  <a:lnTo>
                    <a:pt x="11346180" y="4893564"/>
                  </a:lnTo>
                  <a:lnTo>
                    <a:pt x="11346180" y="0"/>
                  </a:lnTo>
                  <a:lnTo>
                    <a:pt x="0" y="0"/>
                  </a:lnTo>
                  <a:lnTo>
                    <a:pt x="0" y="48935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4464" y="5968656"/>
            <a:ext cx="1012825" cy="236220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footer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Les</a:t>
            </a:r>
            <a:r>
              <a:rPr spc="-245" dirty="0"/>
              <a:t> </a:t>
            </a:r>
            <a:r>
              <a:rPr spc="-100" dirty="0"/>
              <a:t>éléments</a:t>
            </a:r>
            <a:r>
              <a:rPr spc="-229" dirty="0"/>
              <a:t> </a:t>
            </a:r>
            <a:r>
              <a:rPr spc="195" dirty="0"/>
              <a:t>de</a:t>
            </a:r>
            <a:r>
              <a:rPr spc="-250" dirty="0"/>
              <a:t> </a:t>
            </a:r>
            <a:r>
              <a:rPr spc="-85" dirty="0"/>
              <a:t>gestion</a:t>
            </a:r>
            <a:r>
              <a:rPr spc="-210" dirty="0"/>
              <a:t> </a:t>
            </a:r>
            <a:r>
              <a:rPr spc="195" dirty="0"/>
              <a:t>de</a:t>
            </a:r>
            <a:r>
              <a:rPr spc="-250" dirty="0"/>
              <a:t> </a:t>
            </a:r>
            <a:r>
              <a:rPr spc="-85" dirty="0"/>
              <a:t>disposition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2795" y="1588120"/>
            <a:ext cx="6475730" cy="419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1875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header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Mon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fichier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header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nav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"/"&gt;</a:t>
            </a:r>
            <a:r>
              <a:rPr sz="1600" b="1" spc="-10" dirty="0">
                <a:latin typeface="Consolas"/>
                <a:cs typeface="Consolas"/>
              </a:rPr>
              <a:t>Accueil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sz="1600" b="1" spc="-10" dirty="0">
                <a:latin typeface="Consolas"/>
                <a:cs typeface="Consolas"/>
              </a:rPr>
              <a:t>=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"/contact"&gt;</a:t>
            </a:r>
            <a:r>
              <a:rPr sz="1600" b="1" spc="-10" dirty="0">
                <a:latin typeface="Consolas"/>
                <a:cs typeface="Consolas"/>
              </a:rPr>
              <a:t>Contact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b="1" spc="-1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nav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div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div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footer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2064385" algn="l"/>
              </a:tabLst>
            </a:pP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&amp;copy;</a:t>
            </a:r>
            <a:r>
              <a:rPr sz="1600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Copyright</a:t>
            </a:r>
            <a:r>
              <a:rPr sz="1600" dirty="0">
                <a:latin typeface="Consolas"/>
                <a:cs typeface="Consolas"/>
              </a:rPr>
              <a:t>	by</a:t>
            </a:r>
            <a:r>
              <a:rPr lang="fr-FR" sz="1600" dirty="0">
                <a:latin typeface="Consolas"/>
                <a:cs typeface="Consolas"/>
              </a:rPr>
              <a:t> auteur</a:t>
            </a:r>
            <a:endParaRPr sz="1600" dirty="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</a:pP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7949" y="1557337"/>
            <a:ext cx="11045190" cy="3148965"/>
            <a:chOff x="357949" y="1557337"/>
            <a:chExt cx="11045190" cy="3148965"/>
          </a:xfrm>
        </p:grpSpPr>
        <p:sp>
          <p:nvSpPr>
            <p:cNvPr id="3" name="object 3"/>
            <p:cNvSpPr/>
            <p:nvPr/>
          </p:nvSpPr>
          <p:spPr>
            <a:xfrm>
              <a:off x="362711" y="1562100"/>
              <a:ext cx="11035665" cy="3139440"/>
            </a:xfrm>
            <a:custGeom>
              <a:avLst/>
              <a:gdLst/>
              <a:ahLst/>
              <a:cxnLst/>
              <a:rect l="l" t="t" r="r" b="b"/>
              <a:pathLst>
                <a:path w="11035665" h="3139440">
                  <a:moveTo>
                    <a:pt x="11035284" y="0"/>
                  </a:moveTo>
                  <a:lnTo>
                    <a:pt x="0" y="0"/>
                  </a:lnTo>
                  <a:lnTo>
                    <a:pt x="0" y="3139440"/>
                  </a:lnTo>
                  <a:lnTo>
                    <a:pt x="11035284" y="3139440"/>
                  </a:lnTo>
                  <a:lnTo>
                    <a:pt x="1103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2711" y="1562100"/>
              <a:ext cx="11035665" cy="3139440"/>
            </a:xfrm>
            <a:custGeom>
              <a:avLst/>
              <a:gdLst/>
              <a:ahLst/>
              <a:cxnLst/>
              <a:rect l="l" t="t" r="r" b="b"/>
              <a:pathLst>
                <a:path w="11035665" h="3139440">
                  <a:moveTo>
                    <a:pt x="0" y="3139440"/>
                  </a:moveTo>
                  <a:lnTo>
                    <a:pt x="11035284" y="3139440"/>
                  </a:lnTo>
                  <a:lnTo>
                    <a:pt x="11035284" y="0"/>
                  </a:lnTo>
                  <a:lnTo>
                    <a:pt x="0" y="0"/>
                  </a:lnTo>
                  <a:lnTo>
                    <a:pt x="0" y="31394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2366" y="1538986"/>
            <a:ext cx="10692765" cy="281241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Verdana"/>
                <a:cs typeface="Verdana"/>
              </a:rPr>
              <a:t>La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balise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b="1" i="1" spc="-195" dirty="0">
                <a:solidFill>
                  <a:srgbClr val="FF0000"/>
                </a:solidFill>
                <a:latin typeface="Verdana"/>
                <a:cs typeface="Verdana"/>
              </a:rPr>
              <a:t>meter</a:t>
            </a:r>
            <a:r>
              <a:rPr sz="1800" b="1" i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utilisée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pour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montrer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progression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des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actions</a:t>
            </a:r>
            <a:endParaRPr sz="18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60" dirty="0">
                <a:latin typeface="Verdana"/>
                <a:cs typeface="Verdana"/>
              </a:rPr>
              <a:t>L’attribut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b="1" i="1" spc="-145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1800" b="1" i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progression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cours,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b="1" i="1" spc="-215" dirty="0">
                <a:solidFill>
                  <a:srgbClr val="FF0000"/>
                </a:solidFill>
                <a:latin typeface="Verdana"/>
                <a:cs typeface="Verdana"/>
              </a:rPr>
              <a:t>min</a:t>
            </a:r>
            <a:r>
              <a:rPr sz="1800" b="1" i="1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b="1" i="1" spc="-145" dirty="0">
                <a:solidFill>
                  <a:srgbClr val="FF0000"/>
                </a:solidFill>
                <a:latin typeface="Verdana"/>
                <a:cs typeface="Verdana"/>
              </a:rPr>
              <a:t>max</a:t>
            </a:r>
            <a:r>
              <a:rPr sz="1800" b="1" i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indique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l’intervalle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progression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latin typeface="Consolas"/>
                <a:cs typeface="Consolas"/>
              </a:rPr>
              <a:t>meter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"2"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min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dirty="0">
                <a:solidFill>
                  <a:srgbClr val="0000FF"/>
                </a:solidFill>
                <a:latin typeface="Consolas"/>
                <a:cs typeface="Consolas"/>
              </a:rPr>
              <a:t>"0"</a:t>
            </a:r>
            <a:r>
              <a:rPr sz="18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max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"10"&gt;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Vient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juste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de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commencer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latin typeface="Consolas"/>
                <a:cs typeface="Consolas"/>
              </a:rPr>
              <a:t>meter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A21515"/>
                </a:solidFill>
                <a:latin typeface="Consolas"/>
                <a:cs typeface="Consolas"/>
              </a:rPr>
              <a:t>br</a:t>
            </a:r>
            <a:r>
              <a:rPr sz="18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800" dirty="0">
              <a:latin typeface="Consolas"/>
              <a:cs typeface="Consolas"/>
            </a:endParaRPr>
          </a:p>
          <a:p>
            <a:pPr marL="12700" marR="8290559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800" dirty="0">
                <a:latin typeface="Consolas"/>
                <a:cs typeface="Consolas"/>
              </a:rPr>
              <a:t>meter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value</a:t>
            </a:r>
            <a:r>
              <a:rPr sz="1800" b="1" spc="-10" dirty="0">
                <a:latin typeface="Consolas"/>
                <a:cs typeface="Consolas"/>
              </a:rPr>
              <a:t>=</a:t>
            </a:r>
            <a:r>
              <a:rPr sz="1800" b="1" spc="-10" dirty="0">
                <a:solidFill>
                  <a:srgbClr val="0000FF"/>
                </a:solidFill>
                <a:latin typeface="Consolas"/>
                <a:cs typeface="Consolas"/>
              </a:rPr>
              <a:t>"0.8"&gt; </a:t>
            </a:r>
            <a:r>
              <a:rPr sz="1800" dirty="0">
                <a:latin typeface="Consolas"/>
                <a:cs typeface="Consolas"/>
              </a:rPr>
              <a:t>Bientôt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spc="-20" dirty="0">
                <a:latin typeface="Consolas"/>
                <a:cs typeface="Consolas"/>
              </a:rPr>
              <a:t>fini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888" y="4358513"/>
            <a:ext cx="1003300" cy="268605"/>
          </a:xfrm>
          <a:prstGeom prst="rect">
            <a:avLst/>
          </a:prstGeom>
          <a:solidFill>
            <a:srgbClr val="E8F1F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latin typeface="Consolas"/>
                <a:cs typeface="Consolas"/>
              </a:rPr>
              <a:t>meter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Montrer</a:t>
            </a:r>
            <a:r>
              <a:rPr spc="-220" dirty="0"/>
              <a:t> </a:t>
            </a:r>
            <a:r>
              <a:rPr dirty="0"/>
              <a:t>la</a:t>
            </a:r>
            <a:r>
              <a:rPr spc="-235" dirty="0"/>
              <a:t> </a:t>
            </a:r>
            <a:r>
              <a:rPr spc="-135" dirty="0"/>
              <a:t>progression</a:t>
            </a:r>
            <a:r>
              <a:rPr spc="-195" dirty="0"/>
              <a:t> </a:t>
            </a:r>
            <a:r>
              <a:rPr spc="-305" dirty="0"/>
              <a:t>(HTML5)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036" y="7990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FDFFFF"/>
                </a:solidFill>
                <a:latin typeface="Verdana"/>
                <a:cs typeface="Verdana"/>
              </a:rPr>
              <a:t>99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06467" y="3668267"/>
            <a:ext cx="6635750" cy="1880870"/>
            <a:chOff x="4506467" y="3668267"/>
            <a:chExt cx="6635750" cy="188087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6467" y="3668267"/>
              <a:ext cx="6635496" cy="18806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1539" y="3863339"/>
              <a:ext cx="6047232" cy="12923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252"/>
            <a:ext cx="80867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Arborescence</a:t>
            </a:r>
            <a:r>
              <a:rPr spc="-105" dirty="0"/>
              <a:t> </a:t>
            </a:r>
            <a:r>
              <a:rPr spc="75" dirty="0"/>
              <a:t>d’un</a:t>
            </a:r>
            <a:r>
              <a:rPr spc="-100" dirty="0"/>
              <a:t> </a:t>
            </a:r>
            <a:r>
              <a:rPr spc="50" dirty="0"/>
              <a:t>document</a:t>
            </a:r>
            <a:r>
              <a:rPr spc="-100" dirty="0"/>
              <a:t> </a:t>
            </a:r>
            <a:r>
              <a:rPr spc="-15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1393317"/>
            <a:ext cx="8434705" cy="163313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HTML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hérite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XML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qui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son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tour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hérite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SGML,</a:t>
            </a:r>
            <a:endParaRPr sz="18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800" spc="-15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structure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Verdana"/>
                <a:cs typeface="Verdana"/>
              </a:rPr>
              <a:t>d’un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404040"/>
                </a:solidFill>
                <a:latin typeface="Verdana"/>
                <a:cs typeface="Verdana"/>
              </a:rPr>
              <a:t>document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HTML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hiérarchique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sous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forme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Verdana"/>
                <a:cs typeface="Verdana"/>
              </a:rPr>
              <a:t>d’un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arbre</a:t>
            </a:r>
            <a:endParaRPr sz="18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  <a:tab pos="5621020" algn="l"/>
              </a:tabLst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racine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d’un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document 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HTML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est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 err="1">
                <a:solidFill>
                  <a:srgbClr val="404040"/>
                </a:solidFill>
                <a:latin typeface="Verdana"/>
                <a:cs typeface="Verdana"/>
              </a:rPr>
              <a:t>l’élément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9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lang="fr-FR" sz="1800" spc="-459" dirty="0">
                <a:solidFill>
                  <a:srgbClr val="404040"/>
                </a:solidFill>
                <a:latin typeface="Verdana"/>
                <a:cs typeface="Verdana"/>
              </a:rPr>
              <a:t>   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document»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800" spc="-85" dirty="0" err="1">
                <a:solidFill>
                  <a:srgbClr val="404040"/>
                </a:solidFill>
                <a:latin typeface="Verdana"/>
                <a:cs typeface="Verdana"/>
              </a:rPr>
              <a:t>Exemple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1932" y="3249167"/>
            <a:ext cx="4311650" cy="3538854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600" u="sng" spc="-10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html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Ma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page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&gt;TDW&lt;/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25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 marR="3206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Cours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technologies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et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développement </a:t>
            </a:r>
            <a:r>
              <a:rPr sz="1600" spc="-25" dirty="0">
                <a:latin typeface="Consolas"/>
                <a:cs typeface="Consolas"/>
              </a:rPr>
              <a:t>web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2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html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0583" y="5126735"/>
            <a:ext cx="114300" cy="500380"/>
          </a:xfrm>
          <a:custGeom>
            <a:avLst/>
            <a:gdLst/>
            <a:ahLst/>
            <a:cxnLst/>
            <a:rect l="l" t="t" r="r" b="b"/>
            <a:pathLst>
              <a:path w="114300" h="500379">
                <a:moveTo>
                  <a:pt x="114173" y="0"/>
                </a:moveTo>
                <a:lnTo>
                  <a:pt x="114173" y="500164"/>
                </a:lnTo>
                <a:lnTo>
                  <a:pt x="0" y="500164"/>
                </a:lnTo>
              </a:path>
            </a:pathLst>
          </a:custGeom>
          <a:ln w="15240">
            <a:solidFill>
              <a:srgbClr val="2E2E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7004" y="5126735"/>
            <a:ext cx="114300" cy="500380"/>
          </a:xfrm>
          <a:custGeom>
            <a:avLst/>
            <a:gdLst/>
            <a:ahLst/>
            <a:cxnLst/>
            <a:rect l="l" t="t" r="r" b="b"/>
            <a:pathLst>
              <a:path w="114300" h="500379">
                <a:moveTo>
                  <a:pt x="114173" y="0"/>
                </a:moveTo>
                <a:lnTo>
                  <a:pt x="114173" y="500164"/>
                </a:lnTo>
                <a:lnTo>
                  <a:pt x="0" y="500164"/>
                </a:lnTo>
              </a:path>
            </a:pathLst>
          </a:custGeom>
          <a:ln w="15240">
            <a:solidFill>
              <a:srgbClr val="2E2E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3847" y="4354067"/>
            <a:ext cx="886460" cy="500380"/>
          </a:xfrm>
          <a:custGeom>
            <a:avLst/>
            <a:gdLst/>
            <a:ahLst/>
            <a:cxnLst/>
            <a:rect l="l" t="t" r="r" b="b"/>
            <a:pathLst>
              <a:path w="886459" h="500379">
                <a:moveTo>
                  <a:pt x="114300" y="0"/>
                </a:moveTo>
                <a:lnTo>
                  <a:pt x="114300" y="500125"/>
                </a:lnTo>
                <a:lnTo>
                  <a:pt x="886332" y="500125"/>
                </a:lnTo>
              </a:path>
              <a:path w="886459" h="500379">
                <a:moveTo>
                  <a:pt x="114173" y="0"/>
                </a:moveTo>
                <a:lnTo>
                  <a:pt x="114173" y="500125"/>
                </a:lnTo>
                <a:lnTo>
                  <a:pt x="0" y="500125"/>
                </a:lnTo>
              </a:path>
            </a:pathLst>
          </a:custGeom>
          <a:ln w="15240">
            <a:solidFill>
              <a:srgbClr val="2E2E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83423" y="4354067"/>
            <a:ext cx="114300" cy="500380"/>
          </a:xfrm>
          <a:custGeom>
            <a:avLst/>
            <a:gdLst/>
            <a:ahLst/>
            <a:cxnLst/>
            <a:rect l="l" t="t" r="r" b="b"/>
            <a:pathLst>
              <a:path w="114300" h="500379">
                <a:moveTo>
                  <a:pt x="114173" y="0"/>
                </a:moveTo>
                <a:lnTo>
                  <a:pt x="114173" y="500125"/>
                </a:lnTo>
                <a:lnTo>
                  <a:pt x="0" y="500125"/>
                </a:lnTo>
              </a:path>
            </a:pathLst>
          </a:custGeom>
          <a:ln w="15240">
            <a:solidFill>
              <a:srgbClr val="2E2E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40268" y="3581400"/>
            <a:ext cx="1544320" cy="500380"/>
          </a:xfrm>
          <a:custGeom>
            <a:avLst/>
            <a:gdLst/>
            <a:ahLst/>
            <a:cxnLst/>
            <a:rect l="l" t="t" r="r" b="b"/>
            <a:pathLst>
              <a:path w="1544320" h="500379">
                <a:moveTo>
                  <a:pt x="114300" y="0"/>
                </a:moveTo>
                <a:lnTo>
                  <a:pt x="114300" y="500125"/>
                </a:lnTo>
                <a:lnTo>
                  <a:pt x="1544065" y="500125"/>
                </a:lnTo>
              </a:path>
              <a:path w="1544320" h="500379">
                <a:moveTo>
                  <a:pt x="114173" y="0"/>
                </a:moveTo>
                <a:lnTo>
                  <a:pt x="114173" y="500125"/>
                </a:lnTo>
                <a:lnTo>
                  <a:pt x="0" y="500125"/>
                </a:lnTo>
              </a:path>
            </a:pathLst>
          </a:custGeom>
          <a:ln w="15240">
            <a:solidFill>
              <a:srgbClr val="28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12023" y="3038855"/>
            <a:ext cx="1087120" cy="54292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40"/>
              </a:spcBef>
            </a:pP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HTML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53656" y="3810000"/>
            <a:ext cx="1087120" cy="54419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sz="3000" spc="70" dirty="0">
                <a:solidFill>
                  <a:srgbClr val="FFFFFF"/>
                </a:solidFill>
                <a:latin typeface="Verdana"/>
                <a:cs typeface="Verdana"/>
              </a:rPr>
              <a:t>Head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95288" y="4582667"/>
            <a:ext cx="1088390" cy="54419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40"/>
              </a:spcBef>
            </a:pP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Title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84080" y="3810000"/>
            <a:ext cx="1088390" cy="54419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50"/>
              </a:spcBef>
            </a:pP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Body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27235" y="4582667"/>
            <a:ext cx="1087120" cy="54419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40"/>
              </a:spcBef>
            </a:pP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H1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68868" y="5353811"/>
            <a:ext cx="1088390" cy="54419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50"/>
              </a:spcBef>
            </a:pP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value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00816" y="4582667"/>
            <a:ext cx="1087120" cy="54419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0"/>
              </a:spcBef>
            </a:pP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42447" y="5353811"/>
            <a:ext cx="1088390" cy="544195"/>
          </a:xfrm>
          <a:prstGeom prst="rect">
            <a:avLst/>
          </a:prstGeom>
          <a:solidFill>
            <a:srgbClr val="353535"/>
          </a:solidFill>
          <a:ln w="15240">
            <a:solidFill>
              <a:srgbClr val="FFFFF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50"/>
              </a:spcBef>
            </a:pP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value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8270" y="157683"/>
            <a:ext cx="4488815" cy="949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Exercice</a:t>
            </a:r>
            <a:endParaRPr sz="4400" dirty="0"/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b="1" spc="-55" dirty="0">
                <a:solidFill>
                  <a:srgbClr val="000000"/>
                </a:solidFill>
                <a:latin typeface="Tahoma"/>
                <a:cs typeface="Tahoma"/>
              </a:rPr>
              <a:t>Donner</a:t>
            </a:r>
            <a:r>
              <a:rPr sz="1600" b="1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000000"/>
                </a:solidFill>
                <a:latin typeface="Tahoma"/>
                <a:cs typeface="Tahoma"/>
              </a:rPr>
              <a:t>l’arborescence</a:t>
            </a:r>
            <a:r>
              <a:rPr sz="1600" b="1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000000"/>
                </a:solidFill>
                <a:latin typeface="Tahoma"/>
                <a:cs typeface="Tahoma"/>
              </a:rPr>
              <a:t>du</a:t>
            </a:r>
            <a:r>
              <a:rPr sz="1600" b="1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600" b="1" spc="70" dirty="0">
                <a:solidFill>
                  <a:srgbClr val="000000"/>
                </a:solidFill>
                <a:latin typeface="Tahoma"/>
                <a:cs typeface="Tahoma"/>
              </a:rPr>
              <a:t>code</a:t>
            </a:r>
            <a:r>
              <a:rPr sz="1600" b="1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600" b="1" spc="-180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1600" b="1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000000"/>
                </a:solidFill>
                <a:latin typeface="Tahoma"/>
                <a:cs typeface="Tahoma"/>
              </a:rPr>
              <a:t>suivant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77467" y="1552955"/>
            <a:ext cx="10994390" cy="4782820"/>
            <a:chOff x="1077467" y="1552955"/>
            <a:chExt cx="10994390" cy="4782820"/>
          </a:xfrm>
        </p:grpSpPr>
        <p:sp>
          <p:nvSpPr>
            <p:cNvPr id="4" name="object 4"/>
            <p:cNvSpPr/>
            <p:nvPr/>
          </p:nvSpPr>
          <p:spPr>
            <a:xfrm>
              <a:off x="1083563" y="1559051"/>
              <a:ext cx="10982325" cy="4770120"/>
            </a:xfrm>
            <a:custGeom>
              <a:avLst/>
              <a:gdLst/>
              <a:ahLst/>
              <a:cxnLst/>
              <a:rect l="l" t="t" r="r" b="b"/>
              <a:pathLst>
                <a:path w="10982325" h="4770120">
                  <a:moveTo>
                    <a:pt x="10981944" y="0"/>
                  </a:moveTo>
                  <a:lnTo>
                    <a:pt x="0" y="0"/>
                  </a:lnTo>
                  <a:lnTo>
                    <a:pt x="0" y="4770120"/>
                  </a:lnTo>
                  <a:lnTo>
                    <a:pt x="10981944" y="4770120"/>
                  </a:lnTo>
                  <a:lnTo>
                    <a:pt x="109819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3" y="1559051"/>
              <a:ext cx="10982325" cy="4770120"/>
            </a:xfrm>
            <a:custGeom>
              <a:avLst/>
              <a:gdLst/>
              <a:ahLst/>
              <a:cxnLst/>
              <a:rect l="l" t="t" r="r" b="b"/>
              <a:pathLst>
                <a:path w="10982325" h="4770120">
                  <a:moveTo>
                    <a:pt x="0" y="4770120"/>
                  </a:moveTo>
                  <a:lnTo>
                    <a:pt x="10981944" y="4770120"/>
                  </a:lnTo>
                  <a:lnTo>
                    <a:pt x="10981944" y="0"/>
                  </a:lnTo>
                  <a:lnTo>
                    <a:pt x="0" y="0"/>
                  </a:lnTo>
                  <a:lnTo>
                    <a:pt x="0" y="47701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62303" y="1582038"/>
            <a:ext cx="413956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&lt;</a:t>
            </a:r>
            <a:r>
              <a:rPr sz="1600" u="sng" spc="-10" dirty="0">
                <a:solidFill>
                  <a:srgbClr val="A21515"/>
                </a:solidFill>
                <a:uFill>
                  <a:solidFill>
                    <a:srgbClr val="A21515"/>
                  </a:solidFill>
                </a:uFill>
                <a:latin typeface="Consolas"/>
                <a:cs typeface="Consolas"/>
              </a:rPr>
              <a:t>html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sz="1600" dirty="0">
                <a:latin typeface="Consolas"/>
                <a:cs typeface="Consolas"/>
              </a:rPr>
              <a:t>Agence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voyage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lang="fr-FR" sz="1600" spc="-10" dirty="0">
                <a:latin typeface="Consolas"/>
                <a:cs typeface="Consolas"/>
              </a:rPr>
              <a:t>paris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title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head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9729" y="4264914"/>
            <a:ext cx="3249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width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="500px"</a:t>
            </a:r>
            <a:r>
              <a:rPr sz="16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height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="300px"&gt;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2303" y="3289173"/>
            <a:ext cx="713994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Tour Eiffel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3681095" algn="l"/>
              </a:tabLst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img</a:t>
            </a:r>
            <a:r>
              <a:rPr sz="1600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src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="../Images/</a:t>
            </a:r>
            <a:r>
              <a:rPr lang="fr-FR" sz="1600" spc="-10" dirty="0">
                <a:solidFill>
                  <a:srgbClr val="0000FF"/>
                </a:solidFill>
                <a:latin typeface="Consolas"/>
                <a:cs typeface="Consolas"/>
              </a:rPr>
              <a:t>paris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.jpg"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width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="100%"</a:t>
            </a:r>
            <a:r>
              <a:rPr sz="1600" spc="-8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height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="300px"&gt;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h1</a:t>
            </a:r>
            <a:r>
              <a:rPr sz="1600" spc="-5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id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="DMP"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align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="center"&gt;</a:t>
            </a:r>
            <a:r>
              <a:rPr sz="16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fr-FR" sz="1600" spc="-50" dirty="0">
                <a:solidFill>
                  <a:srgbClr val="0000FF"/>
                </a:solidFill>
                <a:latin typeface="Consolas"/>
                <a:cs typeface="Consolas"/>
              </a:rPr>
              <a:t>La république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h1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&gt;&lt;/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br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div</a:t>
            </a:r>
            <a:r>
              <a:rPr sz="1600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align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="center"&gt;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img</a:t>
            </a:r>
            <a:r>
              <a:rPr sz="1600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src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="../Images/</a:t>
            </a:r>
            <a:r>
              <a:rPr lang="fr-FR" sz="1600" spc="-10" dirty="0" err="1">
                <a:solidFill>
                  <a:srgbClr val="0000FF"/>
                </a:solidFill>
                <a:latin typeface="Consolas"/>
                <a:cs typeface="Consolas"/>
              </a:rPr>
              <a:t>paris_republique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.jpg"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div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2303" y="4752594"/>
            <a:ext cx="78085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p</a:t>
            </a:r>
            <a:r>
              <a:rPr sz="1600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="description"&gt;</a:t>
            </a:r>
            <a:r>
              <a:rPr lang="fr-FR" sz="1600" dirty="0">
                <a:solidFill>
                  <a:srgbClr val="0000FF"/>
                </a:solidFill>
                <a:latin typeface="Consolas"/>
                <a:cs typeface="Consolas"/>
              </a:rPr>
              <a:t>La république paris 75003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.&lt;/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p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body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</a:t>
            </a:r>
            <a:r>
              <a:rPr sz="1600" spc="-10" dirty="0">
                <a:solidFill>
                  <a:srgbClr val="A21515"/>
                </a:solidFill>
                <a:latin typeface="Consolas"/>
                <a:cs typeface="Consolas"/>
              </a:rPr>
              <a:t>html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634</TotalTime>
  <Words>6567</Words>
  <Application>Microsoft Office PowerPoint</Application>
  <PresentationFormat>Grand écran</PresentationFormat>
  <Paragraphs>883</Paragraphs>
  <Slides>89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89</vt:i4>
      </vt:variant>
    </vt:vector>
  </HeadingPairs>
  <TitlesOfParts>
    <vt:vector size="100" baseType="lpstr">
      <vt:lpstr>Arial</vt:lpstr>
      <vt:lpstr>Arial MT</vt:lpstr>
      <vt:lpstr>Century Gothic</vt:lpstr>
      <vt:lpstr>Consolas</vt:lpstr>
      <vt:lpstr>Georgia</vt:lpstr>
      <vt:lpstr>Tahoma</vt:lpstr>
      <vt:lpstr>Times New Roman</vt:lpstr>
      <vt:lpstr>Verdana</vt:lpstr>
      <vt:lpstr>Wingdings</vt:lpstr>
      <vt:lpstr>Wingdings 3</vt:lpstr>
      <vt:lpstr>Brin</vt:lpstr>
      <vt:lpstr>Langage HTML</vt:lpstr>
      <vt:lpstr>Objectifs du cours</vt:lpstr>
      <vt:lpstr>Section 1 : La Structure</vt:lpstr>
      <vt:lpstr>Exemple d’une page web</vt:lpstr>
      <vt:lpstr>Les balises</vt:lpstr>
      <vt:lpstr>Le titre d’une page</vt:lpstr>
      <vt:lpstr>Voir comment les autres ont fait leurs pages HTML</vt:lpstr>
      <vt:lpstr>Validation d’une page</vt:lpstr>
      <vt:lpstr>Section 2 : Le Texte</vt:lpstr>
      <vt:lpstr>Balises orientées texte</vt:lpstr>
      <vt:lpstr>Paragraphes</vt:lpstr>
      <vt:lpstr>Gras et italique</vt:lpstr>
      <vt:lpstr>Indice et exposant</vt:lpstr>
      <vt:lpstr>Abréviations</vt:lpstr>
      <vt:lpstr>Titres</vt:lpstr>
      <vt:lpstr>Détails (HTML5)</vt:lpstr>
      <vt:lpstr>Caractères spéciaux</vt:lpstr>
      <vt:lpstr>Caractères spéciaux – Liste de quelques</vt:lpstr>
      <vt:lpstr>Caractères spéciaux – Exemple</vt:lpstr>
      <vt:lpstr>Section 3 : Les Listes</vt:lpstr>
      <vt:lpstr>Listes dans HTML</vt:lpstr>
      <vt:lpstr>Listes ordonnées</vt:lpstr>
      <vt:lpstr>Listes non ordonnées</vt:lpstr>
      <vt:lpstr>Section 4 : Les Liens</vt:lpstr>
      <vt:lpstr>Les liens</vt:lpstr>
      <vt:lpstr>Structure d’un lien</vt:lpstr>
      <vt:lpstr>URLs absolues et URLs relatives</vt:lpstr>
      <vt:lpstr>URLs absolues et URLs relatives -</vt:lpstr>
      <vt:lpstr>Liens vers des mails</vt:lpstr>
      <vt:lpstr>Ouvrir un lien dans une nouvelle fenetre</vt:lpstr>
      <vt:lpstr>Liens vers une partie de la page</vt:lpstr>
      <vt:lpstr>Section 5 : Images</vt:lpstr>
      <vt:lpstr>Introduction aux images</vt:lpstr>
      <vt:lpstr>La balise img</vt:lpstr>
      <vt:lpstr>Section 6 : Les Tableaux</vt:lpstr>
      <vt:lpstr>Introduction</vt:lpstr>
      <vt:lpstr>Structure</vt:lpstr>
      <vt:lpstr>Organisation des tableaux</vt:lpstr>
      <vt:lpstr>Fusionner des colonnes</vt:lpstr>
      <vt:lpstr>Fusionner des lignes</vt:lpstr>
      <vt:lpstr>Section 7 : Les Formulaires</vt:lpstr>
      <vt:lpstr>Introduction</vt:lpstr>
      <vt:lpstr>Fonctionnement</vt:lpstr>
      <vt:lpstr>Envoi de données - Exemple</vt:lpstr>
      <vt:lpstr>La balise form</vt:lpstr>
      <vt:lpstr>Méthodes GET et POST</vt:lpstr>
      <vt:lpstr>Démonstration GET</vt:lpstr>
      <vt:lpstr>Démonstration POST</vt:lpstr>
      <vt:lpstr>Envoyer les données du formulaire</vt:lpstr>
      <vt:lpstr>La saisie de texte</vt:lpstr>
      <vt:lpstr>La saisie de mots de passe</vt:lpstr>
      <vt:lpstr>La saisie de long texte</vt:lpstr>
      <vt:lpstr>Boutons radio</vt:lpstr>
      <vt:lpstr>Les cases à cocher</vt:lpstr>
      <vt:lpstr>Les listes déroulantes</vt:lpstr>
      <vt:lpstr>Les listes à sélection multiples</vt:lpstr>
      <vt:lpstr>Encodage</vt:lpstr>
      <vt:lpstr>Uploader des fichiers</vt:lpstr>
      <vt:lpstr>Boutons de type image</vt:lpstr>
      <vt:lpstr>Les boutons</vt:lpstr>
      <vt:lpstr>Les champs cachés</vt:lpstr>
      <vt:lpstr>Effacer un formulaire</vt:lpstr>
      <vt:lpstr>Validation des formulaires</vt:lpstr>
      <vt:lpstr>Validation des formulaires - Comparaison</vt:lpstr>
      <vt:lpstr>Validation HTML5 des champs texte</vt:lpstr>
      <vt:lpstr>Entrée des champs numériques</vt:lpstr>
      <vt:lpstr>Entrée des champs date (HTML5)</vt:lpstr>
      <vt:lpstr>Entrée de champs mail et URL (HTML5)</vt:lpstr>
      <vt:lpstr>Section 8 : Organisation</vt:lpstr>
      <vt:lpstr>Commentaires</vt:lpstr>
      <vt:lpstr>Identification et regroupement des</vt:lpstr>
      <vt:lpstr>Les métadonnées</vt:lpstr>
      <vt:lpstr>Quelques métadonnées</vt:lpstr>
      <vt:lpstr>Section 9 : Audio et Vidéo</vt:lpstr>
      <vt:lpstr>Ajouter une vidéo à son site web</vt:lpstr>
      <vt:lpstr>La vidéo en HTML5</vt:lpstr>
      <vt:lpstr>La balise video</vt:lpstr>
      <vt:lpstr>La balise video - Exemple</vt:lpstr>
      <vt:lpstr>Une vidéo avec plusieurs formats</vt:lpstr>
      <vt:lpstr>Utiliser plusieurs formats audio</vt:lpstr>
      <vt:lpstr>Section 10 : Nouveautés HTML 5</vt:lpstr>
      <vt:lpstr>Introduction</vt:lpstr>
      <vt:lpstr>Les articles (HTML5)</vt:lpstr>
      <vt:lpstr>Les sections(HTML5)</vt:lpstr>
      <vt:lpstr>Les éléments de gestion de disposition</vt:lpstr>
      <vt:lpstr>Les éléments de gestion de disposition</vt:lpstr>
      <vt:lpstr>Montrer la progression (HTML5)</vt:lpstr>
      <vt:lpstr>Arborescence d’un document HTML</vt:lpstr>
      <vt:lpstr>Exercice Donner l’arborescence du code HTML suivant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Langage HTML</dc:title>
  <dc:creator>Hachemi Nabil Dellys</dc:creator>
  <cp:lastModifiedBy>REZKI Ramzi</cp:lastModifiedBy>
  <cp:revision>43</cp:revision>
  <dcterms:created xsi:type="dcterms:W3CDTF">2025-10-03T15:30:58Z</dcterms:created>
  <dcterms:modified xsi:type="dcterms:W3CDTF">2025-10-12T14:26:38Z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2015-10-20T00:00:00Z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2025-10-03T00:00:00Z</vt:filetime>
  </property>
  <property fmtid="{D5CDD505-2E9C-101B-9397-08002B2CF9AE}" pid="5" name="Producer">
    <vt:lpwstr>Microsoft® PowerPoint® 2013</vt:lpwstr>
  </property>
</Properties>
</file>